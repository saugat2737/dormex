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84" y="1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7823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team and guide. Replace all bracketed placeholders and the photo slot before presenting. Everything that follows is a proposed solution under evaluation, not a deployed system. Next: why this problem matters.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comparison simply. Qualify: these are general patterns reported in the literature, not measured claims about our partner hostel. The UI on the right is a concept. Next: who the community is and how needs will be assessed.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this is planned work. If any survey, interview or visit has already happened, replace the planned list with the real findings and evidence. Never present assumptions as findings. Next: what existing work tells us.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sources briefly. Be candid that some are dissertations/project reports. Source [5] was reviewed at title level only. Next: compare capabilities across these systems and adjacent research.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matrix carefully: green means documented in the abstract, grey means not documented in what we reviewed. The Proposed row is our design intent. The bottom chips show adjacent research on fairness, access control, concurrency and privacy that supports design choices. Next: the limitations we want to test.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these are hypotheses drawn from literature. Our needs assessment will confirm, refine or discard them. Next: the problem statement.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statement once, then point to the four challenges. No statistics are claimed. Next: objectives.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specific objective has a way to verify it during implementation and testing. These are goals, not results. Next: how the solution works.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numbered steps. Navy = staff, blue = student, teal = enforced by the server. Row two continues from step 5 to step 6. Qualify: this is the intended workflow; timings and rules are configurable and not yet approved by the college. Next: what the screens could look like.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journey: dashboard, queue, map, confirm, admin view, and the seat-level idea. Every screen is a concept drawn for this deck, not a screenshot. The numbers in the occupancy view are illustrative only. Next: who benefits.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each stakeholder to a benefit we expect, not one we have measured. Sustainability comes from configurable rules and reusable data. Next: what we need to build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groups of needs. Stress that PostgreSQL and the web stack are proposals. Data and permissions are as important as software: floor plans, rules and consent must come from the hostel. Next: the plan.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relative schedule; replace weeks with actual dates from the academic calendar. Nothing here is marked complete. R1–R3 are planned reviews with the guide and community representatives. Next: conclusion.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problem, proposal and expected benefits. These are expected outcomes, not proven results. Close with the next phase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are in IEEE style. [1]–[6] are hostel-specific; [7]–[13] are adjacent research and official documentation. Verify any link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3F"/>
        </a:solidFill>
        <a:effectLst/>
      </p:bgPr>
    </p:bg>
    <p:spTree>
      <p:nvGrpSpPr>
        <p:cNvPr id="1" name=""/>
        <p:cNvGrpSpPr/>
        <p:nvPr/>
      </p:nvGrpSpPr>
      <p:grpSpPr>
        <a:xfrm>
          <a:off x="0" y="0"/>
          <a:ext cx="0" cy="0"/>
          <a:chOff x="0" y="0"/>
          <a:chExt cx="0" cy="0"/>
        </a:xfrm>
      </p:grpSpPr>
      <p:sp>
        <p:nvSpPr>
          <p:cNvPr id="5" name="Text 3"/>
          <p:cNvSpPr txBox="1"/>
          <p:nvPr/>
        </p:nvSpPr>
        <p:spPr>
          <a:xfrm>
            <a:off x="640080" y="548640"/>
            <a:ext cx="6400800" cy="274320"/>
          </a:xfrm>
          <a:prstGeom prst="rect">
            <a:avLst/>
          </a:prstGeom>
          <a:noFill/>
          <a:ln/>
        </p:spPr>
        <p:txBody>
          <a:bodyPr wrap="square" lIns="0" tIns="0" rIns="0" bIns="0" rtlCol="0" anchor="t"/>
          <a:lstStyle/>
          <a:p>
            <a:pPr marL="0" indent="0">
              <a:buNone/>
            </a:pPr>
            <a:r>
              <a:rPr lang="en-US" sz="1100" b="1" kern="0" spc="300" dirty="0">
                <a:solidFill>
                  <a:srgbClr val="7FC8CC"/>
                </a:solidFill>
                <a:latin typeface="Calibri" pitchFamily="34" charset="0"/>
                <a:ea typeface="Calibri" pitchFamily="34" charset="-122"/>
                <a:cs typeface="Calibri" pitchFamily="34" charset="-120"/>
              </a:rPr>
              <a:t>COMMUNITY PROJECT PHASE-I EVALUATION · 2026–27</a:t>
            </a:r>
            <a:endParaRPr lang="en-US" sz="1100" dirty="0"/>
          </a:p>
        </p:txBody>
      </p:sp>
      <p:sp>
        <p:nvSpPr>
          <p:cNvPr id="6" name="Text 4"/>
          <p:cNvSpPr txBox="1"/>
          <p:nvPr/>
        </p:nvSpPr>
        <p:spPr>
          <a:xfrm>
            <a:off x="640080" y="1097280"/>
            <a:ext cx="6400800" cy="1645920"/>
          </a:xfrm>
          <a:prstGeom prst="rect">
            <a:avLst/>
          </a:prstGeom>
          <a:noFill/>
          <a:ln/>
        </p:spPr>
        <p:txBody>
          <a:bodyPr wrap="square" lIns="0" tIns="0" rIns="0" bIns="0" rtlCol="0" anchor="t"/>
          <a:lstStyle/>
          <a:p>
            <a:pPr marL="0" indent="0">
              <a:buNone/>
            </a:pPr>
            <a:r>
              <a:rPr lang="en-US" sz="4200" b="1" dirty="0">
                <a:solidFill>
                  <a:srgbClr val="FFFFFF"/>
                </a:solidFill>
                <a:latin typeface="Calibri" pitchFamily="34" charset="0"/>
                <a:ea typeface="Calibri" pitchFamily="34" charset="-122"/>
                <a:cs typeface="Calibri" pitchFamily="34" charset="-120"/>
              </a:rPr>
              <a:t>College Hostel</a:t>
            </a:r>
            <a:endParaRPr lang="en-US" sz="4200" dirty="0"/>
          </a:p>
          <a:p>
            <a:pPr marL="0" indent="0">
              <a:buNone/>
            </a:pPr>
            <a:r>
              <a:rPr lang="en-US" sz="4200" b="1" dirty="0">
                <a:solidFill>
                  <a:srgbClr val="FFFFFF"/>
                </a:solidFill>
                <a:latin typeface="Calibri" pitchFamily="34" charset="0"/>
                <a:ea typeface="Calibri" pitchFamily="34" charset="-122"/>
                <a:cs typeface="Calibri" pitchFamily="34" charset="-120"/>
              </a:rPr>
              <a:t>Allocation System</a:t>
            </a:r>
            <a:endParaRPr lang="en-US" sz="4200" dirty="0"/>
          </a:p>
        </p:txBody>
      </p:sp>
      <p:sp>
        <p:nvSpPr>
          <p:cNvPr id="7" name="Text 5"/>
          <p:cNvSpPr txBox="1"/>
          <p:nvPr/>
        </p:nvSpPr>
        <p:spPr>
          <a:xfrm>
            <a:off x="640080" y="2880360"/>
            <a:ext cx="6126480" cy="822960"/>
          </a:xfrm>
          <a:prstGeom prst="rect">
            <a:avLst/>
          </a:prstGeom>
          <a:noFill/>
          <a:ln/>
        </p:spPr>
        <p:txBody>
          <a:bodyPr wrap="square" lIns="0" tIns="0" rIns="0" bIns="0" rtlCol="0" anchor="t"/>
          <a:lstStyle/>
          <a:p>
            <a:pPr marL="0" indent="0">
              <a:buNone/>
            </a:pPr>
            <a:r>
              <a:rPr lang="en-US" sz="1600" dirty="0">
                <a:solidFill>
                  <a:srgbClr val="DDE4EC"/>
                </a:solidFill>
                <a:latin typeface="Calibri" pitchFamily="34" charset="0"/>
                <a:ea typeface="Calibri" pitchFamily="34" charset="-122"/>
                <a:cs typeface="Calibri" pitchFamily="34" charset="-120"/>
              </a:rPr>
              <a:t>A Secure, Priority-Aware Digital Platform for Transparent and Efficient Hostel Seat Allocation</a:t>
            </a:r>
            <a:endParaRPr lang="en-US" sz="1600" dirty="0"/>
          </a:p>
        </p:txBody>
      </p:sp>
      <p:sp>
        <p:nvSpPr>
          <p:cNvPr id="8" name="Text 6"/>
          <p:cNvSpPr txBox="1"/>
          <p:nvPr/>
        </p:nvSpPr>
        <p:spPr>
          <a:xfrm>
            <a:off x="640080" y="3931920"/>
            <a:ext cx="6217920" cy="7315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Siddaganga Institute of Technology, Tumakuru</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Department of Computer Science and Engineering</a:t>
            </a:r>
            <a:endParaRPr lang="en-US" sz="1400" dirty="0"/>
          </a:p>
        </p:txBody>
      </p:sp>
      <p:sp>
        <p:nvSpPr>
          <p:cNvPr id="9" name="Text 7"/>
          <p:cNvSpPr txBox="1"/>
          <p:nvPr/>
        </p:nvSpPr>
        <p:spPr>
          <a:xfrm>
            <a:off x="640080" y="4709160"/>
            <a:ext cx="3108960" cy="822960"/>
          </a:xfrm>
          <a:prstGeom prst="rect">
            <a:avLst/>
          </a:prstGeom>
          <a:noFill/>
          <a:ln/>
        </p:spPr>
        <p:txBody>
          <a:bodyPr wrap="square" lIns="0" tIns="0" rIns="0" bIns="0" rtlCol="0" anchor="t"/>
          <a:lstStyle/>
          <a:p>
            <a:pPr marL="0" indent="0">
              <a:buNone/>
            </a:pPr>
            <a:r>
              <a:rPr lang="en-US" sz="1200" dirty="0">
                <a:solidFill>
                  <a:srgbClr val="C5D0DC"/>
                </a:solidFill>
                <a:latin typeface="Calibri" pitchFamily="34" charset="0"/>
                <a:ea typeface="Calibri" pitchFamily="34" charset="-122"/>
                <a:cs typeface="Calibri" pitchFamily="34" charset="-120"/>
              </a:rPr>
              <a:t>Siddharth Yadav · 1SI25CS233</a:t>
            </a:r>
            <a:endParaRPr lang="en-US" sz="1200" dirty="0"/>
          </a:p>
          <a:p>
            <a:pPr marL="0" indent="0">
              <a:buNone/>
            </a:pPr>
            <a:r>
              <a:rPr lang="en-US" sz="1200" dirty="0">
                <a:solidFill>
                  <a:srgbClr val="C5D0DC"/>
                </a:solidFill>
                <a:latin typeface="Calibri" pitchFamily="34" charset="0"/>
                <a:ea typeface="Calibri" pitchFamily="34" charset="-122"/>
                <a:cs typeface="Calibri" pitchFamily="34" charset="-120"/>
              </a:rPr>
              <a:t>Snehil Pandey · 1SI25CS237</a:t>
            </a:r>
            <a:endParaRPr lang="en-US" sz="1200" dirty="0"/>
          </a:p>
          <a:p>
            <a:pPr marL="0" indent="0">
              <a:buNone/>
            </a:pPr>
            <a:r>
              <a:rPr lang="en-US" sz="1200" dirty="0">
                <a:solidFill>
                  <a:srgbClr val="C5D0DC"/>
                </a:solidFill>
                <a:latin typeface="Calibri" pitchFamily="34" charset="0"/>
                <a:ea typeface="Calibri" pitchFamily="34" charset="-122"/>
                <a:cs typeface="Calibri" pitchFamily="34" charset="-120"/>
              </a:rPr>
              <a:t>Suprem Timsina · 1SI25CS250</a:t>
            </a:r>
            <a:endParaRPr lang="en-US" sz="1200" dirty="0"/>
          </a:p>
        </p:txBody>
      </p:sp>
      <p:sp>
        <p:nvSpPr>
          <p:cNvPr id="10" name="Text 8"/>
          <p:cNvSpPr txBox="1"/>
          <p:nvPr/>
        </p:nvSpPr>
        <p:spPr>
          <a:xfrm>
            <a:off x="3749040" y="4709160"/>
            <a:ext cx="3291840" cy="822960"/>
          </a:xfrm>
          <a:prstGeom prst="rect">
            <a:avLst/>
          </a:prstGeom>
          <a:noFill/>
          <a:ln/>
        </p:spPr>
        <p:txBody>
          <a:bodyPr wrap="square" lIns="0" tIns="0" rIns="0" bIns="0" rtlCol="0" anchor="t"/>
          <a:lstStyle/>
          <a:p>
            <a:pPr marL="0" indent="0">
              <a:buNone/>
            </a:pPr>
            <a:r>
              <a:rPr lang="en-US" sz="1200" dirty="0">
                <a:solidFill>
                  <a:srgbClr val="C5D0DC"/>
                </a:solidFill>
                <a:latin typeface="Calibri" pitchFamily="34" charset="0"/>
                <a:ea typeface="Calibri" pitchFamily="34" charset="-122"/>
                <a:cs typeface="Calibri" pitchFamily="34" charset="-120"/>
              </a:rPr>
              <a:t>Sourabh Raghoji · 1SI25CS239</a:t>
            </a:r>
            <a:endParaRPr lang="en-US" sz="1200" dirty="0"/>
          </a:p>
          <a:p>
            <a:pPr marL="0" indent="0">
              <a:buNone/>
            </a:pPr>
            <a:r>
              <a:rPr lang="en-US" sz="1200" dirty="0">
                <a:solidFill>
                  <a:srgbClr val="C5D0DC"/>
                </a:solidFill>
                <a:latin typeface="Calibri" pitchFamily="34" charset="0"/>
                <a:ea typeface="Calibri" pitchFamily="34" charset="-122"/>
                <a:cs typeface="Calibri" pitchFamily="34" charset="-120"/>
              </a:rPr>
              <a:t>Sudarshan Raj Bhattarai · 1SI25CS247</a:t>
            </a:r>
            <a:endParaRPr lang="en-US" sz="1200" dirty="0"/>
          </a:p>
          <a:p>
            <a:pPr marL="0" indent="0">
              <a:buNone/>
            </a:pPr>
            <a:r>
              <a:rPr lang="en-US" sz="1200" dirty="0">
                <a:solidFill>
                  <a:srgbClr val="C5D0DC"/>
                </a:solidFill>
                <a:latin typeface="Calibri" pitchFamily="34" charset="0"/>
                <a:ea typeface="Calibri" pitchFamily="34" charset="-122"/>
                <a:cs typeface="Calibri" pitchFamily="34" charset="-120"/>
              </a:rPr>
              <a:t>Saugat Rauniyar · 1SI25CS217</a:t>
            </a:r>
            <a:endParaRPr lang="en-US" sz="1200" dirty="0"/>
          </a:p>
        </p:txBody>
      </p:sp>
      <p:sp>
        <p:nvSpPr>
          <p:cNvPr id="11" name="Text 9"/>
          <p:cNvSpPr txBox="1"/>
          <p:nvPr/>
        </p:nvSpPr>
        <p:spPr>
          <a:xfrm>
            <a:off x="640080" y="5623560"/>
            <a:ext cx="6217920" cy="548640"/>
          </a:xfrm>
          <a:prstGeom prst="rect">
            <a:avLst/>
          </a:prstGeom>
          <a:noFill/>
          <a:ln/>
        </p:spPr>
        <p:txBody>
          <a:bodyPr wrap="square" lIns="0" tIns="0" rIns="0" bIns="0" rtlCol="0" anchor="t"/>
          <a:lstStyle/>
          <a:p>
            <a:pPr marL="0" indent="0">
              <a:buNone/>
            </a:pPr>
            <a:r>
              <a:rPr lang="en-US" sz="1200" dirty="0">
                <a:solidFill>
                  <a:srgbClr val="C5D0DC"/>
                </a:solidFill>
                <a:latin typeface="Calibri" pitchFamily="34" charset="0"/>
                <a:ea typeface="Calibri" pitchFamily="34" charset="-122"/>
                <a:cs typeface="Calibri" pitchFamily="34" charset="-120"/>
              </a:rPr>
              <a:t>Faculty Guide: Mr. Ravi V</a:t>
            </a:r>
            <a:endParaRPr lang="en-US" sz="1200" dirty="0"/>
          </a:p>
          <a:p>
            <a:pPr marL="0" indent="0">
              <a:buNone/>
            </a:pPr>
            <a:r>
              <a:rPr lang="en-US" sz="1200" dirty="0">
                <a:solidFill>
                  <a:srgbClr val="C5D0DC"/>
                </a:solidFill>
                <a:latin typeface="Calibri" pitchFamily="34" charset="0"/>
                <a:ea typeface="Calibri" pitchFamily="34" charset="-122"/>
                <a:cs typeface="Calibri" pitchFamily="34" charset="-120"/>
              </a:rPr>
              <a:t>Community Partner: [Community Partner — to be confirmed]</a:t>
            </a:r>
            <a:endParaRPr lang="en-US" sz="1200" dirty="0"/>
          </a:p>
        </p:txBody>
      </p:sp>
      <p:sp>
        <p:nvSpPr>
          <p:cNvPr id="12" name="Shape 10"/>
          <p:cNvSpPr/>
          <p:nvPr/>
        </p:nvSpPr>
        <p:spPr>
          <a:xfrm>
            <a:off x="640080" y="6263640"/>
            <a:ext cx="310896" cy="310896"/>
          </a:xfrm>
          <a:prstGeom prst="rect">
            <a:avLst/>
          </a:prstGeom>
          <a:solidFill>
            <a:srgbClr val="F4DADA"/>
          </a:solidFill>
          <a:ln w="12700">
            <a:solidFill>
              <a:srgbClr val="B03A3A"/>
            </a:solidFill>
            <a:prstDash val="solid"/>
          </a:ln>
        </p:spPr>
      </p:sp>
      <p:sp>
        <p:nvSpPr>
          <p:cNvPr id="13" name="Text 11"/>
          <p:cNvSpPr txBox="1"/>
          <p:nvPr/>
        </p:nvSpPr>
        <p:spPr>
          <a:xfrm>
            <a:off x="640080" y="6263640"/>
            <a:ext cx="310896" cy="310896"/>
          </a:xfrm>
          <a:prstGeom prst="rect">
            <a:avLst/>
          </a:prstGeom>
          <a:noFill/>
          <a:ln/>
        </p:spPr>
        <p:txBody>
          <a:bodyPr wrap="square" lIns="0" tIns="0" rIns="0" bIns="0" rtlCol="0" anchor="ctr"/>
          <a:lstStyle/>
          <a:p>
            <a:pPr marL="0" indent="0" algn="ctr">
              <a:buNone/>
            </a:pPr>
            <a:r>
              <a:rPr lang="en-US" sz="884" b="1" dirty="0">
                <a:solidFill>
                  <a:srgbClr val="B03A3A"/>
                </a:solidFill>
                <a:latin typeface="Calibri" pitchFamily="34" charset="0"/>
                <a:ea typeface="Calibri" pitchFamily="34" charset="-122"/>
                <a:cs typeface="Calibri" pitchFamily="34" charset="-120"/>
              </a:rPr>
              <a:t>A</a:t>
            </a:r>
            <a:endParaRPr lang="en-US" sz="884" dirty="0"/>
          </a:p>
        </p:txBody>
      </p:sp>
      <p:sp>
        <p:nvSpPr>
          <p:cNvPr id="14" name="Shape 12"/>
          <p:cNvSpPr/>
          <p:nvPr/>
        </p:nvSpPr>
        <p:spPr>
          <a:xfrm>
            <a:off x="1097280" y="6263640"/>
            <a:ext cx="310896" cy="310896"/>
          </a:xfrm>
          <a:prstGeom prst="rect">
            <a:avLst/>
          </a:prstGeom>
          <a:solidFill>
            <a:srgbClr val="E3F1E8"/>
          </a:solidFill>
          <a:ln w="12700">
            <a:solidFill>
              <a:srgbClr val="2F7D4F"/>
            </a:solidFill>
            <a:prstDash val="solid"/>
          </a:ln>
        </p:spPr>
      </p:sp>
      <p:sp>
        <p:nvSpPr>
          <p:cNvPr id="15" name="Text 13"/>
          <p:cNvSpPr txBox="1"/>
          <p:nvPr/>
        </p:nvSpPr>
        <p:spPr>
          <a:xfrm>
            <a:off x="1097280" y="6263640"/>
            <a:ext cx="310896" cy="310896"/>
          </a:xfrm>
          <a:prstGeom prst="rect">
            <a:avLst/>
          </a:prstGeom>
          <a:noFill/>
          <a:ln/>
        </p:spPr>
        <p:txBody>
          <a:bodyPr wrap="square" lIns="0" tIns="0" rIns="0" bIns="0" rtlCol="0" anchor="ctr"/>
          <a:lstStyle/>
          <a:p>
            <a:pPr marL="0" indent="0" algn="ctr">
              <a:buNone/>
            </a:pPr>
            <a:r>
              <a:rPr lang="en-US" sz="884" b="1" dirty="0">
                <a:solidFill>
                  <a:srgbClr val="2F7D4F"/>
                </a:solidFill>
                <a:latin typeface="Calibri" pitchFamily="34" charset="0"/>
                <a:ea typeface="Calibri" pitchFamily="34" charset="-122"/>
                <a:cs typeface="Calibri" pitchFamily="34" charset="-120"/>
              </a:rPr>
              <a:t>B</a:t>
            </a:r>
            <a:endParaRPr lang="en-US" sz="884" dirty="0"/>
          </a:p>
        </p:txBody>
      </p:sp>
      <p:sp>
        <p:nvSpPr>
          <p:cNvPr id="16" name="Shape 14"/>
          <p:cNvSpPr/>
          <p:nvPr/>
        </p:nvSpPr>
        <p:spPr>
          <a:xfrm>
            <a:off x="1554480" y="6263640"/>
            <a:ext cx="310896" cy="310896"/>
          </a:xfrm>
          <a:prstGeom prst="rect">
            <a:avLst/>
          </a:prstGeom>
          <a:solidFill>
            <a:srgbClr val="F4DADA"/>
          </a:solidFill>
          <a:ln w="12700">
            <a:solidFill>
              <a:srgbClr val="B03A3A"/>
            </a:solidFill>
            <a:prstDash val="solid"/>
          </a:ln>
        </p:spPr>
      </p:sp>
      <p:sp>
        <p:nvSpPr>
          <p:cNvPr id="17" name="Text 15"/>
          <p:cNvSpPr txBox="1"/>
          <p:nvPr/>
        </p:nvSpPr>
        <p:spPr>
          <a:xfrm>
            <a:off x="1554480" y="6263640"/>
            <a:ext cx="310896" cy="310896"/>
          </a:xfrm>
          <a:prstGeom prst="rect">
            <a:avLst/>
          </a:prstGeom>
          <a:noFill/>
          <a:ln/>
        </p:spPr>
        <p:txBody>
          <a:bodyPr wrap="square" lIns="0" tIns="0" rIns="0" bIns="0" rtlCol="0" anchor="ctr"/>
          <a:lstStyle/>
          <a:p>
            <a:pPr marL="0" indent="0" algn="ctr">
              <a:buNone/>
            </a:pPr>
            <a:r>
              <a:rPr lang="en-US" sz="884" b="1" dirty="0">
                <a:solidFill>
                  <a:srgbClr val="B03A3A"/>
                </a:solidFill>
                <a:latin typeface="Calibri" pitchFamily="34" charset="0"/>
                <a:ea typeface="Calibri" pitchFamily="34" charset="-122"/>
                <a:cs typeface="Calibri" pitchFamily="34" charset="-120"/>
              </a:rPr>
              <a:t>C</a:t>
            </a:r>
            <a:endParaRPr lang="en-US" sz="884" dirty="0"/>
          </a:p>
        </p:txBody>
      </p:sp>
      <p:pic>
        <p:nvPicPr>
          <p:cNvPr id="18" name="Picture 17"/>
          <p:cNvPicPr>
            <a:picLocks noChangeAspect="1"/>
          </p:cNvPicPr>
          <p:nvPr/>
        </p:nvPicPr>
        <p:blipFill rotWithShape="1">
          <a:blip r:embed="rId3">
            <a:extLst>
              <a:ext uri="{28A0092B-C50C-407E-A947-70E740481C1C}">
                <a14:useLocalDpi xmlns:a14="http://schemas.microsoft.com/office/drawing/2010/main" val="0"/>
              </a:ext>
            </a:extLst>
          </a:blip>
          <a:srcRect l="22901" r="22776" b="1159"/>
          <a:stretch/>
        </p:blipFill>
        <p:spPr>
          <a:xfrm>
            <a:off x="6497053" y="671362"/>
            <a:ext cx="5463941" cy="55922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100" b="1" kern="0" spc="300" dirty="0">
                <a:solidFill>
                  <a:srgbClr val="2A7F86"/>
                </a:solidFill>
                <a:latin typeface="Calibri" pitchFamily="34" charset="0"/>
                <a:ea typeface="Calibri" pitchFamily="34" charset="-122"/>
                <a:cs typeface="Calibri" pitchFamily="34" charset="-120"/>
              </a:rPr>
              <a:t>INTRODUCTION AND CONTEXT</a:t>
            </a:r>
            <a:endParaRPr lang="en-US" sz="1100" dirty="0"/>
          </a:p>
        </p:txBody>
      </p:sp>
      <p:sp>
        <p:nvSpPr>
          <p:cNvPr id="3" name="Text 1"/>
          <p:cNvSpPr txBox="1"/>
          <p:nvPr/>
        </p:nvSpPr>
        <p:spPr>
          <a:xfrm>
            <a:off x="548640" y="640080"/>
            <a:ext cx="11064240" cy="548640"/>
          </a:xfrm>
          <a:prstGeom prst="rect">
            <a:avLst/>
          </a:prstGeom>
          <a:noFill/>
          <a:ln/>
        </p:spPr>
        <p:txBody>
          <a:bodyPr wrap="square" lIns="0" tIns="0" rIns="0" bIns="0" rtlCol="0" anchor="t"/>
          <a:lstStyle/>
          <a:p>
            <a:pPr marL="0" indent="0">
              <a:buNone/>
            </a:pPr>
            <a:r>
              <a:rPr lang="en-US" sz="2700" b="1" dirty="0">
                <a:solidFill>
                  <a:srgbClr val="14263F"/>
                </a:solidFill>
                <a:latin typeface="Calibri" pitchFamily="34" charset="0"/>
                <a:ea typeface="Calibri" pitchFamily="34" charset="-122"/>
                <a:cs typeface="Calibri" pitchFamily="34" charset="-120"/>
              </a:rPr>
              <a:t>From Manual Queues to a Shared Digital Record</a:t>
            </a:r>
            <a:endParaRPr lang="en-US" sz="2700" dirty="0"/>
          </a:p>
        </p:txBody>
      </p:sp>
      <p:sp>
        <p:nvSpPr>
          <p:cNvPr id="4" name="Text 2"/>
          <p:cNvSpPr txBox="1"/>
          <p:nvPr/>
        </p:nvSpPr>
        <p:spPr>
          <a:xfrm>
            <a:off x="548640" y="1234440"/>
            <a:ext cx="11064240" cy="320040"/>
          </a:xfrm>
          <a:prstGeom prst="rect">
            <a:avLst/>
          </a:prstGeom>
          <a:noFill/>
          <a:ln/>
        </p:spPr>
        <p:txBody>
          <a:bodyPr wrap="square" lIns="0" tIns="0" rIns="0" bIns="0" rtlCol="0" anchor="t"/>
          <a:lstStyle/>
          <a:p>
            <a:pPr marL="0" indent="0">
              <a:buNone/>
            </a:pPr>
            <a:r>
              <a:rPr lang="en-US" sz="1400" dirty="0">
                <a:solidFill>
                  <a:srgbClr val="5F6672"/>
                </a:solidFill>
                <a:latin typeface="Calibri" pitchFamily="34" charset="0"/>
                <a:ea typeface="Calibri" pitchFamily="34" charset="-122"/>
                <a:cs typeface="Calibri" pitchFamily="34" charset="-120"/>
              </a:rPr>
              <a:t>Same goal — fair seat allocation — handled very differently.</a:t>
            </a:r>
            <a:endParaRPr lang="en-US" sz="1400" dirty="0"/>
          </a:p>
        </p:txBody>
      </p:sp>
      <p:sp>
        <p:nvSpPr>
          <p:cNvPr id="5" name="Text 3"/>
          <p:cNvSpPr txBox="1"/>
          <p:nvPr/>
        </p:nvSpPr>
        <p:spPr>
          <a:xfrm>
            <a:off x="548640" y="6492240"/>
            <a:ext cx="7315200" cy="228600"/>
          </a:xfrm>
          <a:prstGeom prst="rect">
            <a:avLst/>
          </a:prstGeom>
          <a:noFill/>
          <a:ln/>
        </p:spPr>
        <p:txBody>
          <a:bodyPr wrap="square" lIns="0" tIns="0" rIns="0" bIns="0" rtlCol="0" anchor="t"/>
          <a:lstStyle/>
          <a:p>
            <a:pPr marL="0" indent="0">
              <a:buNone/>
            </a:pPr>
            <a:r>
              <a:rPr lang="en-US" sz="900" dirty="0">
                <a:solidFill>
                  <a:srgbClr val="5F6672"/>
                </a:solidFill>
                <a:latin typeface="Calibri" pitchFamily="34" charset="0"/>
                <a:ea typeface="Calibri" pitchFamily="34" charset="-122"/>
                <a:cs typeface="Calibri" pitchFamily="34" charset="-120"/>
              </a:rPr>
              <a:t>SIT Tumakuru · Dept. of CSE · Community Project Phase-I, 2026–27</a:t>
            </a:r>
            <a:endParaRPr lang="en-US" sz="900" dirty="0"/>
          </a:p>
        </p:txBody>
      </p:sp>
      <p:sp>
        <p:nvSpPr>
          <p:cNvPr id="6" name="Text 4"/>
          <p:cNvSpPr txBox="1"/>
          <p:nvPr/>
        </p:nvSpPr>
        <p:spPr>
          <a:xfrm>
            <a:off x="11155680" y="6492240"/>
            <a:ext cx="457200" cy="228600"/>
          </a:xfrm>
          <a:prstGeom prst="rect">
            <a:avLst/>
          </a:prstGeom>
          <a:noFill/>
          <a:ln/>
        </p:spPr>
        <p:txBody>
          <a:bodyPr wrap="square" lIns="0" tIns="0" rIns="0" bIns="0" rtlCol="0" anchor="t"/>
          <a:lstStyle/>
          <a:p>
            <a:pPr marL="0" indent="0" algn="r">
              <a:buNone/>
            </a:pPr>
            <a:r>
              <a:rPr lang="en-US" sz="900" dirty="0">
                <a:solidFill>
                  <a:srgbClr val="5F6672"/>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548640" y="1737360"/>
            <a:ext cx="5212080" cy="3383280"/>
          </a:xfrm>
          <a:prstGeom prst="rect">
            <a:avLst/>
          </a:prstGeom>
          <a:solidFill>
            <a:srgbClr val="FFFFFF"/>
          </a:solidFill>
          <a:ln w="12700">
            <a:solidFill>
              <a:srgbClr val="D9D6CE"/>
            </a:solidFill>
            <a:prstDash val="solid"/>
          </a:ln>
        </p:spPr>
      </p:sp>
      <p:sp>
        <p:nvSpPr>
          <p:cNvPr id="8" name="Shape 6"/>
          <p:cNvSpPr/>
          <p:nvPr/>
        </p:nvSpPr>
        <p:spPr>
          <a:xfrm>
            <a:off x="548640" y="1737360"/>
            <a:ext cx="5212080" cy="292608"/>
          </a:xfrm>
          <a:prstGeom prst="rect">
            <a:avLst/>
          </a:prstGeom>
          <a:solidFill>
            <a:srgbClr val="F0EEE8"/>
          </a:solidFill>
          <a:ln w="12700">
            <a:solidFill>
              <a:srgbClr val="D9D6CE"/>
            </a:solidFill>
            <a:prstDash val="solid"/>
          </a:ln>
        </p:spPr>
      </p:sp>
      <p:sp>
        <p:nvSpPr>
          <p:cNvPr id="9" name="Text 7"/>
          <p:cNvSpPr txBox="1"/>
          <p:nvPr/>
        </p:nvSpPr>
        <p:spPr>
          <a:xfrm>
            <a:off x="658368" y="1737360"/>
            <a:ext cx="5029200" cy="292608"/>
          </a:xfrm>
          <a:prstGeom prst="rect">
            <a:avLst/>
          </a:prstGeom>
          <a:noFill/>
          <a:ln/>
        </p:spPr>
        <p:txBody>
          <a:bodyPr wrap="square" lIns="0" tIns="0" rIns="0" bIns="0" rtlCol="0" anchor="ctr"/>
          <a:lstStyle/>
          <a:p>
            <a:pPr marL="0" indent="0">
              <a:buNone/>
            </a:pPr>
            <a:r>
              <a:rPr lang="en-US" sz="1000" b="1" dirty="0">
                <a:solidFill>
                  <a:srgbClr val="5F6672"/>
                </a:solidFill>
                <a:latin typeface="Calibri" pitchFamily="34" charset="0"/>
                <a:ea typeface="Calibri" pitchFamily="34" charset="-122"/>
                <a:cs typeface="Calibri" pitchFamily="34" charset="-120"/>
              </a:rPr>
              <a:t>TRADITIONAL (general practice)</a:t>
            </a:r>
            <a:endParaRPr lang="en-US" sz="1000" dirty="0"/>
          </a:p>
        </p:txBody>
      </p:sp>
      <p:sp>
        <p:nvSpPr>
          <p:cNvPr id="10" name="Shape 8"/>
          <p:cNvSpPr/>
          <p:nvPr/>
        </p:nvSpPr>
        <p:spPr>
          <a:xfrm>
            <a:off x="822960" y="2286000"/>
            <a:ext cx="347472" cy="347472"/>
          </a:xfrm>
          <a:prstGeom prst="ellipse">
            <a:avLst/>
          </a:prstGeom>
          <a:solidFill>
            <a:srgbClr val="9AA0A8"/>
          </a:solidFill>
          <a:ln/>
        </p:spPr>
      </p:sp>
      <p:sp>
        <p:nvSpPr>
          <p:cNvPr id="11" name="Shape 9"/>
          <p:cNvSpPr/>
          <p:nvPr/>
        </p:nvSpPr>
        <p:spPr>
          <a:xfrm>
            <a:off x="1325880" y="2286000"/>
            <a:ext cx="347472" cy="347472"/>
          </a:xfrm>
          <a:prstGeom prst="ellipse">
            <a:avLst/>
          </a:prstGeom>
          <a:solidFill>
            <a:srgbClr val="9AA0A8"/>
          </a:solidFill>
          <a:ln/>
        </p:spPr>
      </p:sp>
      <p:sp>
        <p:nvSpPr>
          <p:cNvPr id="12" name="Shape 10"/>
          <p:cNvSpPr/>
          <p:nvPr/>
        </p:nvSpPr>
        <p:spPr>
          <a:xfrm>
            <a:off x="1828800" y="2286000"/>
            <a:ext cx="347472" cy="347472"/>
          </a:xfrm>
          <a:prstGeom prst="ellipse">
            <a:avLst/>
          </a:prstGeom>
          <a:solidFill>
            <a:srgbClr val="9AA0A8"/>
          </a:solidFill>
          <a:ln/>
        </p:spPr>
      </p:sp>
      <p:sp>
        <p:nvSpPr>
          <p:cNvPr id="13" name="Shape 11"/>
          <p:cNvSpPr/>
          <p:nvPr/>
        </p:nvSpPr>
        <p:spPr>
          <a:xfrm>
            <a:off x="2331720" y="2286000"/>
            <a:ext cx="347472" cy="347472"/>
          </a:xfrm>
          <a:prstGeom prst="ellipse">
            <a:avLst/>
          </a:prstGeom>
          <a:solidFill>
            <a:srgbClr val="9AA0A8"/>
          </a:solidFill>
          <a:ln/>
        </p:spPr>
      </p:sp>
      <p:sp>
        <p:nvSpPr>
          <p:cNvPr id="14" name="Shape 12"/>
          <p:cNvSpPr/>
          <p:nvPr/>
        </p:nvSpPr>
        <p:spPr>
          <a:xfrm>
            <a:off x="2834640" y="2286000"/>
            <a:ext cx="347472" cy="347472"/>
          </a:xfrm>
          <a:prstGeom prst="ellipse">
            <a:avLst/>
          </a:prstGeom>
          <a:solidFill>
            <a:srgbClr val="9AA0A8"/>
          </a:solidFill>
          <a:ln/>
        </p:spPr>
      </p:sp>
      <p:sp>
        <p:nvSpPr>
          <p:cNvPr id="15" name="Shape 13"/>
          <p:cNvSpPr/>
          <p:nvPr/>
        </p:nvSpPr>
        <p:spPr>
          <a:xfrm>
            <a:off x="3337560" y="2286000"/>
            <a:ext cx="347472" cy="347472"/>
          </a:xfrm>
          <a:prstGeom prst="ellipse">
            <a:avLst/>
          </a:prstGeom>
          <a:solidFill>
            <a:srgbClr val="9AA0A8"/>
          </a:solidFill>
          <a:ln/>
        </p:spPr>
      </p:sp>
      <p:sp>
        <p:nvSpPr>
          <p:cNvPr id="16" name="Shape 14"/>
          <p:cNvSpPr/>
          <p:nvPr/>
        </p:nvSpPr>
        <p:spPr>
          <a:xfrm>
            <a:off x="3840480" y="2286000"/>
            <a:ext cx="347472" cy="347472"/>
          </a:xfrm>
          <a:prstGeom prst="ellipse">
            <a:avLst/>
          </a:prstGeom>
          <a:solidFill>
            <a:srgbClr val="9AA0A8"/>
          </a:solidFill>
          <a:ln/>
        </p:spPr>
      </p:sp>
      <p:sp>
        <p:nvSpPr>
          <p:cNvPr id="17" name="Text 15"/>
          <p:cNvSpPr txBox="1"/>
          <p:nvPr/>
        </p:nvSpPr>
        <p:spPr>
          <a:xfrm>
            <a:off x="822960" y="2697480"/>
            <a:ext cx="2743200" cy="274320"/>
          </a:xfrm>
          <a:prstGeom prst="rect">
            <a:avLst/>
          </a:prstGeom>
          <a:noFill/>
          <a:ln/>
        </p:spPr>
        <p:txBody>
          <a:bodyPr wrap="square" lIns="0" tIns="0" rIns="0" bIns="0" rtlCol="0" anchor="t"/>
          <a:lstStyle/>
          <a:p>
            <a:pPr marL="0" indent="0">
              <a:buNone/>
            </a:pPr>
            <a:r>
              <a:rPr lang="en-US" sz="1200" dirty="0">
                <a:solidFill>
                  <a:srgbClr val="5F6672"/>
                </a:solidFill>
                <a:latin typeface="Calibri" pitchFamily="34" charset="0"/>
                <a:ea typeface="Calibri" pitchFamily="34" charset="-122"/>
                <a:cs typeface="Calibri" pitchFamily="34" charset="-120"/>
              </a:rPr>
              <a:t>Physical queue</a:t>
            </a:r>
            <a:endParaRPr lang="en-US" sz="1200" dirty="0"/>
          </a:p>
        </p:txBody>
      </p:sp>
      <p:sp>
        <p:nvSpPr>
          <p:cNvPr id="18" name="Shape 16"/>
          <p:cNvSpPr/>
          <p:nvPr/>
        </p:nvSpPr>
        <p:spPr>
          <a:xfrm>
            <a:off x="822960" y="3200400"/>
            <a:ext cx="1188720" cy="822960"/>
          </a:xfrm>
          <a:prstGeom prst="rect">
            <a:avLst/>
          </a:prstGeom>
          <a:solidFill>
            <a:srgbClr val="FFFFFF"/>
          </a:solidFill>
          <a:ln w="12700">
            <a:solidFill>
              <a:srgbClr val="9AA0A8"/>
            </a:solidFill>
            <a:prstDash val="solid"/>
          </a:ln>
        </p:spPr>
      </p:sp>
      <p:sp>
        <p:nvSpPr>
          <p:cNvPr id="19" name="Shape 17"/>
          <p:cNvSpPr/>
          <p:nvPr/>
        </p:nvSpPr>
        <p:spPr>
          <a:xfrm>
            <a:off x="932688" y="3291840"/>
            <a:ext cx="1188720" cy="822960"/>
          </a:xfrm>
          <a:prstGeom prst="rect">
            <a:avLst/>
          </a:prstGeom>
          <a:solidFill>
            <a:srgbClr val="FFFFFF"/>
          </a:solidFill>
          <a:ln w="12700">
            <a:solidFill>
              <a:srgbClr val="9AA0A8"/>
            </a:solidFill>
            <a:prstDash val="solid"/>
          </a:ln>
        </p:spPr>
      </p:sp>
      <p:sp>
        <p:nvSpPr>
          <p:cNvPr id="20" name="Shape 18"/>
          <p:cNvSpPr/>
          <p:nvPr/>
        </p:nvSpPr>
        <p:spPr>
          <a:xfrm>
            <a:off x="1042416" y="3383280"/>
            <a:ext cx="1188720" cy="822960"/>
          </a:xfrm>
          <a:prstGeom prst="rect">
            <a:avLst/>
          </a:prstGeom>
          <a:solidFill>
            <a:srgbClr val="FFFFFF"/>
          </a:solidFill>
          <a:ln w="12700">
            <a:solidFill>
              <a:srgbClr val="9AA0A8"/>
            </a:solidFill>
            <a:prstDash val="solid"/>
          </a:ln>
        </p:spPr>
      </p:sp>
      <p:sp>
        <p:nvSpPr>
          <p:cNvPr id="21" name="Text 19"/>
          <p:cNvSpPr txBox="1"/>
          <p:nvPr/>
        </p:nvSpPr>
        <p:spPr>
          <a:xfrm>
            <a:off x="822960" y="4297680"/>
            <a:ext cx="1828800" cy="274320"/>
          </a:xfrm>
          <a:prstGeom prst="rect">
            <a:avLst/>
          </a:prstGeom>
          <a:noFill/>
          <a:ln/>
        </p:spPr>
        <p:txBody>
          <a:bodyPr wrap="square" lIns="0" tIns="0" rIns="0" bIns="0" rtlCol="0" anchor="t"/>
          <a:lstStyle/>
          <a:p>
            <a:pPr marL="0" indent="0">
              <a:buNone/>
            </a:pPr>
            <a:r>
              <a:rPr lang="en-US" sz="1200" dirty="0">
                <a:solidFill>
                  <a:srgbClr val="5F6672"/>
                </a:solidFill>
                <a:latin typeface="Calibri" pitchFamily="34" charset="0"/>
                <a:ea typeface="Calibri" pitchFamily="34" charset="-122"/>
                <a:cs typeface="Calibri" pitchFamily="34" charset="-120"/>
              </a:rPr>
              <a:t>Paper records</a:t>
            </a:r>
            <a:endParaRPr lang="en-US" sz="1200" dirty="0"/>
          </a:p>
        </p:txBody>
      </p:sp>
      <p:sp>
        <p:nvSpPr>
          <p:cNvPr id="22" name="Shape 20"/>
          <p:cNvSpPr/>
          <p:nvPr/>
        </p:nvSpPr>
        <p:spPr>
          <a:xfrm>
            <a:off x="2834640" y="3200400"/>
            <a:ext cx="1371600" cy="822960"/>
          </a:xfrm>
          <a:prstGeom prst="rect">
            <a:avLst/>
          </a:prstGeom>
          <a:solidFill>
            <a:srgbClr val="FFFFFF"/>
          </a:solidFill>
          <a:ln w="12700">
            <a:solidFill>
              <a:srgbClr val="9AA0A8"/>
            </a:solidFill>
            <a:prstDash val="solid"/>
          </a:ln>
        </p:spPr>
      </p:sp>
      <p:sp>
        <p:nvSpPr>
          <p:cNvPr id="23" name="Text 21"/>
          <p:cNvSpPr txBox="1"/>
          <p:nvPr/>
        </p:nvSpPr>
        <p:spPr>
          <a:xfrm>
            <a:off x="2880360" y="3200400"/>
            <a:ext cx="1280160" cy="822960"/>
          </a:xfrm>
          <a:prstGeom prst="rect">
            <a:avLst/>
          </a:prstGeom>
          <a:noFill/>
          <a:ln/>
        </p:spPr>
        <p:txBody>
          <a:bodyPr wrap="square" lIns="0" tIns="0" rIns="0" bIns="0" rtlCol="0" anchor="ctr"/>
          <a:lstStyle/>
          <a:p>
            <a:pPr marL="0" indent="0" algn="ctr">
              <a:buNone/>
            </a:pPr>
            <a:r>
              <a:rPr lang="en-US" sz="1200" dirty="0">
                <a:solidFill>
                  <a:srgbClr val="1F2328"/>
                </a:solidFill>
                <a:latin typeface="Calibri" pitchFamily="34" charset="0"/>
                <a:ea typeface="Calibri" pitchFamily="34" charset="-122"/>
                <a:cs typeface="Calibri" pitchFamily="34" charset="-120"/>
              </a:rPr>
              <a:t>Manual</a:t>
            </a:r>
            <a:endParaRPr lang="en-US" sz="1200" dirty="0"/>
          </a:p>
          <a:p>
            <a:pPr marL="0" indent="0" algn="ctr">
              <a:buNone/>
            </a:pPr>
            <a:r>
              <a:rPr lang="en-US" sz="1200" dirty="0">
                <a:solidFill>
                  <a:srgbClr val="1F2328"/>
                </a:solidFill>
                <a:latin typeface="Calibri" pitchFamily="34" charset="0"/>
                <a:ea typeface="Calibri" pitchFamily="34" charset="-122"/>
                <a:cs typeface="Calibri" pitchFamily="34" charset="-120"/>
              </a:rPr>
              <a:t>verification</a:t>
            </a:r>
            <a:endParaRPr lang="en-US" sz="1200" dirty="0"/>
          </a:p>
        </p:txBody>
      </p:sp>
      <p:sp>
        <p:nvSpPr>
          <p:cNvPr id="24" name="Shape 22"/>
          <p:cNvSpPr/>
          <p:nvPr/>
        </p:nvSpPr>
        <p:spPr>
          <a:xfrm>
            <a:off x="4343400" y="3200400"/>
            <a:ext cx="1234440" cy="822960"/>
          </a:xfrm>
          <a:prstGeom prst="rect">
            <a:avLst/>
          </a:prstGeom>
          <a:solidFill>
            <a:srgbClr val="FFFFFF"/>
          </a:solidFill>
          <a:ln w="12700">
            <a:solidFill>
              <a:srgbClr val="9AA0A8"/>
            </a:solidFill>
            <a:prstDash val="solid"/>
          </a:ln>
        </p:spPr>
      </p:sp>
      <p:sp>
        <p:nvSpPr>
          <p:cNvPr id="25" name="Text 23"/>
          <p:cNvSpPr txBox="1"/>
          <p:nvPr/>
        </p:nvSpPr>
        <p:spPr>
          <a:xfrm>
            <a:off x="4389120" y="3200400"/>
            <a:ext cx="1143000" cy="822960"/>
          </a:xfrm>
          <a:prstGeom prst="rect">
            <a:avLst/>
          </a:prstGeom>
          <a:noFill/>
          <a:ln/>
        </p:spPr>
        <p:txBody>
          <a:bodyPr wrap="square" lIns="0" tIns="0" rIns="0" bIns="0" rtlCol="0" anchor="ctr"/>
          <a:lstStyle/>
          <a:p>
            <a:pPr marL="0" indent="0" algn="ctr">
              <a:buNone/>
            </a:pPr>
            <a:r>
              <a:rPr lang="en-US" sz="1200" dirty="0">
                <a:solidFill>
                  <a:srgbClr val="1F2328"/>
                </a:solidFill>
                <a:latin typeface="Calibri" pitchFamily="34" charset="0"/>
                <a:ea typeface="Calibri" pitchFamily="34" charset="-122"/>
                <a:cs typeface="Calibri" pitchFamily="34" charset="-120"/>
              </a:rPr>
              <a:t>Repeated</a:t>
            </a:r>
            <a:endParaRPr lang="en-US" sz="1200" dirty="0"/>
          </a:p>
          <a:p>
            <a:pPr marL="0" indent="0" algn="ctr">
              <a:buNone/>
            </a:pPr>
            <a:r>
              <a:rPr lang="en-US" sz="1200" dirty="0">
                <a:solidFill>
                  <a:srgbClr val="1F2328"/>
                </a:solidFill>
                <a:latin typeface="Calibri" pitchFamily="34" charset="0"/>
                <a:ea typeface="Calibri" pitchFamily="34" charset="-122"/>
                <a:cs typeface="Calibri" pitchFamily="34" charset="-120"/>
              </a:rPr>
              <a:t>enquiries</a:t>
            </a:r>
            <a:endParaRPr lang="en-US" sz="1200" dirty="0"/>
          </a:p>
        </p:txBody>
      </p:sp>
      <p:sp>
        <p:nvSpPr>
          <p:cNvPr id="26" name="Text 24"/>
          <p:cNvSpPr txBox="1"/>
          <p:nvPr/>
        </p:nvSpPr>
        <p:spPr>
          <a:xfrm>
            <a:off x="822960" y="4572000"/>
            <a:ext cx="4754880" cy="457200"/>
          </a:xfrm>
          <a:prstGeom prst="rect">
            <a:avLst/>
          </a:prstGeom>
          <a:noFill/>
          <a:ln/>
        </p:spPr>
        <p:txBody>
          <a:bodyPr wrap="square" lIns="0" tIns="0" rIns="0" bIns="0" rtlCol="0" anchor="t"/>
          <a:lstStyle/>
          <a:p>
            <a:pPr marL="0" indent="0">
              <a:buNone/>
            </a:pPr>
            <a:r>
              <a:rPr lang="en-US" sz="1200" i="1" dirty="0">
                <a:solidFill>
                  <a:srgbClr val="5F6672"/>
                </a:solidFill>
                <a:latin typeface="Calibri" pitchFamily="34" charset="0"/>
                <a:ea typeface="Calibri" pitchFamily="34" charset="-122"/>
                <a:cs typeface="Calibri" pitchFamily="34" charset="-120"/>
              </a:rPr>
              <a:t>Records may be scattered; availability is hard to see.</a:t>
            </a:r>
            <a:endParaRPr lang="en-US" sz="1200" dirty="0"/>
          </a:p>
        </p:txBody>
      </p:sp>
      <p:sp>
        <p:nvSpPr>
          <p:cNvPr id="27" name="Shape 25"/>
          <p:cNvSpPr/>
          <p:nvPr/>
        </p:nvSpPr>
        <p:spPr>
          <a:xfrm>
            <a:off x="5852160" y="3429000"/>
            <a:ext cx="457200" cy="0"/>
          </a:xfrm>
          <a:prstGeom prst="line">
            <a:avLst/>
          </a:prstGeom>
          <a:noFill/>
          <a:ln w="15875">
            <a:solidFill>
              <a:srgbClr val="2A7F86"/>
            </a:solidFill>
            <a:prstDash val="solid"/>
            <a:tailEnd type="triangle"/>
          </a:ln>
        </p:spPr>
      </p:sp>
      <p:sp>
        <p:nvSpPr>
          <p:cNvPr id="28" name="Shape 26"/>
          <p:cNvSpPr/>
          <p:nvPr/>
        </p:nvSpPr>
        <p:spPr>
          <a:xfrm>
            <a:off x="6400800" y="1737360"/>
            <a:ext cx="5212080" cy="3383280"/>
          </a:xfrm>
          <a:prstGeom prst="rect">
            <a:avLst/>
          </a:prstGeom>
          <a:solidFill>
            <a:srgbClr val="FFFFFF"/>
          </a:solidFill>
          <a:ln w="12700">
            <a:solidFill>
              <a:srgbClr val="D9D6CE"/>
            </a:solidFill>
            <a:prstDash val="solid"/>
          </a:ln>
        </p:spPr>
      </p:sp>
      <p:sp>
        <p:nvSpPr>
          <p:cNvPr id="29" name="Shape 27"/>
          <p:cNvSpPr/>
          <p:nvPr/>
        </p:nvSpPr>
        <p:spPr>
          <a:xfrm>
            <a:off x="6400800" y="1737360"/>
            <a:ext cx="5212080" cy="292608"/>
          </a:xfrm>
          <a:prstGeom prst="rect">
            <a:avLst/>
          </a:prstGeom>
          <a:solidFill>
            <a:srgbClr val="F0EEE8"/>
          </a:solidFill>
          <a:ln w="12700">
            <a:solidFill>
              <a:srgbClr val="D9D6CE"/>
            </a:solidFill>
            <a:prstDash val="solid"/>
          </a:ln>
        </p:spPr>
      </p:sp>
      <p:sp>
        <p:nvSpPr>
          <p:cNvPr id="30" name="Text 28"/>
          <p:cNvSpPr txBox="1"/>
          <p:nvPr/>
        </p:nvSpPr>
        <p:spPr>
          <a:xfrm>
            <a:off x="6510528" y="1737360"/>
            <a:ext cx="5029200" cy="292608"/>
          </a:xfrm>
          <a:prstGeom prst="rect">
            <a:avLst/>
          </a:prstGeom>
          <a:noFill/>
          <a:ln/>
        </p:spPr>
        <p:txBody>
          <a:bodyPr wrap="square" lIns="0" tIns="0" rIns="0" bIns="0" rtlCol="0" anchor="ctr"/>
          <a:lstStyle/>
          <a:p>
            <a:pPr marL="0" indent="0">
              <a:buNone/>
            </a:pPr>
            <a:r>
              <a:rPr lang="en-US" sz="1000" b="1" dirty="0">
                <a:solidFill>
                  <a:srgbClr val="5F6672"/>
                </a:solidFill>
                <a:latin typeface="Calibri" pitchFamily="34" charset="0"/>
                <a:ea typeface="Calibri" pitchFamily="34" charset="-122"/>
                <a:cs typeface="Calibri" pitchFamily="34" charset="-120"/>
              </a:rPr>
              <a:t>PROPOSED DIGITAL PLATFORM</a:t>
            </a:r>
            <a:endParaRPr lang="en-US" sz="1000" dirty="0"/>
          </a:p>
        </p:txBody>
      </p:sp>
      <p:sp>
        <p:nvSpPr>
          <p:cNvPr id="31" name="Text 29"/>
          <p:cNvSpPr txBox="1"/>
          <p:nvPr/>
        </p:nvSpPr>
        <p:spPr>
          <a:xfrm>
            <a:off x="9601200" y="2057400"/>
            <a:ext cx="1920240" cy="182880"/>
          </a:xfrm>
          <a:prstGeom prst="rect">
            <a:avLst/>
          </a:prstGeom>
          <a:noFill/>
          <a:ln/>
        </p:spPr>
        <p:txBody>
          <a:bodyPr wrap="square" lIns="0" tIns="0" rIns="0" bIns="0" rtlCol="0" anchor="t"/>
          <a:lstStyle/>
          <a:p>
            <a:pPr marL="0" indent="0" algn="r">
              <a:buNone/>
            </a:pPr>
            <a:r>
              <a:rPr lang="en-US" sz="800" i="1" dirty="0">
                <a:solidFill>
                  <a:srgbClr val="5F6672"/>
                </a:solidFill>
                <a:latin typeface="Calibri" pitchFamily="34" charset="0"/>
                <a:ea typeface="Calibri" pitchFamily="34" charset="-122"/>
                <a:cs typeface="Calibri" pitchFamily="34" charset="-120"/>
              </a:rPr>
              <a:t>Conceptual UI Mockup</a:t>
            </a:r>
            <a:endParaRPr lang="en-US" sz="800" dirty="0"/>
          </a:p>
        </p:txBody>
      </p:sp>
      <p:sp>
        <p:nvSpPr>
          <p:cNvPr id="32" name="Shape 30"/>
          <p:cNvSpPr/>
          <p:nvPr/>
        </p:nvSpPr>
        <p:spPr>
          <a:xfrm>
            <a:off x="6675120" y="2377440"/>
            <a:ext cx="502920" cy="411480"/>
          </a:xfrm>
          <a:prstGeom prst="rect">
            <a:avLst/>
          </a:prstGeom>
          <a:solidFill>
            <a:srgbClr val="2B6CB0"/>
          </a:solidFill>
          <a:ln w="12700">
            <a:solidFill>
              <a:srgbClr val="2B6CB0"/>
            </a:solidFill>
            <a:prstDash val="solid"/>
          </a:ln>
        </p:spPr>
      </p:sp>
      <p:sp>
        <p:nvSpPr>
          <p:cNvPr id="33" name="Text 31"/>
          <p:cNvSpPr txBox="1"/>
          <p:nvPr/>
        </p:nvSpPr>
        <p:spPr>
          <a:xfrm>
            <a:off x="6720840" y="2377440"/>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4" name="Shape 32"/>
          <p:cNvSpPr/>
          <p:nvPr/>
        </p:nvSpPr>
        <p:spPr>
          <a:xfrm>
            <a:off x="7269480" y="2377440"/>
            <a:ext cx="502920" cy="411480"/>
          </a:xfrm>
          <a:prstGeom prst="rect">
            <a:avLst/>
          </a:prstGeom>
          <a:solidFill>
            <a:srgbClr val="FFFFFF"/>
          </a:solidFill>
          <a:ln w="12700">
            <a:solidFill>
              <a:srgbClr val="D9D6CE"/>
            </a:solidFill>
            <a:prstDash val="solid"/>
          </a:ln>
        </p:spPr>
      </p:sp>
      <p:sp>
        <p:nvSpPr>
          <p:cNvPr id="35" name="Text 33"/>
          <p:cNvSpPr txBox="1"/>
          <p:nvPr/>
        </p:nvSpPr>
        <p:spPr>
          <a:xfrm>
            <a:off x="7315200" y="2377440"/>
            <a:ext cx="411480" cy="411480"/>
          </a:xfrm>
          <a:prstGeom prst="rect">
            <a:avLst/>
          </a:prstGeom>
          <a:noFill/>
          <a:ln/>
        </p:spPr>
        <p:txBody>
          <a:bodyPr wrap="square" lIns="0" tIns="0" rIns="0" bIns="0" rtlCol="0" anchor="ctr"/>
          <a:lstStyle/>
          <a:p>
            <a:pPr marL="0" indent="0" algn="ctr">
              <a:buNone/>
            </a:pPr>
            <a:r>
              <a:rPr lang="en-US" sz="1200" b="1" dirty="0">
                <a:solidFill>
                  <a:srgbClr val="14263F"/>
                </a:solidFill>
                <a:latin typeface="Calibri" pitchFamily="34" charset="0"/>
                <a:ea typeface="Calibri" pitchFamily="34" charset="-122"/>
                <a:cs typeface="Calibri" pitchFamily="34" charset="-120"/>
              </a:rPr>
              <a:t>8</a:t>
            </a:r>
            <a:endParaRPr lang="en-US" sz="1200" dirty="0"/>
          </a:p>
        </p:txBody>
      </p:sp>
      <p:sp>
        <p:nvSpPr>
          <p:cNvPr id="36" name="Shape 34"/>
          <p:cNvSpPr/>
          <p:nvPr/>
        </p:nvSpPr>
        <p:spPr>
          <a:xfrm>
            <a:off x="7863840" y="2377440"/>
            <a:ext cx="502920" cy="411480"/>
          </a:xfrm>
          <a:prstGeom prst="rect">
            <a:avLst/>
          </a:prstGeom>
          <a:solidFill>
            <a:srgbClr val="FFFFFF"/>
          </a:solidFill>
          <a:ln w="12700">
            <a:solidFill>
              <a:srgbClr val="D9D6CE"/>
            </a:solidFill>
            <a:prstDash val="solid"/>
          </a:ln>
        </p:spPr>
      </p:sp>
      <p:sp>
        <p:nvSpPr>
          <p:cNvPr id="37" name="Text 35"/>
          <p:cNvSpPr txBox="1"/>
          <p:nvPr/>
        </p:nvSpPr>
        <p:spPr>
          <a:xfrm>
            <a:off x="7909560" y="2377440"/>
            <a:ext cx="411480" cy="411480"/>
          </a:xfrm>
          <a:prstGeom prst="rect">
            <a:avLst/>
          </a:prstGeom>
          <a:noFill/>
          <a:ln/>
        </p:spPr>
        <p:txBody>
          <a:bodyPr wrap="square" lIns="0" tIns="0" rIns="0" bIns="0" rtlCol="0" anchor="ctr"/>
          <a:lstStyle/>
          <a:p>
            <a:pPr marL="0" indent="0" algn="ctr">
              <a:buNone/>
            </a:pPr>
            <a:r>
              <a:rPr lang="en-US" sz="1200" b="1" dirty="0">
                <a:solidFill>
                  <a:srgbClr val="14263F"/>
                </a:solidFill>
                <a:latin typeface="Calibri" pitchFamily="34" charset="0"/>
                <a:ea typeface="Calibri" pitchFamily="34" charset="-122"/>
                <a:cs typeface="Calibri" pitchFamily="34" charset="-120"/>
              </a:rPr>
              <a:t>9</a:t>
            </a:r>
            <a:endParaRPr lang="en-US" sz="1200" dirty="0"/>
          </a:p>
        </p:txBody>
      </p:sp>
      <p:sp>
        <p:nvSpPr>
          <p:cNvPr id="38" name="Shape 36"/>
          <p:cNvSpPr/>
          <p:nvPr/>
        </p:nvSpPr>
        <p:spPr>
          <a:xfrm>
            <a:off x="8458200" y="2377440"/>
            <a:ext cx="502920" cy="411480"/>
          </a:xfrm>
          <a:prstGeom prst="rect">
            <a:avLst/>
          </a:prstGeom>
          <a:solidFill>
            <a:srgbClr val="FFFFFF"/>
          </a:solidFill>
          <a:ln w="12700">
            <a:solidFill>
              <a:srgbClr val="D9D6CE"/>
            </a:solidFill>
            <a:prstDash val="solid"/>
          </a:ln>
        </p:spPr>
      </p:sp>
      <p:sp>
        <p:nvSpPr>
          <p:cNvPr id="39" name="Text 37"/>
          <p:cNvSpPr txBox="1"/>
          <p:nvPr/>
        </p:nvSpPr>
        <p:spPr>
          <a:xfrm>
            <a:off x="8503920" y="2377440"/>
            <a:ext cx="411480" cy="411480"/>
          </a:xfrm>
          <a:prstGeom prst="rect">
            <a:avLst/>
          </a:prstGeom>
          <a:noFill/>
          <a:ln/>
        </p:spPr>
        <p:txBody>
          <a:bodyPr wrap="square" lIns="0" tIns="0" rIns="0" bIns="0" rtlCol="0" anchor="ctr"/>
          <a:lstStyle/>
          <a:p>
            <a:pPr marL="0" indent="0" algn="ctr">
              <a:buNone/>
            </a:pPr>
            <a:r>
              <a:rPr lang="en-US" sz="1200" b="1" dirty="0">
                <a:solidFill>
                  <a:srgbClr val="14263F"/>
                </a:solidFill>
                <a:latin typeface="Calibri" pitchFamily="34" charset="0"/>
                <a:ea typeface="Calibri" pitchFamily="34" charset="-122"/>
                <a:cs typeface="Calibri" pitchFamily="34" charset="-120"/>
              </a:rPr>
              <a:t>10</a:t>
            </a:r>
            <a:endParaRPr lang="en-US" sz="1200" dirty="0"/>
          </a:p>
        </p:txBody>
      </p:sp>
      <p:sp>
        <p:nvSpPr>
          <p:cNvPr id="40" name="Text 38"/>
          <p:cNvSpPr txBox="1"/>
          <p:nvPr/>
        </p:nvSpPr>
        <p:spPr>
          <a:xfrm>
            <a:off x="6675120" y="2834640"/>
            <a:ext cx="2743200" cy="274320"/>
          </a:xfrm>
          <a:prstGeom prst="rect">
            <a:avLst/>
          </a:prstGeom>
          <a:noFill/>
          <a:ln/>
        </p:spPr>
        <p:txBody>
          <a:bodyPr wrap="square" lIns="0" tIns="0" rIns="0" bIns="0" rtlCol="0" anchor="t"/>
          <a:lstStyle/>
          <a:p>
            <a:pPr marL="0" indent="0">
              <a:buNone/>
            </a:pPr>
            <a:r>
              <a:rPr lang="en-US" sz="1200" dirty="0">
                <a:solidFill>
                  <a:srgbClr val="5F6672"/>
                </a:solidFill>
                <a:latin typeface="Calibri" pitchFamily="34" charset="0"/>
                <a:ea typeface="Calibri" pitchFamily="34" charset="-122"/>
                <a:cs typeface="Calibri" pitchFamily="34" charset="-120"/>
              </a:rPr>
              <a:t>Priority queue</a:t>
            </a:r>
            <a:endParaRPr lang="en-US" sz="1200" dirty="0"/>
          </a:p>
        </p:txBody>
      </p:sp>
      <p:sp>
        <p:nvSpPr>
          <p:cNvPr id="41" name="Shape 39"/>
          <p:cNvSpPr/>
          <p:nvPr/>
        </p:nvSpPr>
        <p:spPr>
          <a:xfrm>
            <a:off x="6675120" y="3200400"/>
            <a:ext cx="2377440" cy="914400"/>
          </a:xfrm>
          <a:prstGeom prst="rect">
            <a:avLst/>
          </a:prstGeom>
          <a:solidFill>
            <a:srgbClr val="FBFAF7"/>
          </a:solidFill>
          <a:ln w="19050">
            <a:solidFill>
              <a:srgbClr val="14263F"/>
            </a:solidFill>
            <a:prstDash val="solid"/>
          </a:ln>
        </p:spPr>
      </p:sp>
      <p:sp>
        <p:nvSpPr>
          <p:cNvPr id="42" name="Shape 40"/>
          <p:cNvSpPr/>
          <p:nvPr/>
        </p:nvSpPr>
        <p:spPr>
          <a:xfrm>
            <a:off x="6812280" y="3474720"/>
            <a:ext cx="411480" cy="411480"/>
          </a:xfrm>
          <a:prstGeom prst="rect">
            <a:avLst/>
          </a:prstGeom>
          <a:solidFill>
            <a:srgbClr val="F4DADA"/>
          </a:solidFill>
          <a:ln w="12700">
            <a:solidFill>
              <a:srgbClr val="B03A3A"/>
            </a:solidFill>
            <a:prstDash val="solid"/>
          </a:ln>
        </p:spPr>
      </p:sp>
      <p:sp>
        <p:nvSpPr>
          <p:cNvPr id="43" name="Text 41"/>
          <p:cNvSpPr txBox="1"/>
          <p:nvPr/>
        </p:nvSpPr>
        <p:spPr>
          <a:xfrm>
            <a:off x="6812280" y="3474720"/>
            <a:ext cx="411480" cy="411480"/>
          </a:xfrm>
          <a:prstGeom prst="rect">
            <a:avLst/>
          </a:prstGeom>
          <a:noFill/>
          <a:ln/>
        </p:spPr>
        <p:txBody>
          <a:bodyPr wrap="square" lIns="0" tIns="0" rIns="0" bIns="0" rtlCol="0" anchor="ctr"/>
          <a:lstStyle/>
          <a:p>
            <a:pPr marL="0" indent="0" algn="ctr">
              <a:buNone/>
            </a:pPr>
            <a:r>
              <a:rPr lang="en-US" sz="1100" b="1" dirty="0">
                <a:solidFill>
                  <a:srgbClr val="B03A3A"/>
                </a:solidFill>
                <a:latin typeface="Calibri" pitchFamily="34" charset="0"/>
                <a:ea typeface="Calibri" pitchFamily="34" charset="-122"/>
                <a:cs typeface="Calibri" pitchFamily="34" charset="-120"/>
              </a:rPr>
              <a:t>A</a:t>
            </a:r>
            <a:endParaRPr lang="en-US" sz="1100" dirty="0"/>
          </a:p>
        </p:txBody>
      </p:sp>
      <p:sp>
        <p:nvSpPr>
          <p:cNvPr id="44" name="Shape 42"/>
          <p:cNvSpPr/>
          <p:nvPr/>
        </p:nvSpPr>
        <p:spPr>
          <a:xfrm>
            <a:off x="7360920" y="3474720"/>
            <a:ext cx="411480" cy="411480"/>
          </a:xfrm>
          <a:prstGeom prst="rect">
            <a:avLst/>
          </a:prstGeom>
          <a:solidFill>
            <a:srgbClr val="E3F1E8"/>
          </a:solidFill>
          <a:ln w="12700">
            <a:solidFill>
              <a:srgbClr val="2F7D4F"/>
            </a:solidFill>
            <a:prstDash val="solid"/>
          </a:ln>
        </p:spPr>
      </p:sp>
      <p:sp>
        <p:nvSpPr>
          <p:cNvPr id="45" name="Text 43"/>
          <p:cNvSpPr txBox="1"/>
          <p:nvPr/>
        </p:nvSpPr>
        <p:spPr>
          <a:xfrm>
            <a:off x="7360920" y="3474720"/>
            <a:ext cx="411480" cy="411480"/>
          </a:xfrm>
          <a:prstGeom prst="rect">
            <a:avLst/>
          </a:prstGeom>
          <a:noFill/>
          <a:ln/>
        </p:spPr>
        <p:txBody>
          <a:bodyPr wrap="square" lIns="0" tIns="0" rIns="0" bIns="0" rtlCol="0" anchor="ctr"/>
          <a:lstStyle/>
          <a:p>
            <a:pPr marL="0" indent="0" algn="ctr">
              <a:buNone/>
            </a:pPr>
            <a:r>
              <a:rPr lang="en-US" sz="1100" b="1" dirty="0">
                <a:solidFill>
                  <a:srgbClr val="2F7D4F"/>
                </a:solidFill>
                <a:latin typeface="Calibri" pitchFamily="34" charset="0"/>
                <a:ea typeface="Calibri" pitchFamily="34" charset="-122"/>
                <a:cs typeface="Calibri" pitchFamily="34" charset="-120"/>
              </a:rPr>
              <a:t>B</a:t>
            </a:r>
            <a:endParaRPr lang="en-US" sz="1100" dirty="0"/>
          </a:p>
        </p:txBody>
      </p:sp>
      <p:sp>
        <p:nvSpPr>
          <p:cNvPr id="46" name="Shape 44"/>
          <p:cNvSpPr/>
          <p:nvPr/>
        </p:nvSpPr>
        <p:spPr>
          <a:xfrm>
            <a:off x="7909560" y="3474720"/>
            <a:ext cx="411480" cy="411480"/>
          </a:xfrm>
          <a:prstGeom prst="rect">
            <a:avLst/>
          </a:prstGeom>
          <a:solidFill>
            <a:srgbClr val="F4DADA"/>
          </a:solidFill>
          <a:ln w="12700">
            <a:solidFill>
              <a:srgbClr val="B03A3A"/>
            </a:solidFill>
            <a:prstDash val="solid"/>
          </a:ln>
        </p:spPr>
      </p:sp>
      <p:sp>
        <p:nvSpPr>
          <p:cNvPr id="47" name="Text 45"/>
          <p:cNvSpPr txBox="1"/>
          <p:nvPr/>
        </p:nvSpPr>
        <p:spPr>
          <a:xfrm>
            <a:off x="7909560" y="3474720"/>
            <a:ext cx="411480" cy="411480"/>
          </a:xfrm>
          <a:prstGeom prst="rect">
            <a:avLst/>
          </a:prstGeom>
          <a:noFill/>
          <a:ln/>
        </p:spPr>
        <p:txBody>
          <a:bodyPr wrap="square" lIns="0" tIns="0" rIns="0" bIns="0" rtlCol="0" anchor="ctr"/>
          <a:lstStyle/>
          <a:p>
            <a:pPr marL="0" indent="0" algn="ctr">
              <a:buNone/>
            </a:pPr>
            <a:r>
              <a:rPr lang="en-US" sz="1100" b="1" dirty="0">
                <a:solidFill>
                  <a:srgbClr val="B03A3A"/>
                </a:solidFill>
                <a:latin typeface="Calibri" pitchFamily="34" charset="0"/>
                <a:ea typeface="Calibri" pitchFamily="34" charset="-122"/>
                <a:cs typeface="Calibri" pitchFamily="34" charset="-120"/>
              </a:rPr>
              <a:t>C</a:t>
            </a:r>
            <a:endParaRPr lang="en-US" sz="1100" dirty="0"/>
          </a:p>
        </p:txBody>
      </p:sp>
      <p:sp>
        <p:nvSpPr>
          <p:cNvPr id="48" name="Text 46"/>
          <p:cNvSpPr txBox="1"/>
          <p:nvPr/>
        </p:nvSpPr>
        <p:spPr>
          <a:xfrm>
            <a:off x="6675120" y="4160520"/>
            <a:ext cx="2743200" cy="274320"/>
          </a:xfrm>
          <a:prstGeom prst="rect">
            <a:avLst/>
          </a:prstGeom>
          <a:noFill/>
          <a:ln/>
        </p:spPr>
        <p:txBody>
          <a:bodyPr wrap="square" lIns="0" tIns="0" rIns="0" bIns="0" rtlCol="0" anchor="t"/>
          <a:lstStyle/>
          <a:p>
            <a:pPr marL="0" indent="0">
              <a:buNone/>
            </a:pPr>
            <a:r>
              <a:rPr lang="en-US" sz="1200" dirty="0">
                <a:solidFill>
                  <a:srgbClr val="5F6672"/>
                </a:solidFill>
                <a:latin typeface="Calibri" pitchFamily="34" charset="0"/>
                <a:ea typeface="Calibri" pitchFamily="34" charset="-122"/>
                <a:cs typeface="Calibri" pitchFamily="34" charset="-120"/>
              </a:rPr>
              <a:t>Visual seat map</a:t>
            </a:r>
            <a:endParaRPr lang="en-US" sz="1200" dirty="0"/>
          </a:p>
        </p:txBody>
      </p:sp>
      <p:sp>
        <p:nvSpPr>
          <p:cNvPr id="49" name="Shape 47"/>
          <p:cNvSpPr/>
          <p:nvPr/>
        </p:nvSpPr>
        <p:spPr>
          <a:xfrm>
            <a:off x="9326880" y="3200400"/>
            <a:ext cx="2011680" cy="914400"/>
          </a:xfrm>
          <a:prstGeom prst="rect">
            <a:avLst/>
          </a:prstGeom>
          <a:solidFill>
            <a:srgbClr val="FFFFFF"/>
          </a:solidFill>
          <a:ln w="12700">
            <a:solidFill>
              <a:srgbClr val="2A7F86"/>
            </a:solidFill>
            <a:prstDash val="solid"/>
          </a:ln>
        </p:spPr>
      </p:sp>
      <p:sp>
        <p:nvSpPr>
          <p:cNvPr id="50" name="Text 48"/>
          <p:cNvSpPr txBox="1"/>
          <p:nvPr/>
        </p:nvSpPr>
        <p:spPr>
          <a:xfrm>
            <a:off x="9372600" y="3200400"/>
            <a:ext cx="1920240" cy="914400"/>
          </a:xfrm>
          <a:prstGeom prst="rect">
            <a:avLst/>
          </a:prstGeom>
          <a:noFill/>
          <a:ln/>
        </p:spPr>
        <p:txBody>
          <a:bodyPr wrap="square" lIns="0" tIns="0" rIns="0" bIns="0" rtlCol="0" anchor="ctr"/>
          <a:lstStyle/>
          <a:p>
            <a:pPr marL="0" indent="0" algn="ctr">
              <a:buNone/>
            </a:pPr>
            <a:r>
              <a:rPr lang="en-US" sz="1200" b="1" dirty="0">
                <a:solidFill>
                  <a:srgbClr val="2A7F86"/>
                </a:solidFill>
                <a:latin typeface="Calibri" pitchFamily="34" charset="0"/>
                <a:ea typeface="Calibri" pitchFamily="34" charset="-122"/>
                <a:cs typeface="Calibri" pitchFamily="34" charset="-120"/>
              </a:rPr>
              <a:t>Dashboard</a:t>
            </a:r>
            <a:endParaRPr lang="en-US" sz="1200" dirty="0"/>
          </a:p>
          <a:p>
            <a:pPr marL="0" indent="0" algn="ctr">
              <a:buNone/>
            </a:pPr>
            <a:r>
              <a:rPr lang="en-US" sz="1200" b="1" dirty="0">
                <a:solidFill>
                  <a:srgbClr val="2A7F86"/>
                </a:solidFill>
                <a:latin typeface="Calibri" pitchFamily="34" charset="0"/>
                <a:ea typeface="Calibri" pitchFamily="34" charset="-122"/>
                <a:cs typeface="Calibri" pitchFamily="34" charset="-120"/>
              </a:rPr>
              <a:t>&amp; status</a:t>
            </a:r>
            <a:endParaRPr lang="en-US" sz="1200" dirty="0"/>
          </a:p>
        </p:txBody>
      </p:sp>
      <p:sp>
        <p:nvSpPr>
          <p:cNvPr id="51" name="Text 49"/>
          <p:cNvSpPr txBox="1"/>
          <p:nvPr/>
        </p:nvSpPr>
        <p:spPr>
          <a:xfrm>
            <a:off x="6675120" y="4572000"/>
            <a:ext cx="4754880" cy="457200"/>
          </a:xfrm>
          <a:prstGeom prst="rect">
            <a:avLst/>
          </a:prstGeom>
          <a:noFill/>
          <a:ln/>
        </p:spPr>
        <p:txBody>
          <a:bodyPr wrap="square" lIns="0" tIns="0" rIns="0" bIns="0" rtlCol="0" anchor="t"/>
          <a:lstStyle/>
          <a:p>
            <a:pPr marL="0" indent="0">
              <a:buNone/>
            </a:pPr>
            <a:r>
              <a:rPr lang="en-US" sz="1200" i="1" dirty="0">
                <a:solidFill>
                  <a:srgbClr val="5F6672"/>
                </a:solidFill>
                <a:latin typeface="Calibri" pitchFamily="34" charset="0"/>
                <a:ea typeface="Calibri" pitchFamily="34" charset="-122"/>
                <a:cs typeface="Calibri" pitchFamily="34" charset="-120"/>
              </a:rPr>
              <a:t>One shared record, visible by role.</a:t>
            </a:r>
            <a:endParaRPr lang="en-US" sz="1200" dirty="0"/>
          </a:p>
        </p:txBody>
      </p:sp>
      <p:sp>
        <p:nvSpPr>
          <p:cNvPr id="52" name="Shape 50"/>
          <p:cNvSpPr/>
          <p:nvPr/>
        </p:nvSpPr>
        <p:spPr>
          <a:xfrm>
            <a:off x="548640" y="5349240"/>
            <a:ext cx="54864" cy="548640"/>
          </a:xfrm>
          <a:prstGeom prst="rect">
            <a:avLst/>
          </a:prstGeom>
          <a:solidFill>
            <a:srgbClr val="2A7F86"/>
          </a:solidFill>
          <a:ln/>
        </p:spPr>
      </p:sp>
      <p:sp>
        <p:nvSpPr>
          <p:cNvPr id="53" name="Text 51"/>
          <p:cNvSpPr txBox="1"/>
          <p:nvPr/>
        </p:nvSpPr>
        <p:spPr>
          <a:xfrm>
            <a:off x="731520" y="5349240"/>
            <a:ext cx="3474720" cy="548640"/>
          </a:xfrm>
          <a:prstGeom prst="rect">
            <a:avLst/>
          </a:prstGeom>
          <a:noFill/>
          <a:ln/>
        </p:spPr>
        <p:txBody>
          <a:bodyPr wrap="square" lIns="0" tIns="0" rIns="0" bIns="0" rtlCol="0" anchor="ctr"/>
          <a:lstStyle/>
          <a:p>
            <a:pPr marL="0" indent="0">
              <a:buNone/>
            </a:pPr>
            <a:r>
              <a:rPr lang="en-US" sz="1200" dirty="0">
                <a:solidFill>
                  <a:srgbClr val="1F2328"/>
                </a:solidFill>
                <a:latin typeface="Calibri" pitchFamily="34" charset="0"/>
                <a:ea typeface="Calibri" pitchFamily="34" charset="-122"/>
                <a:cs typeface="Calibri" pitchFamily="34" charset="-120"/>
              </a:rPr>
              <a:t>Transparency: students can see status and seat availability</a:t>
            </a:r>
            <a:endParaRPr lang="en-US" sz="1200" dirty="0"/>
          </a:p>
        </p:txBody>
      </p:sp>
      <p:sp>
        <p:nvSpPr>
          <p:cNvPr id="54" name="Shape 52"/>
          <p:cNvSpPr/>
          <p:nvPr/>
        </p:nvSpPr>
        <p:spPr>
          <a:xfrm>
            <a:off x="4297680" y="5349240"/>
            <a:ext cx="54864" cy="548640"/>
          </a:xfrm>
          <a:prstGeom prst="rect">
            <a:avLst/>
          </a:prstGeom>
          <a:solidFill>
            <a:srgbClr val="2A7F86"/>
          </a:solidFill>
          <a:ln/>
        </p:spPr>
      </p:sp>
      <p:sp>
        <p:nvSpPr>
          <p:cNvPr id="55" name="Text 53"/>
          <p:cNvSpPr txBox="1"/>
          <p:nvPr/>
        </p:nvSpPr>
        <p:spPr>
          <a:xfrm>
            <a:off x="4480560" y="5349240"/>
            <a:ext cx="3474720" cy="548640"/>
          </a:xfrm>
          <a:prstGeom prst="rect">
            <a:avLst/>
          </a:prstGeom>
          <a:noFill/>
          <a:ln/>
        </p:spPr>
        <p:txBody>
          <a:bodyPr wrap="square" lIns="0" tIns="0" rIns="0" bIns="0" rtlCol="0" anchor="ctr"/>
          <a:lstStyle/>
          <a:p>
            <a:pPr marL="0" indent="0">
              <a:buNone/>
            </a:pPr>
            <a:r>
              <a:rPr lang="en-US" sz="1200" dirty="0">
                <a:solidFill>
                  <a:srgbClr val="1F2328"/>
                </a:solidFill>
                <a:latin typeface="Calibri" pitchFamily="34" charset="0"/>
                <a:ea typeface="Calibri" pitchFamily="34" charset="-122"/>
                <a:cs typeface="Calibri" pitchFamily="34" charset="-120"/>
              </a:rPr>
              <a:t>Consistency: one shared record instead of scattered ones</a:t>
            </a:r>
            <a:endParaRPr lang="en-US" sz="1200" dirty="0"/>
          </a:p>
        </p:txBody>
      </p:sp>
      <p:sp>
        <p:nvSpPr>
          <p:cNvPr id="56" name="Shape 54"/>
          <p:cNvSpPr/>
          <p:nvPr/>
        </p:nvSpPr>
        <p:spPr>
          <a:xfrm>
            <a:off x="8046720" y="5349240"/>
            <a:ext cx="54864" cy="548640"/>
          </a:xfrm>
          <a:prstGeom prst="rect">
            <a:avLst/>
          </a:prstGeom>
          <a:solidFill>
            <a:srgbClr val="2A7F86"/>
          </a:solidFill>
          <a:ln/>
        </p:spPr>
      </p:sp>
      <p:sp>
        <p:nvSpPr>
          <p:cNvPr id="57" name="Text 55"/>
          <p:cNvSpPr txBox="1"/>
          <p:nvPr/>
        </p:nvSpPr>
        <p:spPr>
          <a:xfrm>
            <a:off x="8229600" y="5349240"/>
            <a:ext cx="3474720" cy="548640"/>
          </a:xfrm>
          <a:prstGeom prst="rect">
            <a:avLst/>
          </a:prstGeom>
          <a:noFill/>
          <a:ln/>
        </p:spPr>
        <p:txBody>
          <a:bodyPr wrap="square" lIns="0" tIns="0" rIns="0" bIns="0" rtlCol="0" anchor="ctr"/>
          <a:lstStyle/>
          <a:p>
            <a:pPr marL="0" indent="0">
              <a:buNone/>
            </a:pPr>
            <a:r>
              <a:rPr lang="en-US" sz="1200" dirty="0">
                <a:solidFill>
                  <a:srgbClr val="1F2328"/>
                </a:solidFill>
                <a:latin typeface="Calibri" pitchFamily="34" charset="0"/>
                <a:ea typeface="Calibri" pitchFamily="34" charset="-122"/>
                <a:cs typeface="Calibri" pitchFamily="34" charset="-120"/>
              </a:rPr>
              <a:t>Administration: less repeated manual follow-up (expected)</a:t>
            </a:r>
            <a:endParaRPr lang="en-US" sz="1200" dirty="0"/>
          </a:p>
        </p:txBody>
      </p:sp>
      <p:sp>
        <p:nvSpPr>
          <p:cNvPr id="58" name="Text 56"/>
          <p:cNvSpPr txBox="1"/>
          <p:nvPr/>
        </p:nvSpPr>
        <p:spPr>
          <a:xfrm>
            <a:off x="548640" y="6217920"/>
            <a:ext cx="11064240" cy="228600"/>
          </a:xfrm>
          <a:prstGeom prst="rect">
            <a:avLst/>
          </a:prstGeom>
          <a:noFill/>
          <a:ln/>
        </p:spPr>
        <p:txBody>
          <a:bodyPr wrap="square" lIns="0" tIns="0" rIns="0" bIns="0" rtlCol="0" anchor="t"/>
          <a:lstStyle/>
          <a:p>
            <a:pPr marL="0" indent="0">
              <a:buNone/>
            </a:pPr>
            <a:r>
              <a:rPr lang="en-US" sz="900" i="1" dirty="0">
                <a:solidFill>
                  <a:srgbClr val="5F6672"/>
                </a:solidFill>
                <a:latin typeface="Calibri" pitchFamily="34" charset="0"/>
                <a:ea typeface="Calibri" pitchFamily="34" charset="-122"/>
                <a:cs typeface="Calibri" pitchFamily="34" charset="-120"/>
              </a:rPr>
              <a:t>Manual-process difficulties are reported in hostel-system literature [1], [3], [4]; prevalence at the target hostel is to be validated.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100" b="1" kern="0" spc="300" dirty="0">
                <a:solidFill>
                  <a:srgbClr val="2A7F86"/>
                </a:solidFill>
                <a:latin typeface="Calibri" pitchFamily="34" charset="0"/>
                <a:ea typeface="Calibri" pitchFamily="34" charset="-122"/>
                <a:cs typeface="Calibri" pitchFamily="34" charset="-120"/>
              </a:rPr>
              <a:t>COMMUNITY PROFILE AND NEEDS ASSESSMENT</a:t>
            </a:r>
            <a:endParaRPr lang="en-US" sz="1100" dirty="0"/>
          </a:p>
        </p:txBody>
      </p:sp>
      <p:sp>
        <p:nvSpPr>
          <p:cNvPr id="3" name="Text 1"/>
          <p:cNvSpPr txBox="1"/>
          <p:nvPr/>
        </p:nvSpPr>
        <p:spPr>
          <a:xfrm>
            <a:off x="548640" y="640080"/>
            <a:ext cx="11064240" cy="548640"/>
          </a:xfrm>
          <a:prstGeom prst="rect">
            <a:avLst/>
          </a:prstGeom>
          <a:noFill/>
          <a:ln/>
        </p:spPr>
        <p:txBody>
          <a:bodyPr wrap="square" lIns="0" tIns="0" rIns="0" bIns="0" rtlCol="0" anchor="t"/>
          <a:lstStyle/>
          <a:p>
            <a:pPr marL="0" indent="0">
              <a:buNone/>
            </a:pPr>
            <a:r>
              <a:rPr lang="en-US" sz="2700" b="1" dirty="0">
                <a:solidFill>
                  <a:srgbClr val="14263F"/>
                </a:solidFill>
                <a:latin typeface="Calibri" pitchFamily="34" charset="0"/>
                <a:ea typeface="Calibri" pitchFamily="34" charset="-122"/>
                <a:cs typeface="Calibri" pitchFamily="34" charset="-120"/>
              </a:rPr>
              <a:t>Who Is Affected, and How We Will Find Out</a:t>
            </a:r>
            <a:endParaRPr lang="en-US" sz="2700" dirty="0"/>
          </a:p>
        </p:txBody>
      </p:sp>
      <p:sp>
        <p:nvSpPr>
          <p:cNvPr id="4" name="Text 2"/>
          <p:cNvSpPr txBox="1"/>
          <p:nvPr/>
        </p:nvSpPr>
        <p:spPr>
          <a:xfrm>
            <a:off x="548640" y="6492240"/>
            <a:ext cx="7315200" cy="228600"/>
          </a:xfrm>
          <a:prstGeom prst="rect">
            <a:avLst/>
          </a:prstGeom>
          <a:noFill/>
          <a:ln/>
        </p:spPr>
        <p:txBody>
          <a:bodyPr wrap="square" lIns="0" tIns="0" rIns="0" bIns="0" rtlCol="0" anchor="t"/>
          <a:lstStyle/>
          <a:p>
            <a:pPr marL="0" indent="0">
              <a:buNone/>
            </a:pPr>
            <a:r>
              <a:rPr lang="en-US" sz="900" dirty="0">
                <a:solidFill>
                  <a:srgbClr val="5F6672"/>
                </a:solidFill>
                <a:latin typeface="Calibri" pitchFamily="34" charset="0"/>
                <a:ea typeface="Calibri" pitchFamily="34" charset="-122"/>
                <a:cs typeface="Calibri" pitchFamily="34" charset="-120"/>
              </a:rPr>
              <a:t>SIT Tumakuru · Dept. of CSE · Community Project Phase-I, 2026–27</a:t>
            </a:r>
            <a:endParaRPr lang="en-US" sz="900" dirty="0"/>
          </a:p>
        </p:txBody>
      </p:sp>
      <p:sp>
        <p:nvSpPr>
          <p:cNvPr id="5" name="Text 3"/>
          <p:cNvSpPr txBox="1"/>
          <p:nvPr/>
        </p:nvSpPr>
        <p:spPr>
          <a:xfrm>
            <a:off x="11155680" y="6492240"/>
            <a:ext cx="457200" cy="228600"/>
          </a:xfrm>
          <a:prstGeom prst="rect">
            <a:avLst/>
          </a:prstGeom>
          <a:noFill/>
          <a:ln/>
        </p:spPr>
        <p:txBody>
          <a:bodyPr wrap="square" lIns="0" tIns="0" rIns="0" bIns="0" rtlCol="0" anchor="t"/>
          <a:lstStyle/>
          <a:p>
            <a:pPr marL="0" indent="0" algn="r">
              <a:buNone/>
            </a:pPr>
            <a:r>
              <a:rPr lang="en-US" sz="900" dirty="0">
                <a:solidFill>
                  <a:srgbClr val="5F6672"/>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7498080" y="411480"/>
            <a:ext cx="4114800" cy="256032"/>
          </a:xfrm>
          <a:prstGeom prst="rect">
            <a:avLst/>
          </a:prstGeom>
          <a:solidFill>
            <a:srgbClr val="FFFFFF"/>
          </a:solidFill>
          <a:ln w="12700">
            <a:solidFill>
              <a:srgbClr val="B7791F"/>
            </a:solidFill>
            <a:prstDash val="solid"/>
          </a:ln>
        </p:spPr>
      </p:sp>
      <p:sp>
        <p:nvSpPr>
          <p:cNvPr id="7" name="Text 5"/>
          <p:cNvSpPr txBox="1"/>
          <p:nvPr/>
        </p:nvSpPr>
        <p:spPr>
          <a:xfrm>
            <a:off x="7543800" y="411480"/>
            <a:ext cx="4023360" cy="256032"/>
          </a:xfrm>
          <a:prstGeom prst="rect">
            <a:avLst/>
          </a:prstGeom>
          <a:noFill/>
          <a:ln/>
        </p:spPr>
        <p:txBody>
          <a:bodyPr wrap="square" lIns="0" tIns="0" rIns="0" bIns="0" rtlCol="0" anchor="ctr"/>
          <a:lstStyle/>
          <a:p>
            <a:pPr marL="0" indent="0" algn="ctr">
              <a:buNone/>
            </a:pPr>
            <a:r>
              <a:rPr lang="en-US" sz="900" b="1" dirty="0">
                <a:solidFill>
                  <a:srgbClr val="B7791F"/>
                </a:solidFill>
                <a:latin typeface="Calibri" pitchFamily="34" charset="0"/>
                <a:ea typeface="Calibri" pitchFamily="34" charset="-122"/>
                <a:cs typeface="Calibri" pitchFamily="34" charset="-120"/>
              </a:rPr>
              <a:t>PLANNED NEEDS ASSESSMENT — NO FIELDWORK REPORTED YET</a:t>
            </a:r>
            <a:endParaRPr lang="en-US" sz="900" dirty="0"/>
          </a:p>
        </p:txBody>
      </p:sp>
      <p:sp>
        <p:nvSpPr>
          <p:cNvPr id="8" name="Shape 6"/>
          <p:cNvSpPr/>
          <p:nvPr/>
        </p:nvSpPr>
        <p:spPr>
          <a:xfrm>
            <a:off x="2743200" y="2834640"/>
            <a:ext cx="1645920" cy="1097280"/>
          </a:xfrm>
          <a:prstGeom prst="rect">
            <a:avLst/>
          </a:prstGeom>
          <a:solidFill>
            <a:srgbClr val="14263F"/>
          </a:solidFill>
          <a:ln w="12700">
            <a:solidFill>
              <a:srgbClr val="14263F"/>
            </a:solidFill>
            <a:prstDash val="solid"/>
          </a:ln>
        </p:spPr>
      </p:sp>
      <p:sp>
        <p:nvSpPr>
          <p:cNvPr id="9" name="Text 7"/>
          <p:cNvSpPr txBox="1"/>
          <p:nvPr/>
        </p:nvSpPr>
        <p:spPr>
          <a:xfrm>
            <a:off x="2788920" y="2834640"/>
            <a:ext cx="1554480" cy="10972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HOSTEL</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PLATFORM</a:t>
            </a:r>
            <a:endParaRPr lang="en-US" sz="1300" dirty="0"/>
          </a:p>
        </p:txBody>
      </p:sp>
      <p:sp>
        <p:nvSpPr>
          <p:cNvPr id="10" name="Shape 8"/>
          <p:cNvSpPr/>
          <p:nvPr/>
        </p:nvSpPr>
        <p:spPr>
          <a:xfrm>
            <a:off x="548640" y="1737360"/>
            <a:ext cx="2194560" cy="731520"/>
          </a:xfrm>
          <a:prstGeom prst="rect">
            <a:avLst/>
          </a:prstGeom>
          <a:solidFill>
            <a:srgbClr val="FFFFFF"/>
          </a:solidFill>
          <a:ln w="12700">
            <a:solidFill>
              <a:srgbClr val="2A7F86"/>
            </a:solidFill>
            <a:prstDash val="solid"/>
          </a:ln>
        </p:spPr>
      </p:sp>
      <p:sp>
        <p:nvSpPr>
          <p:cNvPr id="11" name="Text 9"/>
          <p:cNvSpPr txBox="1"/>
          <p:nvPr/>
        </p:nvSpPr>
        <p:spPr>
          <a:xfrm>
            <a:off x="594360" y="1737360"/>
            <a:ext cx="2103120" cy="731520"/>
          </a:xfrm>
          <a:prstGeom prst="rect">
            <a:avLst/>
          </a:prstGeom>
          <a:noFill/>
          <a:ln/>
        </p:spPr>
        <p:txBody>
          <a:bodyPr wrap="square" lIns="0" tIns="0" rIns="0" bIns="0" rtlCol="0" anchor="ctr"/>
          <a:lstStyle/>
          <a:p>
            <a:pPr marL="0" indent="0" algn="ctr">
              <a:buNone/>
            </a:pPr>
            <a:r>
              <a:rPr lang="en-US" sz="1300" b="1" dirty="0">
                <a:solidFill>
                  <a:srgbClr val="2A7F86"/>
                </a:solidFill>
                <a:latin typeface="Calibri" pitchFamily="34" charset="0"/>
                <a:ea typeface="Calibri" pitchFamily="34" charset="-122"/>
                <a:cs typeface="Calibri" pitchFamily="34" charset="-120"/>
              </a:rPr>
              <a:t>Hostel students</a:t>
            </a:r>
            <a:endParaRPr lang="en-US" sz="1300" dirty="0"/>
          </a:p>
        </p:txBody>
      </p:sp>
      <p:sp>
        <p:nvSpPr>
          <p:cNvPr id="12" name="Shape 10"/>
          <p:cNvSpPr/>
          <p:nvPr/>
        </p:nvSpPr>
        <p:spPr>
          <a:xfrm>
            <a:off x="4846320" y="1737360"/>
            <a:ext cx="2194560" cy="731520"/>
          </a:xfrm>
          <a:prstGeom prst="rect">
            <a:avLst/>
          </a:prstGeom>
          <a:solidFill>
            <a:srgbClr val="FFFFFF"/>
          </a:solidFill>
          <a:ln w="12700">
            <a:solidFill>
              <a:srgbClr val="2A7F86"/>
            </a:solidFill>
            <a:prstDash val="solid"/>
          </a:ln>
        </p:spPr>
      </p:sp>
      <p:sp>
        <p:nvSpPr>
          <p:cNvPr id="13" name="Text 11"/>
          <p:cNvSpPr txBox="1"/>
          <p:nvPr/>
        </p:nvSpPr>
        <p:spPr>
          <a:xfrm>
            <a:off x="4892040" y="1737360"/>
            <a:ext cx="2103120" cy="731520"/>
          </a:xfrm>
          <a:prstGeom prst="rect">
            <a:avLst/>
          </a:prstGeom>
          <a:noFill/>
          <a:ln/>
        </p:spPr>
        <p:txBody>
          <a:bodyPr wrap="square" lIns="0" tIns="0" rIns="0" bIns="0" rtlCol="0" anchor="ctr"/>
          <a:lstStyle/>
          <a:p>
            <a:pPr marL="0" indent="0" algn="ctr">
              <a:buNone/>
            </a:pPr>
            <a:r>
              <a:rPr lang="en-US" sz="1300" b="1" dirty="0">
                <a:solidFill>
                  <a:srgbClr val="2A7F86"/>
                </a:solidFill>
                <a:latin typeface="Calibri" pitchFamily="34" charset="0"/>
                <a:ea typeface="Calibri" pitchFamily="34" charset="-122"/>
                <a:cs typeface="Calibri" pitchFamily="34" charset="-120"/>
              </a:rPr>
              <a:t>Hostel-office staff</a:t>
            </a:r>
            <a:endParaRPr lang="en-US" sz="1300" dirty="0"/>
          </a:p>
        </p:txBody>
      </p:sp>
      <p:sp>
        <p:nvSpPr>
          <p:cNvPr id="14" name="Shape 12"/>
          <p:cNvSpPr/>
          <p:nvPr/>
        </p:nvSpPr>
        <p:spPr>
          <a:xfrm>
            <a:off x="548640" y="4480560"/>
            <a:ext cx="2194560" cy="731520"/>
          </a:xfrm>
          <a:prstGeom prst="rect">
            <a:avLst/>
          </a:prstGeom>
          <a:solidFill>
            <a:srgbClr val="FFFFFF"/>
          </a:solidFill>
          <a:ln w="12700">
            <a:solidFill>
              <a:srgbClr val="2A7F86"/>
            </a:solidFill>
            <a:prstDash val="solid"/>
          </a:ln>
        </p:spPr>
      </p:sp>
      <p:sp>
        <p:nvSpPr>
          <p:cNvPr id="15" name="Text 13"/>
          <p:cNvSpPr txBox="1"/>
          <p:nvPr/>
        </p:nvSpPr>
        <p:spPr>
          <a:xfrm>
            <a:off x="594360" y="4480560"/>
            <a:ext cx="2103120" cy="731520"/>
          </a:xfrm>
          <a:prstGeom prst="rect">
            <a:avLst/>
          </a:prstGeom>
          <a:noFill/>
          <a:ln/>
        </p:spPr>
        <p:txBody>
          <a:bodyPr wrap="square" lIns="0" tIns="0" rIns="0" bIns="0" rtlCol="0" anchor="ctr"/>
          <a:lstStyle/>
          <a:p>
            <a:pPr marL="0" indent="0" algn="ctr">
              <a:buNone/>
            </a:pPr>
            <a:r>
              <a:rPr lang="en-US" sz="1300" b="1" dirty="0">
                <a:solidFill>
                  <a:srgbClr val="2A7F86"/>
                </a:solidFill>
                <a:latin typeface="Calibri" pitchFamily="34" charset="0"/>
                <a:ea typeface="Calibri" pitchFamily="34" charset="-122"/>
                <a:cs typeface="Calibri" pitchFamily="34" charset="-120"/>
              </a:rPr>
              <a:t>Wardens</a:t>
            </a:r>
            <a:endParaRPr lang="en-US" sz="1300" dirty="0"/>
          </a:p>
        </p:txBody>
      </p:sp>
      <p:sp>
        <p:nvSpPr>
          <p:cNvPr id="16" name="Shape 14"/>
          <p:cNvSpPr/>
          <p:nvPr/>
        </p:nvSpPr>
        <p:spPr>
          <a:xfrm>
            <a:off x="4846320" y="4480560"/>
            <a:ext cx="2194560" cy="731520"/>
          </a:xfrm>
          <a:prstGeom prst="rect">
            <a:avLst/>
          </a:prstGeom>
          <a:solidFill>
            <a:srgbClr val="FFFFFF"/>
          </a:solidFill>
          <a:ln w="12700">
            <a:solidFill>
              <a:srgbClr val="2A7F86"/>
            </a:solidFill>
            <a:prstDash val="solid"/>
          </a:ln>
        </p:spPr>
      </p:sp>
      <p:sp>
        <p:nvSpPr>
          <p:cNvPr id="17" name="Text 15"/>
          <p:cNvSpPr txBox="1"/>
          <p:nvPr/>
        </p:nvSpPr>
        <p:spPr>
          <a:xfrm>
            <a:off x="4892040" y="4480560"/>
            <a:ext cx="2103120" cy="731520"/>
          </a:xfrm>
          <a:prstGeom prst="rect">
            <a:avLst/>
          </a:prstGeom>
          <a:noFill/>
          <a:ln/>
        </p:spPr>
        <p:txBody>
          <a:bodyPr wrap="square" lIns="0" tIns="0" rIns="0" bIns="0" rtlCol="0" anchor="ctr"/>
          <a:lstStyle/>
          <a:p>
            <a:pPr marL="0" indent="0" algn="ctr">
              <a:buNone/>
            </a:pPr>
            <a:r>
              <a:rPr lang="en-US" sz="1300" b="1" dirty="0">
                <a:solidFill>
                  <a:srgbClr val="2A7F86"/>
                </a:solidFill>
                <a:latin typeface="Calibri" pitchFamily="34" charset="0"/>
                <a:ea typeface="Calibri" pitchFamily="34" charset="-122"/>
                <a:cs typeface="Calibri" pitchFamily="34" charset="-120"/>
              </a:rPr>
              <a:t>Administrators</a:t>
            </a:r>
            <a:endParaRPr lang="en-US" sz="1300" dirty="0"/>
          </a:p>
        </p:txBody>
      </p:sp>
      <p:sp>
        <p:nvSpPr>
          <p:cNvPr id="18" name="Shape 16"/>
          <p:cNvSpPr/>
          <p:nvPr/>
        </p:nvSpPr>
        <p:spPr>
          <a:xfrm>
            <a:off x="2339603" y="2491740"/>
            <a:ext cx="449317" cy="365760"/>
          </a:xfrm>
          <a:prstGeom prst="line">
            <a:avLst/>
          </a:prstGeom>
          <a:noFill/>
          <a:ln w="15875">
            <a:solidFill>
              <a:srgbClr val="5F6672"/>
            </a:solidFill>
            <a:prstDash val="solid"/>
            <a:tailEnd type="triangle"/>
          </a:ln>
        </p:spPr>
      </p:sp>
      <p:sp>
        <p:nvSpPr>
          <p:cNvPr id="19" name="Shape 17"/>
          <p:cNvSpPr/>
          <p:nvPr/>
        </p:nvSpPr>
        <p:spPr>
          <a:xfrm flipH="1">
            <a:off x="4389120" y="2468880"/>
            <a:ext cx="457200" cy="411480"/>
          </a:xfrm>
          <a:prstGeom prst="line">
            <a:avLst/>
          </a:prstGeom>
          <a:noFill/>
          <a:ln w="15875">
            <a:solidFill>
              <a:srgbClr val="5F6672"/>
            </a:solidFill>
            <a:prstDash val="solid"/>
            <a:tailEnd type="triangle"/>
          </a:ln>
        </p:spPr>
      </p:sp>
      <p:sp>
        <p:nvSpPr>
          <p:cNvPr id="20" name="Shape 18"/>
          <p:cNvSpPr/>
          <p:nvPr/>
        </p:nvSpPr>
        <p:spPr>
          <a:xfrm flipV="1">
            <a:off x="2293882" y="3941064"/>
            <a:ext cx="495038" cy="539496"/>
          </a:xfrm>
          <a:prstGeom prst="line">
            <a:avLst/>
          </a:prstGeom>
          <a:noFill/>
          <a:ln w="15875">
            <a:solidFill>
              <a:srgbClr val="5F6672"/>
            </a:solidFill>
            <a:prstDash val="solid"/>
            <a:tailEnd type="triangle"/>
          </a:ln>
        </p:spPr>
      </p:sp>
      <p:sp>
        <p:nvSpPr>
          <p:cNvPr id="21" name="Shape 19"/>
          <p:cNvSpPr/>
          <p:nvPr/>
        </p:nvSpPr>
        <p:spPr>
          <a:xfrm>
            <a:off x="4846320" y="4480560"/>
            <a:ext cx="0" cy="0"/>
          </a:xfrm>
          <a:prstGeom prst="line">
            <a:avLst/>
          </a:prstGeom>
          <a:noFill/>
          <a:ln w="15875">
            <a:solidFill>
              <a:srgbClr val="5F6672"/>
            </a:solidFill>
            <a:prstDash val="solid"/>
            <a:tailEnd type="triangle"/>
          </a:ln>
        </p:spPr>
      </p:sp>
      <p:sp>
        <p:nvSpPr>
          <p:cNvPr id="22" name="Text 20"/>
          <p:cNvSpPr txBox="1"/>
          <p:nvPr/>
        </p:nvSpPr>
        <p:spPr>
          <a:xfrm>
            <a:off x="548640" y="5486400"/>
            <a:ext cx="6858000" cy="548640"/>
          </a:xfrm>
          <a:prstGeom prst="rect">
            <a:avLst/>
          </a:prstGeom>
          <a:noFill/>
          <a:ln/>
        </p:spPr>
        <p:txBody>
          <a:bodyPr wrap="square" lIns="0" tIns="0" rIns="0" bIns="0" rtlCol="0" anchor="t"/>
          <a:lstStyle/>
          <a:p>
            <a:pPr marL="0" indent="0">
              <a:buNone/>
            </a:pPr>
            <a:r>
              <a:rPr lang="en-US" sz="1200" dirty="0">
                <a:solidFill>
                  <a:srgbClr val="5F6672"/>
                </a:solidFill>
                <a:latin typeface="Calibri" pitchFamily="34" charset="0"/>
                <a:ea typeface="Calibri" pitchFamily="34" charset="-122"/>
                <a:cs typeface="Calibri" pitchFamily="34" charset="-120"/>
              </a:rPr>
              <a:t>Intended beneficiaries: students seeking seats; staff who verify, allocate and respond to complaints.</a:t>
            </a:r>
            <a:endParaRPr lang="en-US" sz="1200" dirty="0"/>
          </a:p>
        </p:txBody>
      </p:sp>
      <p:sp>
        <p:nvSpPr>
          <p:cNvPr id="23" name="Text 21"/>
          <p:cNvSpPr txBox="1"/>
          <p:nvPr/>
        </p:nvSpPr>
        <p:spPr>
          <a:xfrm>
            <a:off x="7863840" y="1737360"/>
            <a:ext cx="3657600" cy="274320"/>
          </a:xfrm>
          <a:prstGeom prst="rect">
            <a:avLst/>
          </a:prstGeom>
          <a:noFill/>
          <a:ln/>
        </p:spPr>
        <p:txBody>
          <a:bodyPr wrap="square" lIns="0" tIns="0" rIns="0" bIns="0" rtlCol="0" anchor="t"/>
          <a:lstStyle/>
          <a:p>
            <a:pPr marL="0" indent="0">
              <a:buNone/>
            </a:pPr>
            <a:r>
              <a:rPr lang="en-US" sz="1100" b="1" kern="0" spc="200" dirty="0">
                <a:solidFill>
                  <a:srgbClr val="5F6672"/>
                </a:solidFill>
                <a:latin typeface="Calibri" pitchFamily="34" charset="0"/>
                <a:ea typeface="Calibri" pitchFamily="34" charset="-122"/>
                <a:cs typeface="Calibri" pitchFamily="34" charset="-120"/>
              </a:rPr>
              <a:t>PLANNED ACTIVITIES</a:t>
            </a:r>
            <a:endParaRPr lang="en-US" sz="1100" dirty="0"/>
          </a:p>
        </p:txBody>
      </p:sp>
      <p:sp>
        <p:nvSpPr>
          <p:cNvPr id="24" name="Text 22"/>
          <p:cNvSpPr txBox="1"/>
          <p:nvPr/>
        </p:nvSpPr>
        <p:spPr>
          <a:xfrm>
            <a:off x="7863840" y="2148840"/>
            <a:ext cx="274320" cy="365760"/>
          </a:xfrm>
          <a:prstGeom prst="rect">
            <a:avLst/>
          </a:prstGeom>
          <a:noFill/>
          <a:ln/>
        </p:spPr>
        <p:txBody>
          <a:bodyPr wrap="square" lIns="0" tIns="0" rIns="0" bIns="0" rtlCol="0" anchor="t"/>
          <a:lstStyle/>
          <a:p>
            <a:pPr marL="0" indent="0">
              <a:buNone/>
            </a:pPr>
            <a:r>
              <a:rPr lang="en-US" sz="1600" b="1" dirty="0">
                <a:solidFill>
                  <a:srgbClr val="2A7F86"/>
                </a:solidFill>
                <a:latin typeface="Calibri" pitchFamily="34" charset="0"/>
                <a:ea typeface="Calibri" pitchFamily="34" charset="-122"/>
                <a:cs typeface="Calibri" pitchFamily="34" charset="-120"/>
              </a:rPr>
              <a:t>1</a:t>
            </a:r>
            <a:endParaRPr lang="en-US" sz="1600" dirty="0"/>
          </a:p>
        </p:txBody>
      </p:sp>
      <p:sp>
        <p:nvSpPr>
          <p:cNvPr id="25" name="Text 23"/>
          <p:cNvSpPr txBox="1"/>
          <p:nvPr/>
        </p:nvSpPr>
        <p:spPr>
          <a:xfrm>
            <a:off x="8229600" y="2148840"/>
            <a:ext cx="3383280" cy="411480"/>
          </a:xfrm>
          <a:prstGeom prst="rect">
            <a:avLst/>
          </a:prstGeom>
          <a:noFill/>
          <a:ln/>
        </p:spPr>
        <p:txBody>
          <a:bodyPr wrap="square" lIns="0" tIns="0" rIns="0" bIns="0" rtlCol="0" anchor="ctr"/>
          <a:lstStyle/>
          <a:p>
            <a:pPr marL="0" indent="0">
              <a:buNone/>
            </a:pPr>
            <a:r>
              <a:rPr lang="en-US" sz="1300" dirty="0">
                <a:solidFill>
                  <a:srgbClr val="1F2328"/>
                </a:solidFill>
                <a:latin typeface="Calibri" pitchFamily="34" charset="0"/>
                <a:ea typeface="Calibri" pitchFamily="34" charset="-122"/>
                <a:cs typeface="Calibri" pitchFamily="34" charset="-120"/>
              </a:rPr>
              <a:t>Structured student questionnaire</a:t>
            </a:r>
            <a:endParaRPr lang="en-US" sz="1300" dirty="0"/>
          </a:p>
        </p:txBody>
      </p:sp>
      <p:sp>
        <p:nvSpPr>
          <p:cNvPr id="26" name="Text 24"/>
          <p:cNvSpPr txBox="1"/>
          <p:nvPr/>
        </p:nvSpPr>
        <p:spPr>
          <a:xfrm>
            <a:off x="7863840" y="2624328"/>
            <a:ext cx="274320" cy="365760"/>
          </a:xfrm>
          <a:prstGeom prst="rect">
            <a:avLst/>
          </a:prstGeom>
          <a:noFill/>
          <a:ln/>
        </p:spPr>
        <p:txBody>
          <a:bodyPr wrap="square" lIns="0" tIns="0" rIns="0" bIns="0" rtlCol="0" anchor="t"/>
          <a:lstStyle/>
          <a:p>
            <a:pPr marL="0" indent="0">
              <a:buNone/>
            </a:pPr>
            <a:r>
              <a:rPr lang="en-US" sz="1600" b="1" dirty="0">
                <a:solidFill>
                  <a:srgbClr val="2A7F86"/>
                </a:solidFill>
                <a:latin typeface="Calibri" pitchFamily="34" charset="0"/>
                <a:ea typeface="Calibri" pitchFamily="34" charset="-122"/>
                <a:cs typeface="Calibri" pitchFamily="34" charset="-120"/>
              </a:rPr>
              <a:t>2</a:t>
            </a:r>
            <a:endParaRPr lang="en-US" sz="1600" dirty="0"/>
          </a:p>
        </p:txBody>
      </p:sp>
      <p:sp>
        <p:nvSpPr>
          <p:cNvPr id="27" name="Text 25"/>
          <p:cNvSpPr txBox="1"/>
          <p:nvPr/>
        </p:nvSpPr>
        <p:spPr>
          <a:xfrm>
            <a:off x="8229600" y="2624328"/>
            <a:ext cx="3383280" cy="411480"/>
          </a:xfrm>
          <a:prstGeom prst="rect">
            <a:avLst/>
          </a:prstGeom>
          <a:noFill/>
          <a:ln/>
        </p:spPr>
        <p:txBody>
          <a:bodyPr wrap="square" lIns="0" tIns="0" rIns="0" bIns="0" rtlCol="0" anchor="ctr"/>
          <a:lstStyle/>
          <a:p>
            <a:pPr marL="0" indent="0">
              <a:buNone/>
            </a:pPr>
            <a:r>
              <a:rPr lang="en-US" sz="1300" dirty="0">
                <a:solidFill>
                  <a:srgbClr val="1F2328"/>
                </a:solidFill>
                <a:latin typeface="Calibri" pitchFamily="34" charset="0"/>
                <a:ea typeface="Calibri" pitchFamily="34" charset="-122"/>
                <a:cs typeface="Calibri" pitchFamily="34" charset="-120"/>
              </a:rPr>
              <a:t>Interviews with warden and hostel office</a:t>
            </a:r>
            <a:endParaRPr lang="en-US" sz="1300" dirty="0"/>
          </a:p>
        </p:txBody>
      </p:sp>
      <p:sp>
        <p:nvSpPr>
          <p:cNvPr id="28" name="Text 26"/>
          <p:cNvSpPr txBox="1"/>
          <p:nvPr/>
        </p:nvSpPr>
        <p:spPr>
          <a:xfrm>
            <a:off x="7863840" y="3099816"/>
            <a:ext cx="274320" cy="365760"/>
          </a:xfrm>
          <a:prstGeom prst="rect">
            <a:avLst/>
          </a:prstGeom>
          <a:noFill/>
          <a:ln/>
        </p:spPr>
        <p:txBody>
          <a:bodyPr wrap="square" lIns="0" tIns="0" rIns="0" bIns="0" rtlCol="0" anchor="t"/>
          <a:lstStyle/>
          <a:p>
            <a:pPr marL="0" indent="0">
              <a:buNone/>
            </a:pPr>
            <a:r>
              <a:rPr lang="en-US" sz="1600" b="1" dirty="0">
                <a:solidFill>
                  <a:srgbClr val="2A7F86"/>
                </a:solidFill>
                <a:latin typeface="Calibri" pitchFamily="34" charset="0"/>
                <a:ea typeface="Calibri" pitchFamily="34" charset="-122"/>
                <a:cs typeface="Calibri" pitchFamily="34" charset="-120"/>
              </a:rPr>
              <a:t>3</a:t>
            </a:r>
            <a:endParaRPr lang="en-US" sz="1600" dirty="0"/>
          </a:p>
        </p:txBody>
      </p:sp>
      <p:sp>
        <p:nvSpPr>
          <p:cNvPr id="29" name="Text 27"/>
          <p:cNvSpPr txBox="1"/>
          <p:nvPr/>
        </p:nvSpPr>
        <p:spPr>
          <a:xfrm>
            <a:off x="8229600" y="3099816"/>
            <a:ext cx="3383280" cy="411480"/>
          </a:xfrm>
          <a:prstGeom prst="rect">
            <a:avLst/>
          </a:prstGeom>
          <a:noFill/>
          <a:ln/>
        </p:spPr>
        <p:txBody>
          <a:bodyPr wrap="square" lIns="0" tIns="0" rIns="0" bIns="0" rtlCol="0" anchor="ctr"/>
          <a:lstStyle/>
          <a:p>
            <a:pPr marL="0" indent="0">
              <a:buNone/>
            </a:pPr>
            <a:r>
              <a:rPr lang="en-US" sz="1300" dirty="0">
                <a:solidFill>
                  <a:srgbClr val="1F2328"/>
                </a:solidFill>
                <a:latin typeface="Calibri" pitchFamily="34" charset="0"/>
                <a:ea typeface="Calibri" pitchFamily="34" charset="-122"/>
                <a:cs typeface="Calibri" pitchFamily="34" charset="-120"/>
              </a:rPr>
              <a:t>Observation of the current allotment process</a:t>
            </a:r>
            <a:endParaRPr lang="en-US" sz="1300" dirty="0"/>
          </a:p>
        </p:txBody>
      </p:sp>
      <p:sp>
        <p:nvSpPr>
          <p:cNvPr id="30" name="Text 28"/>
          <p:cNvSpPr txBox="1"/>
          <p:nvPr/>
        </p:nvSpPr>
        <p:spPr>
          <a:xfrm>
            <a:off x="7863840" y="3575304"/>
            <a:ext cx="274320" cy="365760"/>
          </a:xfrm>
          <a:prstGeom prst="rect">
            <a:avLst/>
          </a:prstGeom>
          <a:noFill/>
          <a:ln/>
        </p:spPr>
        <p:txBody>
          <a:bodyPr wrap="square" lIns="0" tIns="0" rIns="0" bIns="0" rtlCol="0" anchor="t"/>
          <a:lstStyle/>
          <a:p>
            <a:pPr marL="0" indent="0">
              <a:buNone/>
            </a:pPr>
            <a:r>
              <a:rPr lang="en-US" sz="1600" b="1" dirty="0">
                <a:solidFill>
                  <a:srgbClr val="2A7F86"/>
                </a:solidFill>
                <a:latin typeface="Calibri" pitchFamily="34" charset="0"/>
                <a:ea typeface="Calibri" pitchFamily="34" charset="-122"/>
                <a:cs typeface="Calibri" pitchFamily="34" charset="-120"/>
              </a:rPr>
              <a:t>4</a:t>
            </a:r>
            <a:endParaRPr lang="en-US" sz="1600" dirty="0"/>
          </a:p>
        </p:txBody>
      </p:sp>
      <p:sp>
        <p:nvSpPr>
          <p:cNvPr id="31" name="Text 29"/>
          <p:cNvSpPr txBox="1"/>
          <p:nvPr/>
        </p:nvSpPr>
        <p:spPr>
          <a:xfrm>
            <a:off x="8229600" y="3575304"/>
            <a:ext cx="3383280" cy="411480"/>
          </a:xfrm>
          <a:prstGeom prst="rect">
            <a:avLst/>
          </a:prstGeom>
          <a:noFill/>
          <a:ln/>
        </p:spPr>
        <p:txBody>
          <a:bodyPr wrap="square" lIns="0" tIns="0" rIns="0" bIns="0" rtlCol="0" anchor="ctr"/>
          <a:lstStyle/>
          <a:p>
            <a:pPr marL="0" indent="0">
              <a:buNone/>
            </a:pPr>
            <a:r>
              <a:rPr lang="en-US" sz="1300" dirty="0">
                <a:solidFill>
                  <a:srgbClr val="1F2328"/>
                </a:solidFill>
                <a:latin typeface="Calibri" pitchFamily="34" charset="0"/>
                <a:ea typeface="Calibri" pitchFamily="34" charset="-122"/>
                <a:cs typeface="Calibri" pitchFamily="34" charset="-120"/>
              </a:rPr>
              <a:t>Review of existing rules and records</a:t>
            </a:r>
            <a:endParaRPr lang="en-US" sz="1300" dirty="0"/>
          </a:p>
        </p:txBody>
      </p:sp>
      <p:sp>
        <p:nvSpPr>
          <p:cNvPr id="32" name="Text 30"/>
          <p:cNvSpPr txBox="1"/>
          <p:nvPr/>
        </p:nvSpPr>
        <p:spPr>
          <a:xfrm>
            <a:off x="7863840" y="4050792"/>
            <a:ext cx="274320" cy="365760"/>
          </a:xfrm>
          <a:prstGeom prst="rect">
            <a:avLst/>
          </a:prstGeom>
          <a:noFill/>
          <a:ln/>
        </p:spPr>
        <p:txBody>
          <a:bodyPr wrap="square" lIns="0" tIns="0" rIns="0" bIns="0" rtlCol="0" anchor="t"/>
          <a:lstStyle/>
          <a:p>
            <a:pPr marL="0" indent="0">
              <a:buNone/>
            </a:pPr>
            <a:r>
              <a:rPr lang="en-US" sz="1600" b="1" dirty="0">
                <a:solidFill>
                  <a:srgbClr val="2A7F86"/>
                </a:solidFill>
                <a:latin typeface="Calibri" pitchFamily="34" charset="0"/>
                <a:ea typeface="Calibri" pitchFamily="34" charset="-122"/>
                <a:cs typeface="Calibri" pitchFamily="34" charset="-120"/>
              </a:rPr>
              <a:t>5</a:t>
            </a:r>
            <a:endParaRPr lang="en-US" sz="1600" dirty="0"/>
          </a:p>
        </p:txBody>
      </p:sp>
      <p:sp>
        <p:nvSpPr>
          <p:cNvPr id="33" name="Text 31"/>
          <p:cNvSpPr txBox="1"/>
          <p:nvPr/>
        </p:nvSpPr>
        <p:spPr>
          <a:xfrm>
            <a:off x="8229600" y="4050792"/>
            <a:ext cx="3383280" cy="411480"/>
          </a:xfrm>
          <a:prstGeom prst="rect">
            <a:avLst/>
          </a:prstGeom>
          <a:noFill/>
          <a:ln/>
        </p:spPr>
        <p:txBody>
          <a:bodyPr wrap="square" lIns="0" tIns="0" rIns="0" bIns="0" rtlCol="0" anchor="ctr"/>
          <a:lstStyle/>
          <a:p>
            <a:pPr marL="0" indent="0">
              <a:buNone/>
            </a:pPr>
            <a:r>
              <a:rPr lang="en-US" sz="1300" dirty="0">
                <a:solidFill>
                  <a:srgbClr val="1F2328"/>
                </a:solidFill>
                <a:latin typeface="Calibri" pitchFamily="34" charset="0"/>
                <a:ea typeface="Calibri" pitchFamily="34" charset="-122"/>
                <a:cs typeface="Calibri" pitchFamily="34" charset="-120"/>
              </a:rPr>
              <a:t>Permission and consent from the partner</a:t>
            </a:r>
            <a:endParaRPr lang="en-US" sz="1300" dirty="0"/>
          </a:p>
        </p:txBody>
      </p:sp>
      <p:sp>
        <p:nvSpPr>
          <p:cNvPr id="37" name="Text 35"/>
          <p:cNvSpPr txBox="1"/>
          <p:nvPr/>
        </p:nvSpPr>
        <p:spPr>
          <a:xfrm>
            <a:off x="548640" y="5989320"/>
            <a:ext cx="6858000" cy="274320"/>
          </a:xfrm>
          <a:prstGeom prst="rect">
            <a:avLst/>
          </a:prstGeom>
          <a:noFill/>
          <a:ln/>
        </p:spPr>
        <p:txBody>
          <a:bodyPr wrap="square" lIns="0" tIns="0" rIns="0" bIns="0" rtlCol="0" anchor="t"/>
          <a:lstStyle/>
          <a:p>
            <a:pPr marL="0" indent="0">
              <a:buNone/>
            </a:pPr>
            <a:r>
              <a:rPr lang="en-US" sz="1100" b="1" dirty="0">
                <a:solidFill>
                  <a:srgbClr val="14263F"/>
                </a:solidFill>
                <a:latin typeface="Calibri" pitchFamily="34" charset="0"/>
                <a:ea typeface="Calibri" pitchFamily="34" charset="-122"/>
                <a:cs typeface="Calibri" pitchFamily="34" charset="-120"/>
              </a:rPr>
              <a:t>Community partner: [Community Partner — to be confirmed]</a:t>
            </a:r>
            <a:endParaRPr lang="en-US" sz="1100" dirty="0"/>
          </a:p>
        </p:txBody>
      </p:sp>
      <p:sp>
        <p:nvSpPr>
          <p:cNvPr id="38" name="Shape 17"/>
          <p:cNvSpPr/>
          <p:nvPr/>
        </p:nvSpPr>
        <p:spPr>
          <a:xfrm flipH="1" flipV="1">
            <a:off x="4343400" y="3931920"/>
            <a:ext cx="502920" cy="530352"/>
          </a:xfrm>
          <a:prstGeom prst="line">
            <a:avLst/>
          </a:prstGeom>
          <a:noFill/>
          <a:ln w="15875">
            <a:solidFill>
              <a:srgbClr val="5F6672"/>
            </a:solidFill>
            <a:prstDash val="solid"/>
            <a:tailEnd type="triangle"/>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100" b="1" kern="0" spc="300" dirty="0">
                <a:solidFill>
                  <a:srgbClr val="2A7F86"/>
                </a:solidFill>
                <a:latin typeface="Calibri" pitchFamily="34" charset="0"/>
                <a:ea typeface="Calibri" pitchFamily="34" charset="-122"/>
                <a:cs typeface="Calibri" pitchFamily="34" charset="-120"/>
              </a:rPr>
              <a:t>LITERATURE REVIEW (1 OF 2)</a:t>
            </a:r>
            <a:endParaRPr lang="en-US" sz="1100" dirty="0"/>
          </a:p>
        </p:txBody>
      </p:sp>
      <p:sp>
        <p:nvSpPr>
          <p:cNvPr id="3" name="Text 1"/>
          <p:cNvSpPr txBox="1"/>
          <p:nvPr/>
        </p:nvSpPr>
        <p:spPr>
          <a:xfrm>
            <a:off x="548640" y="640080"/>
            <a:ext cx="11064240" cy="548640"/>
          </a:xfrm>
          <a:prstGeom prst="rect">
            <a:avLst/>
          </a:prstGeom>
          <a:noFill/>
          <a:ln/>
        </p:spPr>
        <p:txBody>
          <a:bodyPr wrap="square" lIns="0" tIns="0" rIns="0" bIns="0" rtlCol="0" anchor="t"/>
          <a:lstStyle/>
          <a:p>
            <a:pPr marL="0" indent="0">
              <a:buNone/>
            </a:pPr>
            <a:r>
              <a:rPr lang="en-US" sz="2700" b="1" dirty="0">
                <a:solidFill>
                  <a:srgbClr val="14263F"/>
                </a:solidFill>
                <a:latin typeface="Calibri" pitchFamily="34" charset="0"/>
                <a:ea typeface="Calibri" pitchFamily="34" charset="-122"/>
                <a:cs typeface="Calibri" pitchFamily="34" charset="-120"/>
              </a:rPr>
              <a:t>Existing Hostel-Management Systems</a:t>
            </a:r>
            <a:endParaRPr lang="en-US" sz="2700" dirty="0"/>
          </a:p>
        </p:txBody>
      </p:sp>
      <p:sp>
        <p:nvSpPr>
          <p:cNvPr id="4" name="Text 2"/>
          <p:cNvSpPr txBox="1"/>
          <p:nvPr/>
        </p:nvSpPr>
        <p:spPr>
          <a:xfrm>
            <a:off x="548640" y="1234440"/>
            <a:ext cx="11064240" cy="320040"/>
          </a:xfrm>
          <a:prstGeom prst="rect">
            <a:avLst/>
          </a:prstGeom>
          <a:noFill/>
          <a:ln/>
        </p:spPr>
        <p:txBody>
          <a:bodyPr wrap="square" lIns="0" tIns="0" rIns="0" bIns="0" rtlCol="0" anchor="t"/>
          <a:lstStyle/>
          <a:p>
            <a:pPr marL="0" indent="0">
              <a:buNone/>
            </a:pPr>
            <a:r>
              <a:rPr lang="en-US" sz="1400" dirty="0">
                <a:solidFill>
                  <a:srgbClr val="5F6672"/>
                </a:solidFill>
                <a:latin typeface="Calibri" pitchFamily="34" charset="0"/>
                <a:ea typeface="Calibri" pitchFamily="34" charset="-122"/>
                <a:cs typeface="Calibri" pitchFamily="34" charset="-120"/>
              </a:rPr>
              <a:t>Reviewed from published abstracts and records; references on slide 15.</a:t>
            </a:r>
            <a:endParaRPr lang="en-US" sz="1400" dirty="0"/>
          </a:p>
        </p:txBody>
      </p:sp>
      <p:sp>
        <p:nvSpPr>
          <p:cNvPr id="5" name="Text 3"/>
          <p:cNvSpPr txBox="1"/>
          <p:nvPr/>
        </p:nvSpPr>
        <p:spPr>
          <a:xfrm>
            <a:off x="548640" y="6492240"/>
            <a:ext cx="7315200" cy="228600"/>
          </a:xfrm>
          <a:prstGeom prst="rect">
            <a:avLst/>
          </a:prstGeom>
          <a:noFill/>
          <a:ln/>
        </p:spPr>
        <p:txBody>
          <a:bodyPr wrap="square" lIns="0" tIns="0" rIns="0" bIns="0" rtlCol="0" anchor="t"/>
          <a:lstStyle/>
          <a:p>
            <a:pPr marL="0" indent="0">
              <a:buNone/>
            </a:pPr>
            <a:r>
              <a:rPr lang="en-US" sz="900" dirty="0">
                <a:solidFill>
                  <a:srgbClr val="5F6672"/>
                </a:solidFill>
                <a:latin typeface="Calibri" pitchFamily="34" charset="0"/>
                <a:ea typeface="Calibri" pitchFamily="34" charset="-122"/>
                <a:cs typeface="Calibri" pitchFamily="34" charset="-120"/>
              </a:rPr>
              <a:t>SIT Tumakuru · Dept. of CSE · Community Project Phase-I, 2026–27</a:t>
            </a:r>
            <a:endParaRPr lang="en-US" sz="900" dirty="0"/>
          </a:p>
        </p:txBody>
      </p:sp>
      <p:sp>
        <p:nvSpPr>
          <p:cNvPr id="6" name="Text 4"/>
          <p:cNvSpPr txBox="1"/>
          <p:nvPr/>
        </p:nvSpPr>
        <p:spPr>
          <a:xfrm>
            <a:off x="11155680" y="6492240"/>
            <a:ext cx="457200" cy="228600"/>
          </a:xfrm>
          <a:prstGeom prst="rect">
            <a:avLst/>
          </a:prstGeom>
          <a:noFill/>
          <a:ln/>
        </p:spPr>
        <p:txBody>
          <a:bodyPr wrap="square" lIns="0" tIns="0" rIns="0" bIns="0" rtlCol="0" anchor="t"/>
          <a:lstStyle/>
          <a:p>
            <a:pPr marL="0" indent="0" algn="r">
              <a:buNone/>
            </a:pPr>
            <a:r>
              <a:rPr lang="en-US" sz="900" dirty="0">
                <a:solidFill>
                  <a:srgbClr val="5F6672"/>
                </a:solidFill>
                <a:latin typeface="Calibri" pitchFamily="34" charset="0"/>
                <a:ea typeface="Calibri" pitchFamily="34" charset="-122"/>
                <a:cs typeface="Calibri" pitchFamily="34" charset="-120"/>
              </a:rPr>
              <a:t>4</a:t>
            </a:r>
            <a:endParaRPr lang="en-US" sz="900" dirty="0"/>
          </a:p>
        </p:txBody>
      </p:sp>
      <p:sp>
        <p:nvSpPr>
          <p:cNvPr id="7" name="Text 5"/>
          <p:cNvSpPr txBox="1"/>
          <p:nvPr/>
        </p:nvSpPr>
        <p:spPr>
          <a:xfrm>
            <a:off x="548640" y="1737360"/>
            <a:ext cx="2743200" cy="228600"/>
          </a:xfrm>
          <a:prstGeom prst="rect">
            <a:avLst/>
          </a:prstGeom>
          <a:noFill/>
          <a:ln/>
        </p:spPr>
        <p:txBody>
          <a:bodyPr wrap="square" lIns="0" tIns="0" rIns="0" bIns="0" rtlCol="0" anchor="t"/>
          <a:lstStyle/>
          <a:p>
            <a:pPr marL="0" indent="0">
              <a:buNone/>
            </a:pPr>
            <a:r>
              <a:rPr lang="en-US" sz="1000" b="1" kern="0" spc="100" dirty="0">
                <a:solidFill>
                  <a:srgbClr val="5F6672"/>
                </a:solidFill>
                <a:latin typeface="Calibri" pitchFamily="34" charset="0"/>
                <a:ea typeface="Calibri" pitchFamily="34" charset="-122"/>
                <a:cs typeface="Calibri" pitchFamily="34" charset="-120"/>
              </a:rPr>
              <a:t>SOURCE</a:t>
            </a:r>
            <a:endParaRPr lang="en-US" sz="1000" dirty="0"/>
          </a:p>
        </p:txBody>
      </p:sp>
      <p:sp>
        <p:nvSpPr>
          <p:cNvPr id="8" name="Text 6"/>
          <p:cNvSpPr txBox="1"/>
          <p:nvPr/>
        </p:nvSpPr>
        <p:spPr>
          <a:xfrm>
            <a:off x="2103120" y="1737360"/>
            <a:ext cx="2743200" cy="228600"/>
          </a:xfrm>
          <a:prstGeom prst="rect">
            <a:avLst/>
          </a:prstGeom>
          <a:noFill/>
          <a:ln/>
        </p:spPr>
        <p:txBody>
          <a:bodyPr wrap="square" lIns="0" tIns="0" rIns="0" bIns="0" rtlCol="0" anchor="t"/>
          <a:lstStyle/>
          <a:p>
            <a:pPr marL="0" indent="0">
              <a:buNone/>
            </a:pPr>
            <a:r>
              <a:rPr lang="en-US" sz="1000" b="1" kern="0" spc="100" dirty="0">
                <a:solidFill>
                  <a:srgbClr val="5F6672"/>
                </a:solidFill>
                <a:latin typeface="Calibri" pitchFamily="34" charset="0"/>
                <a:ea typeface="Calibri" pitchFamily="34" charset="-122"/>
                <a:cs typeface="Calibri" pitchFamily="34" charset="-120"/>
              </a:rPr>
              <a:t>APPROACH STUDIED</a:t>
            </a:r>
            <a:endParaRPr lang="en-US" sz="1000" dirty="0"/>
          </a:p>
        </p:txBody>
      </p:sp>
      <p:sp>
        <p:nvSpPr>
          <p:cNvPr id="9" name="Text 7"/>
          <p:cNvSpPr txBox="1"/>
          <p:nvPr/>
        </p:nvSpPr>
        <p:spPr>
          <a:xfrm>
            <a:off x="5486400" y="1737360"/>
            <a:ext cx="2743200" cy="228600"/>
          </a:xfrm>
          <a:prstGeom prst="rect">
            <a:avLst/>
          </a:prstGeom>
          <a:noFill/>
          <a:ln/>
        </p:spPr>
        <p:txBody>
          <a:bodyPr wrap="square" lIns="0" tIns="0" rIns="0" bIns="0" rtlCol="0" anchor="t"/>
          <a:lstStyle/>
          <a:p>
            <a:pPr marL="0" indent="0">
              <a:buNone/>
            </a:pPr>
            <a:r>
              <a:rPr lang="en-US" sz="1000" b="1" kern="0" spc="100" dirty="0">
                <a:solidFill>
                  <a:srgbClr val="5F6672"/>
                </a:solidFill>
                <a:latin typeface="Calibri" pitchFamily="34" charset="0"/>
                <a:ea typeface="Calibri" pitchFamily="34" charset="-122"/>
                <a:cs typeface="Calibri" pitchFamily="34" charset="-120"/>
              </a:rPr>
              <a:t>MAIN CONTRIBUTION</a:t>
            </a:r>
            <a:endParaRPr lang="en-US" sz="1000" dirty="0"/>
          </a:p>
        </p:txBody>
      </p:sp>
      <p:sp>
        <p:nvSpPr>
          <p:cNvPr id="10" name="Text 8"/>
          <p:cNvSpPr txBox="1"/>
          <p:nvPr/>
        </p:nvSpPr>
        <p:spPr>
          <a:xfrm>
            <a:off x="8778240" y="1737360"/>
            <a:ext cx="2743200" cy="228600"/>
          </a:xfrm>
          <a:prstGeom prst="rect">
            <a:avLst/>
          </a:prstGeom>
          <a:noFill/>
          <a:ln/>
        </p:spPr>
        <p:txBody>
          <a:bodyPr wrap="square" lIns="0" tIns="0" rIns="0" bIns="0" rtlCol="0" anchor="t"/>
          <a:lstStyle/>
          <a:p>
            <a:pPr marL="0" indent="0">
              <a:buNone/>
            </a:pPr>
            <a:r>
              <a:rPr lang="en-US" sz="1000" b="1" kern="0" spc="100" dirty="0">
                <a:solidFill>
                  <a:srgbClr val="5F6672"/>
                </a:solidFill>
                <a:latin typeface="Calibri" pitchFamily="34" charset="0"/>
                <a:ea typeface="Calibri" pitchFamily="34" charset="-122"/>
                <a:cs typeface="Calibri" pitchFamily="34" charset="-120"/>
              </a:rPr>
              <a:t>RELEVANCE TO THIS PROJECT</a:t>
            </a:r>
            <a:endParaRPr lang="en-US" sz="1000" dirty="0"/>
          </a:p>
        </p:txBody>
      </p:sp>
      <p:sp>
        <p:nvSpPr>
          <p:cNvPr id="11" name="Shape 9"/>
          <p:cNvSpPr/>
          <p:nvPr/>
        </p:nvSpPr>
        <p:spPr>
          <a:xfrm>
            <a:off x="548640" y="2057400"/>
            <a:ext cx="11064240" cy="731520"/>
          </a:xfrm>
          <a:prstGeom prst="rect">
            <a:avLst/>
          </a:prstGeom>
          <a:solidFill>
            <a:srgbClr val="FFFFFF"/>
          </a:solidFill>
          <a:ln w="12700">
            <a:solidFill>
              <a:srgbClr val="D9D6CE"/>
            </a:solidFill>
            <a:prstDash val="solid"/>
          </a:ln>
        </p:spPr>
      </p:sp>
      <p:sp>
        <p:nvSpPr>
          <p:cNvPr id="12" name="Shape 10"/>
          <p:cNvSpPr/>
          <p:nvPr/>
        </p:nvSpPr>
        <p:spPr>
          <a:xfrm>
            <a:off x="548640" y="2057400"/>
            <a:ext cx="64008" cy="731520"/>
          </a:xfrm>
          <a:prstGeom prst="rect">
            <a:avLst/>
          </a:prstGeom>
          <a:solidFill>
            <a:srgbClr val="2A7F86"/>
          </a:solidFill>
          <a:ln/>
        </p:spPr>
      </p:sp>
      <p:sp>
        <p:nvSpPr>
          <p:cNvPr id="13" name="Text 11"/>
          <p:cNvSpPr txBox="1"/>
          <p:nvPr/>
        </p:nvSpPr>
        <p:spPr>
          <a:xfrm>
            <a:off x="731520" y="2057400"/>
            <a:ext cx="1371600" cy="731520"/>
          </a:xfrm>
          <a:prstGeom prst="rect">
            <a:avLst/>
          </a:prstGeom>
          <a:noFill/>
          <a:ln/>
        </p:spPr>
        <p:txBody>
          <a:bodyPr wrap="square" lIns="0" tIns="0" rIns="0" bIns="0" rtlCol="0" anchor="ctr"/>
          <a:lstStyle/>
          <a:p>
            <a:pPr marL="0" indent="0">
              <a:buNone/>
            </a:pPr>
            <a:r>
              <a:rPr lang="en-US" sz="1200" b="1" dirty="0">
                <a:solidFill>
                  <a:srgbClr val="14263F"/>
                </a:solidFill>
                <a:latin typeface="Calibri" pitchFamily="34" charset="0"/>
                <a:ea typeface="Calibri" pitchFamily="34" charset="-122"/>
                <a:cs typeface="Calibri" pitchFamily="34" charset="-120"/>
              </a:rPr>
              <a:t>[3] Waibi, 2022</a:t>
            </a:r>
            <a:endParaRPr lang="en-US" sz="1200" dirty="0"/>
          </a:p>
        </p:txBody>
      </p:sp>
      <p:sp>
        <p:nvSpPr>
          <p:cNvPr id="14" name="Text 12"/>
          <p:cNvSpPr txBox="1"/>
          <p:nvPr/>
        </p:nvSpPr>
        <p:spPr>
          <a:xfrm>
            <a:off x="2103120" y="2057400"/>
            <a:ext cx="3291840" cy="731520"/>
          </a:xfrm>
          <a:prstGeom prst="rect">
            <a:avLst/>
          </a:prstGeom>
          <a:noFill/>
          <a:ln/>
        </p:spPr>
        <p:txBody>
          <a:bodyPr wrap="square" lIns="0" tIns="0" rIns="0" bIns="0" rtlCol="0" anchor="ctr"/>
          <a:lstStyle/>
          <a:p>
            <a:pPr marL="0" indent="0">
              <a:buNone/>
            </a:pPr>
            <a:r>
              <a:rPr lang="en-US" sz="1200" dirty="0">
                <a:solidFill>
                  <a:srgbClr val="1F2328"/>
                </a:solidFill>
                <a:latin typeface="Calibri" pitchFamily="34" charset="0"/>
                <a:ea typeface="Calibri" pitchFamily="34" charset="-122"/>
                <a:cs typeface="Calibri" pitchFamily="34" charset="-120"/>
              </a:rPr>
              <a:t>Web-based hostel system, Makerere Univ. (PHP/MySQL)</a:t>
            </a:r>
            <a:endParaRPr lang="en-US" sz="1200" dirty="0"/>
          </a:p>
        </p:txBody>
      </p:sp>
      <p:sp>
        <p:nvSpPr>
          <p:cNvPr id="15" name="Text 13"/>
          <p:cNvSpPr txBox="1"/>
          <p:nvPr/>
        </p:nvSpPr>
        <p:spPr>
          <a:xfrm>
            <a:off x="5486400" y="2057400"/>
            <a:ext cx="3200400" cy="731520"/>
          </a:xfrm>
          <a:prstGeom prst="rect">
            <a:avLst/>
          </a:prstGeom>
          <a:noFill/>
          <a:ln/>
        </p:spPr>
        <p:txBody>
          <a:bodyPr wrap="square" lIns="0" tIns="0" rIns="0" bIns="0" rtlCol="0" anchor="ctr"/>
          <a:lstStyle/>
          <a:p>
            <a:pPr marL="0" indent="0">
              <a:buNone/>
            </a:pPr>
            <a:r>
              <a:rPr lang="en-US" sz="1100" dirty="0">
                <a:solidFill>
                  <a:srgbClr val="1F2328"/>
                </a:solidFill>
                <a:latin typeface="Calibri" pitchFamily="34" charset="0"/>
                <a:ea typeface="Calibri" pitchFamily="34" charset="-122"/>
                <a:cs typeface="Calibri" pitchFamily="34" charset="-120"/>
              </a:rPr>
              <a:t>Students apply online; central database allocates rooms and keeps records.</a:t>
            </a:r>
            <a:endParaRPr lang="en-US" sz="1100" dirty="0"/>
          </a:p>
        </p:txBody>
      </p:sp>
      <p:sp>
        <p:nvSpPr>
          <p:cNvPr id="16" name="Text 14"/>
          <p:cNvSpPr txBox="1"/>
          <p:nvPr/>
        </p:nvSpPr>
        <p:spPr>
          <a:xfrm>
            <a:off x="8778240" y="2057400"/>
            <a:ext cx="2743200" cy="731520"/>
          </a:xfrm>
          <a:prstGeom prst="rect">
            <a:avLst/>
          </a:prstGeom>
          <a:noFill/>
          <a:ln/>
        </p:spPr>
        <p:txBody>
          <a:bodyPr wrap="square" lIns="0" tIns="0" rIns="0" bIns="0" rtlCol="0" anchor="ctr"/>
          <a:lstStyle/>
          <a:p>
            <a:pPr marL="0" indent="0">
              <a:buNone/>
            </a:pPr>
            <a:r>
              <a:rPr lang="en-US" sz="1100" b="1" dirty="0">
                <a:solidFill>
                  <a:srgbClr val="2A7F86"/>
                </a:solidFill>
                <a:latin typeface="Calibri" pitchFamily="34" charset="0"/>
                <a:ea typeface="Calibri" pitchFamily="34" charset="-122"/>
                <a:cs typeface="Calibri" pitchFamily="34" charset="-120"/>
              </a:rPr>
              <a:t>Closest model for registration + allocation records.</a:t>
            </a:r>
            <a:endParaRPr lang="en-US" sz="1100" dirty="0"/>
          </a:p>
        </p:txBody>
      </p:sp>
      <p:sp>
        <p:nvSpPr>
          <p:cNvPr id="17" name="Shape 15"/>
          <p:cNvSpPr/>
          <p:nvPr/>
        </p:nvSpPr>
        <p:spPr>
          <a:xfrm>
            <a:off x="548640" y="2862072"/>
            <a:ext cx="11064240" cy="731520"/>
          </a:xfrm>
          <a:prstGeom prst="rect">
            <a:avLst/>
          </a:prstGeom>
          <a:solidFill>
            <a:srgbClr val="FFFFFF"/>
          </a:solidFill>
          <a:ln w="12700">
            <a:solidFill>
              <a:srgbClr val="D9D6CE"/>
            </a:solidFill>
            <a:prstDash val="solid"/>
          </a:ln>
        </p:spPr>
      </p:sp>
      <p:sp>
        <p:nvSpPr>
          <p:cNvPr id="18" name="Shape 16"/>
          <p:cNvSpPr/>
          <p:nvPr/>
        </p:nvSpPr>
        <p:spPr>
          <a:xfrm>
            <a:off x="548640" y="2862072"/>
            <a:ext cx="64008" cy="731520"/>
          </a:xfrm>
          <a:prstGeom prst="rect">
            <a:avLst/>
          </a:prstGeom>
          <a:solidFill>
            <a:srgbClr val="2A7F86"/>
          </a:solidFill>
          <a:ln/>
        </p:spPr>
      </p:sp>
      <p:sp>
        <p:nvSpPr>
          <p:cNvPr id="19" name="Text 17"/>
          <p:cNvSpPr txBox="1"/>
          <p:nvPr/>
        </p:nvSpPr>
        <p:spPr>
          <a:xfrm>
            <a:off x="731520" y="2862072"/>
            <a:ext cx="1371600" cy="731520"/>
          </a:xfrm>
          <a:prstGeom prst="rect">
            <a:avLst/>
          </a:prstGeom>
          <a:noFill/>
          <a:ln/>
        </p:spPr>
        <p:txBody>
          <a:bodyPr wrap="square" lIns="0" tIns="0" rIns="0" bIns="0" rtlCol="0" anchor="ctr"/>
          <a:lstStyle/>
          <a:p>
            <a:pPr marL="0" indent="0">
              <a:buNone/>
            </a:pPr>
            <a:r>
              <a:rPr lang="en-US" sz="1200" b="1" dirty="0">
                <a:solidFill>
                  <a:srgbClr val="14263F"/>
                </a:solidFill>
                <a:latin typeface="Calibri" pitchFamily="34" charset="0"/>
                <a:ea typeface="Calibri" pitchFamily="34" charset="-122"/>
                <a:cs typeface="Calibri" pitchFamily="34" charset="-120"/>
              </a:rPr>
              <a:t>[4] Aneke, 2018</a:t>
            </a:r>
            <a:endParaRPr lang="en-US" sz="1200" dirty="0"/>
          </a:p>
        </p:txBody>
      </p:sp>
      <p:sp>
        <p:nvSpPr>
          <p:cNvPr id="20" name="Text 18"/>
          <p:cNvSpPr txBox="1"/>
          <p:nvPr/>
        </p:nvSpPr>
        <p:spPr>
          <a:xfrm>
            <a:off x="2103120" y="2862072"/>
            <a:ext cx="3291840" cy="731520"/>
          </a:xfrm>
          <a:prstGeom prst="rect">
            <a:avLst/>
          </a:prstGeom>
          <a:noFill/>
          <a:ln/>
        </p:spPr>
        <p:txBody>
          <a:bodyPr wrap="square" lIns="0" tIns="0" rIns="0" bIns="0" rtlCol="0" anchor="ctr"/>
          <a:lstStyle/>
          <a:p>
            <a:pPr marL="0" indent="0">
              <a:buNone/>
            </a:pPr>
            <a:r>
              <a:rPr lang="en-US" sz="1200" dirty="0">
                <a:solidFill>
                  <a:srgbClr val="1F2328"/>
                </a:solidFill>
                <a:latin typeface="Calibri" pitchFamily="34" charset="0"/>
                <a:ea typeface="Calibri" pitchFamily="34" charset="-122"/>
                <a:cs typeface="Calibri" pitchFamily="34" charset="-120"/>
              </a:rPr>
              <a:t>Web-based hostel allocation, Godfrey Okoye Univ.</a:t>
            </a:r>
            <a:endParaRPr lang="en-US" sz="1200" dirty="0"/>
          </a:p>
        </p:txBody>
      </p:sp>
      <p:sp>
        <p:nvSpPr>
          <p:cNvPr id="21" name="Text 19"/>
          <p:cNvSpPr txBox="1"/>
          <p:nvPr/>
        </p:nvSpPr>
        <p:spPr>
          <a:xfrm>
            <a:off x="5486400" y="2862072"/>
            <a:ext cx="3200400" cy="731520"/>
          </a:xfrm>
          <a:prstGeom prst="rect">
            <a:avLst/>
          </a:prstGeom>
          <a:noFill/>
          <a:ln/>
        </p:spPr>
        <p:txBody>
          <a:bodyPr wrap="square" lIns="0" tIns="0" rIns="0" bIns="0" rtlCol="0" anchor="ctr"/>
          <a:lstStyle/>
          <a:p>
            <a:pPr marL="0" indent="0">
              <a:buNone/>
            </a:pPr>
            <a:r>
              <a:rPr lang="en-US" sz="1100" dirty="0">
                <a:solidFill>
                  <a:srgbClr val="1F2328"/>
                </a:solidFill>
                <a:latin typeface="Calibri" pitchFamily="34" charset="0"/>
                <a:ea typeface="Calibri" pitchFamily="34" charset="-122"/>
                <a:cs typeface="Calibri" pitchFamily="34" charset="-120"/>
              </a:rPr>
              <a:t>Central database allocates rooms automatically; keeps occupancy records and reports.</a:t>
            </a:r>
            <a:endParaRPr lang="en-US" sz="1100" dirty="0"/>
          </a:p>
        </p:txBody>
      </p:sp>
      <p:sp>
        <p:nvSpPr>
          <p:cNvPr id="22" name="Text 20"/>
          <p:cNvSpPr txBox="1"/>
          <p:nvPr/>
        </p:nvSpPr>
        <p:spPr>
          <a:xfrm>
            <a:off x="8778240" y="2862072"/>
            <a:ext cx="2743200" cy="731520"/>
          </a:xfrm>
          <a:prstGeom prst="rect">
            <a:avLst/>
          </a:prstGeom>
          <a:noFill/>
          <a:ln/>
        </p:spPr>
        <p:txBody>
          <a:bodyPr wrap="square" lIns="0" tIns="0" rIns="0" bIns="0" rtlCol="0" anchor="ctr"/>
          <a:lstStyle/>
          <a:p>
            <a:pPr marL="0" indent="0">
              <a:buNone/>
            </a:pPr>
            <a:r>
              <a:rPr lang="en-US" sz="1100" b="1" dirty="0">
                <a:solidFill>
                  <a:srgbClr val="2A7F86"/>
                </a:solidFill>
                <a:latin typeface="Calibri" pitchFamily="34" charset="0"/>
                <a:ea typeface="Calibri" pitchFamily="34" charset="-122"/>
                <a:cs typeface="Calibri" pitchFamily="34" charset="-120"/>
              </a:rPr>
              <a:t>Supports occupancy reporting; allocation unit is a room.</a:t>
            </a:r>
            <a:endParaRPr lang="en-US" sz="1100" dirty="0"/>
          </a:p>
        </p:txBody>
      </p:sp>
      <p:sp>
        <p:nvSpPr>
          <p:cNvPr id="23" name="Shape 21"/>
          <p:cNvSpPr/>
          <p:nvPr/>
        </p:nvSpPr>
        <p:spPr>
          <a:xfrm>
            <a:off x="548640" y="3666744"/>
            <a:ext cx="11064240" cy="731520"/>
          </a:xfrm>
          <a:prstGeom prst="rect">
            <a:avLst/>
          </a:prstGeom>
          <a:solidFill>
            <a:srgbClr val="FFFFFF"/>
          </a:solidFill>
          <a:ln w="12700">
            <a:solidFill>
              <a:srgbClr val="D9D6CE"/>
            </a:solidFill>
            <a:prstDash val="solid"/>
          </a:ln>
        </p:spPr>
      </p:sp>
      <p:sp>
        <p:nvSpPr>
          <p:cNvPr id="24" name="Shape 22"/>
          <p:cNvSpPr/>
          <p:nvPr/>
        </p:nvSpPr>
        <p:spPr>
          <a:xfrm>
            <a:off x="548640" y="3666744"/>
            <a:ext cx="64008" cy="731520"/>
          </a:xfrm>
          <a:prstGeom prst="rect">
            <a:avLst/>
          </a:prstGeom>
          <a:solidFill>
            <a:srgbClr val="2A7F86"/>
          </a:solidFill>
          <a:ln/>
        </p:spPr>
      </p:sp>
      <p:sp>
        <p:nvSpPr>
          <p:cNvPr id="25" name="Text 23"/>
          <p:cNvSpPr txBox="1"/>
          <p:nvPr/>
        </p:nvSpPr>
        <p:spPr>
          <a:xfrm>
            <a:off x="731520" y="3666744"/>
            <a:ext cx="1371600" cy="731520"/>
          </a:xfrm>
          <a:prstGeom prst="rect">
            <a:avLst/>
          </a:prstGeom>
          <a:noFill/>
          <a:ln/>
        </p:spPr>
        <p:txBody>
          <a:bodyPr wrap="square" lIns="0" tIns="0" rIns="0" bIns="0" rtlCol="0" anchor="ctr"/>
          <a:lstStyle/>
          <a:p>
            <a:pPr marL="0" indent="0">
              <a:buNone/>
            </a:pPr>
            <a:r>
              <a:rPr lang="en-US" sz="1200" b="1" dirty="0">
                <a:solidFill>
                  <a:srgbClr val="14263F"/>
                </a:solidFill>
                <a:latin typeface="Calibri" pitchFamily="34" charset="0"/>
                <a:ea typeface="Calibri" pitchFamily="34" charset="-122"/>
                <a:cs typeface="Calibri" pitchFamily="34" charset="-120"/>
              </a:rPr>
              <a:t>[2] Kon, 2025</a:t>
            </a:r>
            <a:endParaRPr lang="en-US" sz="1200" dirty="0"/>
          </a:p>
        </p:txBody>
      </p:sp>
      <p:sp>
        <p:nvSpPr>
          <p:cNvPr id="26" name="Text 24"/>
          <p:cNvSpPr txBox="1"/>
          <p:nvPr/>
        </p:nvSpPr>
        <p:spPr>
          <a:xfrm>
            <a:off x="2103120" y="3666744"/>
            <a:ext cx="3291840" cy="731520"/>
          </a:xfrm>
          <a:prstGeom prst="rect">
            <a:avLst/>
          </a:prstGeom>
          <a:noFill/>
          <a:ln/>
        </p:spPr>
        <p:txBody>
          <a:bodyPr wrap="square" lIns="0" tIns="0" rIns="0" bIns="0" rtlCol="0" anchor="ctr"/>
          <a:lstStyle/>
          <a:p>
            <a:pPr marL="0" indent="0">
              <a:buNone/>
            </a:pPr>
            <a:r>
              <a:rPr lang="en-US" sz="1200" dirty="0">
                <a:solidFill>
                  <a:srgbClr val="1F2328"/>
                </a:solidFill>
                <a:latin typeface="Calibri" pitchFamily="34" charset="0"/>
                <a:ea typeface="Calibri" pitchFamily="34" charset="-122"/>
                <a:cs typeface="Calibri" pitchFamily="34" charset="-120"/>
              </a:rPr>
              <a:t>RoomPro, UNIMAS: web hostel system with GA room allocation</a:t>
            </a:r>
            <a:endParaRPr lang="en-US" sz="1200" dirty="0"/>
          </a:p>
        </p:txBody>
      </p:sp>
      <p:sp>
        <p:nvSpPr>
          <p:cNvPr id="27" name="Text 25"/>
          <p:cNvSpPr txBox="1"/>
          <p:nvPr/>
        </p:nvSpPr>
        <p:spPr>
          <a:xfrm>
            <a:off x="5486400" y="3666744"/>
            <a:ext cx="3200400" cy="731520"/>
          </a:xfrm>
          <a:prstGeom prst="rect">
            <a:avLst/>
          </a:prstGeom>
          <a:noFill/>
          <a:ln/>
        </p:spPr>
        <p:txBody>
          <a:bodyPr wrap="square" lIns="0" tIns="0" rIns="0" bIns="0" rtlCol="0" anchor="ctr"/>
          <a:lstStyle/>
          <a:p>
            <a:pPr marL="0" indent="0">
              <a:buNone/>
            </a:pPr>
            <a:r>
              <a:rPr lang="en-US" sz="1100" dirty="0">
                <a:solidFill>
                  <a:srgbClr val="1F2328"/>
                </a:solidFill>
                <a:latin typeface="Calibri" pitchFamily="34" charset="0"/>
                <a:ea typeface="Calibri" pitchFamily="34" charset="-122"/>
                <a:cs typeface="Calibri" pitchFamily="34" charset="-120"/>
              </a:rPr>
              <a:t>Optimised room assignment run in background; survey-based requirements; usability testing.</a:t>
            </a:r>
            <a:endParaRPr lang="en-US" sz="1100" dirty="0"/>
          </a:p>
        </p:txBody>
      </p:sp>
      <p:sp>
        <p:nvSpPr>
          <p:cNvPr id="28" name="Text 26"/>
          <p:cNvSpPr txBox="1"/>
          <p:nvPr/>
        </p:nvSpPr>
        <p:spPr>
          <a:xfrm>
            <a:off x="8778240" y="3666744"/>
            <a:ext cx="2743200" cy="731520"/>
          </a:xfrm>
          <a:prstGeom prst="rect">
            <a:avLst/>
          </a:prstGeom>
          <a:noFill/>
          <a:ln/>
        </p:spPr>
        <p:txBody>
          <a:bodyPr wrap="square" lIns="0" tIns="0" rIns="0" bIns="0" rtlCol="0" anchor="ctr"/>
          <a:lstStyle/>
          <a:p>
            <a:pPr marL="0" indent="0">
              <a:buNone/>
            </a:pPr>
            <a:r>
              <a:rPr lang="en-US" sz="1100" b="1" dirty="0">
                <a:solidFill>
                  <a:srgbClr val="2A7F86"/>
                </a:solidFill>
                <a:latin typeface="Calibri" pitchFamily="34" charset="0"/>
                <a:ea typeface="Calibri" pitchFamily="34" charset="-122"/>
                <a:cs typeface="Calibri" pitchFamily="34" charset="-120"/>
              </a:rPr>
              <a:t>Shows requirement surveys and usability evaluation.</a:t>
            </a:r>
            <a:endParaRPr lang="en-US" sz="1100" dirty="0"/>
          </a:p>
        </p:txBody>
      </p:sp>
      <p:sp>
        <p:nvSpPr>
          <p:cNvPr id="29" name="Shape 27"/>
          <p:cNvSpPr/>
          <p:nvPr/>
        </p:nvSpPr>
        <p:spPr>
          <a:xfrm>
            <a:off x="548640" y="4471416"/>
            <a:ext cx="11064240" cy="731520"/>
          </a:xfrm>
          <a:prstGeom prst="rect">
            <a:avLst/>
          </a:prstGeom>
          <a:solidFill>
            <a:srgbClr val="FFFFFF"/>
          </a:solidFill>
          <a:ln w="12700">
            <a:solidFill>
              <a:srgbClr val="D9D6CE"/>
            </a:solidFill>
            <a:prstDash val="solid"/>
          </a:ln>
        </p:spPr>
      </p:sp>
      <p:sp>
        <p:nvSpPr>
          <p:cNvPr id="30" name="Shape 28"/>
          <p:cNvSpPr/>
          <p:nvPr/>
        </p:nvSpPr>
        <p:spPr>
          <a:xfrm>
            <a:off x="548640" y="4471416"/>
            <a:ext cx="64008" cy="731520"/>
          </a:xfrm>
          <a:prstGeom prst="rect">
            <a:avLst/>
          </a:prstGeom>
          <a:solidFill>
            <a:srgbClr val="2A7F86"/>
          </a:solidFill>
          <a:ln/>
        </p:spPr>
      </p:sp>
      <p:sp>
        <p:nvSpPr>
          <p:cNvPr id="31" name="Text 29"/>
          <p:cNvSpPr txBox="1"/>
          <p:nvPr/>
        </p:nvSpPr>
        <p:spPr>
          <a:xfrm>
            <a:off x="731520" y="4471416"/>
            <a:ext cx="1371600" cy="731520"/>
          </a:xfrm>
          <a:prstGeom prst="rect">
            <a:avLst/>
          </a:prstGeom>
          <a:noFill/>
          <a:ln/>
        </p:spPr>
        <p:txBody>
          <a:bodyPr wrap="square" lIns="0" tIns="0" rIns="0" bIns="0" rtlCol="0" anchor="ctr"/>
          <a:lstStyle/>
          <a:p>
            <a:pPr marL="0" indent="0">
              <a:buNone/>
            </a:pPr>
            <a:r>
              <a:rPr lang="en-US" sz="1200" b="1" dirty="0">
                <a:solidFill>
                  <a:srgbClr val="14263F"/>
                </a:solidFill>
                <a:latin typeface="Calibri" pitchFamily="34" charset="0"/>
                <a:ea typeface="Calibri" pitchFamily="34" charset="-122"/>
                <a:cs typeface="Calibri" pitchFamily="34" charset="-120"/>
              </a:rPr>
              <a:t>[1] Tharu et al., 2025</a:t>
            </a:r>
            <a:endParaRPr lang="en-US" sz="1200" dirty="0"/>
          </a:p>
        </p:txBody>
      </p:sp>
      <p:sp>
        <p:nvSpPr>
          <p:cNvPr id="32" name="Text 30"/>
          <p:cNvSpPr txBox="1"/>
          <p:nvPr/>
        </p:nvSpPr>
        <p:spPr>
          <a:xfrm>
            <a:off x="2103120" y="4471416"/>
            <a:ext cx="3291840" cy="731520"/>
          </a:xfrm>
          <a:prstGeom prst="rect">
            <a:avLst/>
          </a:prstGeom>
          <a:noFill/>
          <a:ln/>
        </p:spPr>
        <p:txBody>
          <a:bodyPr wrap="square" lIns="0" tIns="0" rIns="0" bIns="0" rtlCol="0" anchor="ctr"/>
          <a:lstStyle/>
          <a:p>
            <a:pPr marL="0" indent="0">
              <a:buNone/>
            </a:pPr>
            <a:r>
              <a:rPr lang="en-US" sz="1200" dirty="0">
                <a:solidFill>
                  <a:srgbClr val="1F2328"/>
                </a:solidFill>
                <a:latin typeface="Calibri" pitchFamily="34" charset="0"/>
                <a:ea typeface="Calibri" pitchFamily="34" charset="-122"/>
                <a:cs typeface="Calibri" pitchFamily="34" charset="-120"/>
              </a:rPr>
              <a:t>Role-based hostel system, Chitkara Univ.</a:t>
            </a:r>
            <a:endParaRPr lang="en-US" sz="1200" dirty="0"/>
          </a:p>
        </p:txBody>
      </p:sp>
      <p:sp>
        <p:nvSpPr>
          <p:cNvPr id="33" name="Text 31"/>
          <p:cNvSpPr txBox="1"/>
          <p:nvPr/>
        </p:nvSpPr>
        <p:spPr>
          <a:xfrm>
            <a:off x="5486400" y="4471416"/>
            <a:ext cx="3200400" cy="731520"/>
          </a:xfrm>
          <a:prstGeom prst="rect">
            <a:avLst/>
          </a:prstGeom>
          <a:noFill/>
          <a:ln/>
        </p:spPr>
        <p:txBody>
          <a:bodyPr wrap="square" lIns="0" tIns="0" rIns="0" bIns="0" rtlCol="0" anchor="ctr"/>
          <a:lstStyle/>
          <a:p>
            <a:pPr marL="0" indent="0">
              <a:buNone/>
            </a:pPr>
            <a:r>
              <a:rPr lang="en-US" sz="1100" dirty="0">
                <a:solidFill>
                  <a:srgbClr val="1F2328"/>
                </a:solidFill>
                <a:latin typeface="Calibri" pitchFamily="34" charset="0"/>
                <a:ea typeface="Calibri" pitchFamily="34" charset="-122"/>
                <a:cs typeface="Calibri" pitchFamily="34" charset="-120"/>
              </a:rPr>
              <a:t>Three-tier web system for students and wardens: gate passes, maintenance requests, history logs.</a:t>
            </a:r>
            <a:endParaRPr lang="en-US" sz="1100" dirty="0"/>
          </a:p>
        </p:txBody>
      </p:sp>
      <p:sp>
        <p:nvSpPr>
          <p:cNvPr id="34" name="Text 32"/>
          <p:cNvSpPr txBox="1"/>
          <p:nvPr/>
        </p:nvSpPr>
        <p:spPr>
          <a:xfrm>
            <a:off x="8778240" y="4471416"/>
            <a:ext cx="2743200" cy="731520"/>
          </a:xfrm>
          <a:prstGeom prst="rect">
            <a:avLst/>
          </a:prstGeom>
          <a:noFill/>
          <a:ln/>
        </p:spPr>
        <p:txBody>
          <a:bodyPr wrap="square" lIns="0" tIns="0" rIns="0" bIns="0" rtlCol="0" anchor="ctr"/>
          <a:lstStyle/>
          <a:p>
            <a:pPr marL="0" indent="0">
              <a:buNone/>
            </a:pPr>
            <a:r>
              <a:rPr lang="en-US" sz="1100" b="1" dirty="0">
                <a:solidFill>
                  <a:srgbClr val="2A7F86"/>
                </a:solidFill>
                <a:latin typeface="Calibri" pitchFamily="34" charset="0"/>
                <a:ea typeface="Calibri" pitchFamily="34" charset="-122"/>
                <a:cs typeface="Calibri" pitchFamily="34" charset="-120"/>
              </a:rPr>
              <a:t>Role-based access and request tracking.</a:t>
            </a:r>
            <a:endParaRPr lang="en-US" sz="1100" dirty="0"/>
          </a:p>
        </p:txBody>
      </p:sp>
      <p:sp>
        <p:nvSpPr>
          <p:cNvPr id="35" name="Shape 33"/>
          <p:cNvSpPr/>
          <p:nvPr/>
        </p:nvSpPr>
        <p:spPr>
          <a:xfrm>
            <a:off x="548640" y="5276088"/>
            <a:ext cx="11064240" cy="731520"/>
          </a:xfrm>
          <a:prstGeom prst="rect">
            <a:avLst/>
          </a:prstGeom>
          <a:solidFill>
            <a:srgbClr val="FFFFFF"/>
          </a:solidFill>
          <a:ln w="12700">
            <a:solidFill>
              <a:srgbClr val="D9D6CE"/>
            </a:solidFill>
            <a:prstDash val="solid"/>
          </a:ln>
        </p:spPr>
      </p:sp>
      <p:sp>
        <p:nvSpPr>
          <p:cNvPr id="36" name="Shape 34"/>
          <p:cNvSpPr/>
          <p:nvPr/>
        </p:nvSpPr>
        <p:spPr>
          <a:xfrm>
            <a:off x="548640" y="5276088"/>
            <a:ext cx="64008" cy="731520"/>
          </a:xfrm>
          <a:prstGeom prst="rect">
            <a:avLst/>
          </a:prstGeom>
          <a:solidFill>
            <a:srgbClr val="2A7F86"/>
          </a:solidFill>
          <a:ln/>
        </p:spPr>
      </p:sp>
      <p:sp>
        <p:nvSpPr>
          <p:cNvPr id="37" name="Text 35"/>
          <p:cNvSpPr txBox="1"/>
          <p:nvPr/>
        </p:nvSpPr>
        <p:spPr>
          <a:xfrm>
            <a:off x="731520" y="5276088"/>
            <a:ext cx="1371600" cy="731520"/>
          </a:xfrm>
          <a:prstGeom prst="rect">
            <a:avLst/>
          </a:prstGeom>
          <a:noFill/>
          <a:ln/>
        </p:spPr>
        <p:txBody>
          <a:bodyPr wrap="square" lIns="0" tIns="0" rIns="0" bIns="0" rtlCol="0" anchor="ctr"/>
          <a:lstStyle/>
          <a:p>
            <a:pPr marL="0" indent="0">
              <a:buNone/>
            </a:pPr>
            <a:r>
              <a:rPr lang="en-US" sz="1200" b="1" dirty="0">
                <a:solidFill>
                  <a:srgbClr val="14263F"/>
                </a:solidFill>
                <a:latin typeface="Calibri" pitchFamily="34" charset="0"/>
                <a:ea typeface="Calibri" pitchFamily="34" charset="-122"/>
                <a:cs typeface="Calibri" pitchFamily="34" charset="-120"/>
              </a:rPr>
              <a:t>[5] Okokpujie et al., 2018</a:t>
            </a:r>
            <a:endParaRPr lang="en-US" sz="1200" dirty="0"/>
          </a:p>
        </p:txBody>
      </p:sp>
      <p:sp>
        <p:nvSpPr>
          <p:cNvPr id="38" name="Text 36"/>
          <p:cNvSpPr txBox="1"/>
          <p:nvPr/>
        </p:nvSpPr>
        <p:spPr>
          <a:xfrm>
            <a:off x="2103120" y="5276088"/>
            <a:ext cx="3291840" cy="731520"/>
          </a:xfrm>
          <a:prstGeom prst="rect">
            <a:avLst/>
          </a:prstGeom>
          <a:noFill/>
          <a:ln/>
        </p:spPr>
        <p:txBody>
          <a:bodyPr wrap="square" lIns="0" tIns="0" rIns="0" bIns="0" rtlCol="0" anchor="ctr"/>
          <a:lstStyle/>
          <a:p>
            <a:pPr marL="0" indent="0">
              <a:buNone/>
            </a:pPr>
            <a:r>
              <a:rPr lang="en-US" sz="1200" dirty="0">
                <a:solidFill>
                  <a:srgbClr val="1F2328"/>
                </a:solidFill>
                <a:latin typeface="Calibri" pitchFamily="34" charset="0"/>
                <a:ea typeface="Calibri" pitchFamily="34" charset="-122"/>
                <a:cs typeface="Calibri" pitchFamily="34" charset="-120"/>
              </a:rPr>
              <a:t>Smart hostel management using RFID and biometrics</a:t>
            </a:r>
            <a:endParaRPr lang="en-US" sz="1200" dirty="0"/>
          </a:p>
        </p:txBody>
      </p:sp>
      <p:sp>
        <p:nvSpPr>
          <p:cNvPr id="39" name="Text 37"/>
          <p:cNvSpPr txBox="1"/>
          <p:nvPr/>
        </p:nvSpPr>
        <p:spPr>
          <a:xfrm>
            <a:off x="5486400" y="5276088"/>
            <a:ext cx="3200400" cy="731520"/>
          </a:xfrm>
          <a:prstGeom prst="rect">
            <a:avLst/>
          </a:prstGeom>
          <a:noFill/>
          <a:ln/>
        </p:spPr>
        <p:txBody>
          <a:bodyPr wrap="square" lIns="0" tIns="0" rIns="0" bIns="0" rtlCol="0" anchor="ctr"/>
          <a:lstStyle/>
          <a:p>
            <a:pPr marL="0" indent="0">
              <a:buNone/>
            </a:pPr>
            <a:r>
              <a:rPr lang="en-US" sz="1100" dirty="0">
                <a:solidFill>
                  <a:srgbClr val="1F2328"/>
                </a:solidFill>
                <a:latin typeface="Calibri" pitchFamily="34" charset="0"/>
                <a:ea typeface="Calibri" pitchFamily="34" charset="-122"/>
                <a:cs typeface="Calibri" pitchFamily="34" charset="-120"/>
              </a:rPr>
              <a:t>Title-level review: identity-linked hostel management.</a:t>
            </a:r>
            <a:endParaRPr lang="en-US" sz="1100" dirty="0"/>
          </a:p>
        </p:txBody>
      </p:sp>
      <p:sp>
        <p:nvSpPr>
          <p:cNvPr id="40" name="Text 38"/>
          <p:cNvSpPr txBox="1"/>
          <p:nvPr/>
        </p:nvSpPr>
        <p:spPr>
          <a:xfrm>
            <a:off x="8778240" y="5276088"/>
            <a:ext cx="2743200" cy="731520"/>
          </a:xfrm>
          <a:prstGeom prst="rect">
            <a:avLst/>
          </a:prstGeom>
          <a:noFill/>
          <a:ln/>
        </p:spPr>
        <p:txBody>
          <a:bodyPr wrap="square" lIns="0" tIns="0" rIns="0" bIns="0" rtlCol="0" anchor="ctr"/>
          <a:lstStyle/>
          <a:p>
            <a:pPr marL="0" indent="0">
              <a:buNone/>
            </a:pPr>
            <a:r>
              <a:rPr lang="en-US" sz="1100" b="1" dirty="0">
                <a:solidFill>
                  <a:srgbClr val="2A7F86"/>
                </a:solidFill>
                <a:latin typeface="Calibri" pitchFamily="34" charset="0"/>
                <a:ea typeface="Calibri" pitchFamily="34" charset="-122"/>
                <a:cs typeface="Calibri" pitchFamily="34" charset="-120"/>
              </a:rPr>
              <a:t>Context on identity verification; scope to be checked.</a:t>
            </a:r>
            <a:endParaRPr lang="en-US" sz="1100" dirty="0"/>
          </a:p>
        </p:txBody>
      </p:sp>
      <p:sp>
        <p:nvSpPr>
          <p:cNvPr id="41" name="Text 39"/>
          <p:cNvSpPr txBox="1"/>
          <p:nvPr/>
        </p:nvSpPr>
        <p:spPr>
          <a:xfrm>
            <a:off x="548640" y="6217920"/>
            <a:ext cx="11064240" cy="228600"/>
          </a:xfrm>
          <a:prstGeom prst="rect">
            <a:avLst/>
          </a:prstGeom>
          <a:noFill/>
          <a:ln/>
        </p:spPr>
        <p:txBody>
          <a:bodyPr wrap="square" lIns="0" tIns="0" rIns="0" bIns="0" rtlCol="0" anchor="t"/>
          <a:lstStyle/>
          <a:p>
            <a:pPr marL="0" indent="0">
              <a:buNone/>
            </a:pPr>
            <a:r>
              <a:rPr lang="en-US" sz="900" i="1" dirty="0">
                <a:solidFill>
                  <a:srgbClr val="5F6672"/>
                </a:solidFill>
                <a:latin typeface="Calibri" pitchFamily="34" charset="0"/>
                <a:ea typeface="Calibri" pitchFamily="34" charset="-122"/>
                <a:cs typeface="Calibri" pitchFamily="34" charset="-120"/>
              </a:rPr>
              <a:t>Several sources are student project reports or dissertations; they show common approaches but vary in peer-review level.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100" b="1" kern="0" spc="300" dirty="0">
                <a:solidFill>
                  <a:srgbClr val="2A7F86"/>
                </a:solidFill>
                <a:latin typeface="Calibri" pitchFamily="34" charset="0"/>
                <a:ea typeface="Calibri" pitchFamily="34" charset="-122"/>
                <a:cs typeface="Calibri" pitchFamily="34" charset="-120"/>
              </a:rPr>
              <a:t>LITERATURE REVIEW (2 OF 2)</a:t>
            </a:r>
            <a:endParaRPr lang="en-US" sz="1100" dirty="0"/>
          </a:p>
        </p:txBody>
      </p:sp>
      <p:sp>
        <p:nvSpPr>
          <p:cNvPr id="3" name="Text 1"/>
          <p:cNvSpPr txBox="1"/>
          <p:nvPr/>
        </p:nvSpPr>
        <p:spPr>
          <a:xfrm>
            <a:off x="548640" y="640080"/>
            <a:ext cx="11064240" cy="548640"/>
          </a:xfrm>
          <a:prstGeom prst="rect">
            <a:avLst/>
          </a:prstGeom>
          <a:noFill/>
          <a:ln/>
        </p:spPr>
        <p:txBody>
          <a:bodyPr wrap="square" lIns="0" tIns="0" rIns="0" bIns="0" rtlCol="0" anchor="t"/>
          <a:lstStyle/>
          <a:p>
            <a:pPr marL="0" indent="0">
              <a:buNone/>
            </a:pPr>
            <a:r>
              <a:rPr lang="en-US" sz="2700" b="1" dirty="0">
                <a:solidFill>
                  <a:srgbClr val="14263F"/>
                </a:solidFill>
                <a:latin typeface="Calibri" pitchFamily="34" charset="0"/>
                <a:ea typeface="Calibri" pitchFamily="34" charset="-122"/>
                <a:cs typeface="Calibri" pitchFamily="34" charset="-120"/>
              </a:rPr>
              <a:t>What Existing Work Documents — and Where Opportunities Remain</a:t>
            </a:r>
            <a:endParaRPr lang="en-US" sz="2700" dirty="0"/>
          </a:p>
        </p:txBody>
      </p:sp>
      <p:sp>
        <p:nvSpPr>
          <p:cNvPr id="4" name="Text 2"/>
          <p:cNvSpPr txBox="1"/>
          <p:nvPr/>
        </p:nvSpPr>
        <p:spPr>
          <a:xfrm>
            <a:off x="548640" y="6492240"/>
            <a:ext cx="7315200" cy="228600"/>
          </a:xfrm>
          <a:prstGeom prst="rect">
            <a:avLst/>
          </a:prstGeom>
          <a:noFill/>
          <a:ln/>
        </p:spPr>
        <p:txBody>
          <a:bodyPr wrap="square" lIns="0" tIns="0" rIns="0" bIns="0" rtlCol="0" anchor="t"/>
          <a:lstStyle/>
          <a:p>
            <a:pPr marL="0" indent="0">
              <a:buNone/>
            </a:pPr>
            <a:r>
              <a:rPr lang="en-US" sz="900" dirty="0">
                <a:solidFill>
                  <a:srgbClr val="5F6672"/>
                </a:solidFill>
                <a:latin typeface="Calibri" pitchFamily="34" charset="0"/>
                <a:ea typeface="Calibri" pitchFamily="34" charset="-122"/>
                <a:cs typeface="Calibri" pitchFamily="34" charset="-120"/>
              </a:rPr>
              <a:t>SIT Tumakuru · Dept. of CSE · Community Project Phase-I, 2026–27</a:t>
            </a:r>
            <a:endParaRPr lang="en-US" sz="900" dirty="0"/>
          </a:p>
        </p:txBody>
      </p:sp>
      <p:sp>
        <p:nvSpPr>
          <p:cNvPr id="5" name="Text 3"/>
          <p:cNvSpPr txBox="1"/>
          <p:nvPr/>
        </p:nvSpPr>
        <p:spPr>
          <a:xfrm>
            <a:off x="11155680" y="6492240"/>
            <a:ext cx="457200" cy="228600"/>
          </a:xfrm>
          <a:prstGeom prst="rect">
            <a:avLst/>
          </a:prstGeom>
          <a:noFill/>
          <a:ln/>
        </p:spPr>
        <p:txBody>
          <a:bodyPr wrap="square" lIns="0" tIns="0" rIns="0" bIns="0" rtlCol="0" anchor="t"/>
          <a:lstStyle/>
          <a:p>
            <a:pPr marL="0" indent="0" algn="r">
              <a:buNone/>
            </a:pPr>
            <a:r>
              <a:rPr lang="en-US" sz="900" dirty="0">
                <a:solidFill>
                  <a:srgbClr val="5F6672"/>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2194560" y="1691640"/>
            <a:ext cx="1051560" cy="457200"/>
          </a:xfrm>
          <a:prstGeom prst="rect">
            <a:avLst/>
          </a:prstGeom>
          <a:noFill/>
          <a:ln/>
        </p:spPr>
        <p:txBody>
          <a:bodyPr wrap="square" lIns="0" tIns="0" rIns="0" bIns="0" rtlCol="0" anchor="t"/>
          <a:lstStyle/>
          <a:p>
            <a:pPr marL="0" indent="0" algn="ctr">
              <a:buNone/>
            </a:pPr>
            <a:r>
              <a:rPr lang="en-US" sz="1000" b="1" dirty="0">
                <a:solidFill>
                  <a:srgbClr val="5F6672"/>
                </a:solidFill>
                <a:latin typeface="Calibri" pitchFamily="34" charset="0"/>
                <a:ea typeface="Calibri" pitchFamily="34" charset="-122"/>
                <a:cs typeface="Calibri" pitchFamily="34" charset="-120"/>
              </a:rPr>
              <a:t>Digital records</a:t>
            </a:r>
            <a:endParaRPr lang="en-US" sz="1000" dirty="0"/>
          </a:p>
        </p:txBody>
      </p:sp>
      <p:sp>
        <p:nvSpPr>
          <p:cNvPr id="7" name="Text 5"/>
          <p:cNvSpPr txBox="1"/>
          <p:nvPr/>
        </p:nvSpPr>
        <p:spPr>
          <a:xfrm>
            <a:off x="3291840" y="1691640"/>
            <a:ext cx="1051560" cy="457200"/>
          </a:xfrm>
          <a:prstGeom prst="rect">
            <a:avLst/>
          </a:prstGeom>
          <a:noFill/>
          <a:ln/>
        </p:spPr>
        <p:txBody>
          <a:bodyPr wrap="square" lIns="0" tIns="0" rIns="0" bIns="0" rtlCol="0" anchor="t"/>
          <a:lstStyle/>
          <a:p>
            <a:pPr marL="0" indent="0" algn="ctr">
              <a:buNone/>
            </a:pPr>
            <a:r>
              <a:rPr lang="en-US" sz="1000" b="1" dirty="0">
                <a:solidFill>
                  <a:srgbClr val="5F6672"/>
                </a:solidFill>
                <a:latin typeface="Calibri" pitchFamily="34" charset="0"/>
                <a:ea typeface="Calibri" pitchFamily="34" charset="-122"/>
                <a:cs typeface="Calibri" pitchFamily="34" charset="-120"/>
              </a:rPr>
              <a:t>Automated allocation</a:t>
            </a:r>
            <a:endParaRPr lang="en-US" sz="1000" dirty="0"/>
          </a:p>
        </p:txBody>
      </p:sp>
      <p:sp>
        <p:nvSpPr>
          <p:cNvPr id="8" name="Text 6"/>
          <p:cNvSpPr txBox="1"/>
          <p:nvPr/>
        </p:nvSpPr>
        <p:spPr>
          <a:xfrm>
            <a:off x="4389120" y="1691640"/>
            <a:ext cx="1051560" cy="457200"/>
          </a:xfrm>
          <a:prstGeom prst="rect">
            <a:avLst/>
          </a:prstGeom>
          <a:noFill/>
          <a:ln/>
        </p:spPr>
        <p:txBody>
          <a:bodyPr wrap="square" lIns="0" tIns="0" rIns="0" bIns="0" rtlCol="0" anchor="t"/>
          <a:lstStyle/>
          <a:p>
            <a:pPr marL="0" indent="0" algn="ctr">
              <a:buNone/>
            </a:pPr>
            <a:r>
              <a:rPr lang="en-US" sz="1000" b="1" dirty="0">
                <a:solidFill>
                  <a:srgbClr val="5F6672"/>
                </a:solidFill>
                <a:latin typeface="Calibri" pitchFamily="34" charset="0"/>
                <a:ea typeface="Calibri" pitchFamily="34" charset="-122"/>
                <a:cs typeface="Calibri" pitchFamily="34" charset="-120"/>
              </a:rPr>
              <a:t>Priority-aware</a:t>
            </a:r>
            <a:endParaRPr lang="en-US" sz="1000" dirty="0"/>
          </a:p>
        </p:txBody>
      </p:sp>
      <p:sp>
        <p:nvSpPr>
          <p:cNvPr id="9" name="Text 7"/>
          <p:cNvSpPr txBox="1"/>
          <p:nvPr/>
        </p:nvSpPr>
        <p:spPr>
          <a:xfrm>
            <a:off x="5486400" y="1691640"/>
            <a:ext cx="1051560" cy="457200"/>
          </a:xfrm>
          <a:prstGeom prst="rect">
            <a:avLst/>
          </a:prstGeom>
          <a:noFill/>
          <a:ln/>
        </p:spPr>
        <p:txBody>
          <a:bodyPr wrap="square" lIns="0" tIns="0" rIns="0" bIns="0" rtlCol="0" anchor="t"/>
          <a:lstStyle/>
          <a:p>
            <a:pPr marL="0" indent="0" algn="ctr">
              <a:buNone/>
            </a:pPr>
            <a:r>
              <a:rPr lang="en-US" sz="1000" b="1" dirty="0">
                <a:solidFill>
                  <a:srgbClr val="5F6672"/>
                </a:solidFill>
                <a:latin typeface="Calibri" pitchFamily="34" charset="0"/>
                <a:ea typeface="Calibri" pitchFamily="34" charset="-122"/>
                <a:cs typeface="Calibri" pitchFamily="34" charset="-120"/>
              </a:rPr>
              <a:t>Seat-level</a:t>
            </a:r>
            <a:endParaRPr lang="en-US" sz="1000" dirty="0"/>
          </a:p>
        </p:txBody>
      </p:sp>
      <p:sp>
        <p:nvSpPr>
          <p:cNvPr id="10" name="Text 8"/>
          <p:cNvSpPr txBox="1"/>
          <p:nvPr/>
        </p:nvSpPr>
        <p:spPr>
          <a:xfrm>
            <a:off x="6583680" y="1691640"/>
            <a:ext cx="1051560" cy="457200"/>
          </a:xfrm>
          <a:prstGeom prst="rect">
            <a:avLst/>
          </a:prstGeom>
          <a:noFill/>
          <a:ln/>
        </p:spPr>
        <p:txBody>
          <a:bodyPr wrap="square" lIns="0" tIns="0" rIns="0" bIns="0" rtlCol="0" anchor="t"/>
          <a:lstStyle/>
          <a:p>
            <a:pPr marL="0" indent="0" algn="ctr">
              <a:buNone/>
            </a:pPr>
            <a:r>
              <a:rPr lang="en-US" sz="1000" b="1" dirty="0">
                <a:solidFill>
                  <a:srgbClr val="5F6672"/>
                </a:solidFill>
                <a:latin typeface="Calibri" pitchFamily="34" charset="0"/>
                <a:ea typeface="Calibri" pitchFamily="34" charset="-122"/>
                <a:cs typeface="Calibri" pitchFamily="34" charset="-120"/>
              </a:rPr>
              <a:t>Live occupancy</a:t>
            </a:r>
            <a:endParaRPr lang="en-US" sz="1000" dirty="0"/>
          </a:p>
        </p:txBody>
      </p:sp>
      <p:sp>
        <p:nvSpPr>
          <p:cNvPr id="11" name="Text 9"/>
          <p:cNvSpPr txBox="1"/>
          <p:nvPr/>
        </p:nvSpPr>
        <p:spPr>
          <a:xfrm>
            <a:off x="7680960" y="1691640"/>
            <a:ext cx="1051560" cy="457200"/>
          </a:xfrm>
          <a:prstGeom prst="rect">
            <a:avLst/>
          </a:prstGeom>
          <a:noFill/>
          <a:ln/>
        </p:spPr>
        <p:txBody>
          <a:bodyPr wrap="square" lIns="0" tIns="0" rIns="0" bIns="0" rtlCol="0" anchor="t"/>
          <a:lstStyle/>
          <a:p>
            <a:pPr marL="0" indent="0" algn="ctr">
              <a:buNone/>
            </a:pPr>
            <a:r>
              <a:rPr lang="en-US" sz="1000" b="1" dirty="0">
                <a:solidFill>
                  <a:srgbClr val="5F6672"/>
                </a:solidFill>
                <a:latin typeface="Calibri" pitchFamily="34" charset="0"/>
                <a:ea typeface="Calibri" pitchFamily="34" charset="-122"/>
                <a:cs typeface="Calibri" pitchFamily="34" charset="-120"/>
              </a:rPr>
              <a:t>Audit trail</a:t>
            </a:r>
            <a:endParaRPr lang="en-US" sz="1000" dirty="0"/>
          </a:p>
        </p:txBody>
      </p:sp>
      <p:sp>
        <p:nvSpPr>
          <p:cNvPr id="12" name="Text 10"/>
          <p:cNvSpPr txBox="1"/>
          <p:nvPr/>
        </p:nvSpPr>
        <p:spPr>
          <a:xfrm>
            <a:off x="8778240" y="1691640"/>
            <a:ext cx="1051560" cy="457200"/>
          </a:xfrm>
          <a:prstGeom prst="rect">
            <a:avLst/>
          </a:prstGeom>
          <a:noFill/>
          <a:ln/>
        </p:spPr>
        <p:txBody>
          <a:bodyPr wrap="square" lIns="0" tIns="0" rIns="0" bIns="0" rtlCol="0" anchor="t"/>
          <a:lstStyle/>
          <a:p>
            <a:pPr marL="0" indent="0" algn="ctr">
              <a:buNone/>
            </a:pPr>
            <a:r>
              <a:rPr lang="en-US" sz="1000" b="1" dirty="0">
                <a:solidFill>
                  <a:srgbClr val="5F6672"/>
                </a:solidFill>
                <a:latin typeface="Calibri" pitchFamily="34" charset="0"/>
                <a:ea typeface="Calibri" pitchFamily="34" charset="-122"/>
                <a:cs typeface="Calibri" pitchFamily="34" charset="-120"/>
              </a:rPr>
              <a:t>Role-based access</a:t>
            </a:r>
            <a:endParaRPr lang="en-US" sz="1000" dirty="0"/>
          </a:p>
        </p:txBody>
      </p:sp>
      <p:sp>
        <p:nvSpPr>
          <p:cNvPr id="13" name="Text 11"/>
          <p:cNvSpPr txBox="1"/>
          <p:nvPr/>
        </p:nvSpPr>
        <p:spPr>
          <a:xfrm>
            <a:off x="9875520" y="1691640"/>
            <a:ext cx="1051560" cy="457200"/>
          </a:xfrm>
          <a:prstGeom prst="rect">
            <a:avLst/>
          </a:prstGeom>
          <a:noFill/>
          <a:ln/>
        </p:spPr>
        <p:txBody>
          <a:bodyPr wrap="square" lIns="0" tIns="0" rIns="0" bIns="0" rtlCol="0" anchor="t"/>
          <a:lstStyle/>
          <a:p>
            <a:pPr marL="0" indent="0" algn="ctr">
              <a:buNone/>
            </a:pPr>
            <a:r>
              <a:rPr lang="en-US" sz="1000" b="1" dirty="0">
                <a:solidFill>
                  <a:srgbClr val="5F6672"/>
                </a:solidFill>
                <a:latin typeface="Calibri" pitchFamily="34" charset="0"/>
                <a:ea typeface="Calibri" pitchFamily="34" charset="-122"/>
                <a:cs typeface="Calibri" pitchFamily="34" charset="-120"/>
              </a:rPr>
              <a:t>Complaints / requests</a:t>
            </a:r>
            <a:endParaRPr lang="en-US" sz="1000" dirty="0"/>
          </a:p>
        </p:txBody>
      </p:sp>
      <p:sp>
        <p:nvSpPr>
          <p:cNvPr id="14" name="Text 12"/>
          <p:cNvSpPr txBox="1"/>
          <p:nvPr/>
        </p:nvSpPr>
        <p:spPr>
          <a:xfrm>
            <a:off x="548640" y="2194560"/>
            <a:ext cx="1554480" cy="411480"/>
          </a:xfrm>
          <a:prstGeom prst="rect">
            <a:avLst/>
          </a:prstGeom>
          <a:noFill/>
          <a:ln/>
        </p:spPr>
        <p:txBody>
          <a:bodyPr wrap="square" lIns="0" tIns="0" rIns="0" bIns="0" rtlCol="0" anchor="ctr"/>
          <a:lstStyle/>
          <a:p>
            <a:pPr marL="0" indent="0">
              <a:buNone/>
            </a:pPr>
            <a:r>
              <a:rPr lang="en-US" sz="1200" b="1" dirty="0">
                <a:solidFill>
                  <a:srgbClr val="14263F"/>
                </a:solidFill>
                <a:latin typeface="Calibri" pitchFamily="34" charset="0"/>
                <a:ea typeface="Calibri" pitchFamily="34" charset="-122"/>
                <a:cs typeface="Calibri" pitchFamily="34" charset="-120"/>
              </a:rPr>
              <a:t>[1] Tharu</a:t>
            </a:r>
            <a:endParaRPr lang="en-US" sz="1200" dirty="0"/>
          </a:p>
        </p:txBody>
      </p:sp>
      <p:sp>
        <p:nvSpPr>
          <p:cNvPr id="15" name="Shape 13"/>
          <p:cNvSpPr/>
          <p:nvPr/>
        </p:nvSpPr>
        <p:spPr>
          <a:xfrm>
            <a:off x="2194560" y="2194560"/>
            <a:ext cx="1051560" cy="411480"/>
          </a:xfrm>
          <a:prstGeom prst="rect">
            <a:avLst/>
          </a:prstGeom>
          <a:solidFill>
            <a:srgbClr val="D5EBDD"/>
          </a:solidFill>
          <a:ln w="12700">
            <a:solidFill>
              <a:srgbClr val="D9D6CE"/>
            </a:solidFill>
            <a:prstDash val="solid"/>
          </a:ln>
        </p:spPr>
      </p:sp>
      <p:sp>
        <p:nvSpPr>
          <p:cNvPr id="16" name="Text 14"/>
          <p:cNvSpPr txBox="1"/>
          <p:nvPr/>
        </p:nvSpPr>
        <p:spPr>
          <a:xfrm>
            <a:off x="2194560" y="2194560"/>
            <a:ext cx="1051560" cy="411480"/>
          </a:xfrm>
          <a:prstGeom prst="rect">
            <a:avLst/>
          </a:prstGeom>
          <a:noFill/>
          <a:ln/>
        </p:spPr>
        <p:txBody>
          <a:bodyPr wrap="square" lIns="0" tIns="0" rIns="0" bIns="0" rtlCol="0" anchor="ctr"/>
          <a:lstStyle/>
          <a:p>
            <a:pPr marL="0" indent="0" algn="ctr">
              <a:buNone/>
            </a:pPr>
            <a:r>
              <a:rPr lang="en-US" sz="800" dirty="0">
                <a:solidFill>
                  <a:srgbClr val="2F7D4F"/>
                </a:solidFill>
                <a:latin typeface="Calibri" pitchFamily="34" charset="0"/>
                <a:ea typeface="Calibri" pitchFamily="34" charset="-122"/>
                <a:cs typeface="Calibri" pitchFamily="34" charset="-120"/>
              </a:rPr>
              <a:t>documented</a:t>
            </a:r>
            <a:endParaRPr lang="en-US" sz="800" dirty="0"/>
          </a:p>
        </p:txBody>
      </p:sp>
      <p:sp>
        <p:nvSpPr>
          <p:cNvPr id="17" name="Shape 15"/>
          <p:cNvSpPr/>
          <p:nvPr/>
        </p:nvSpPr>
        <p:spPr>
          <a:xfrm>
            <a:off x="3291840" y="2194560"/>
            <a:ext cx="1051560" cy="411480"/>
          </a:xfrm>
          <a:prstGeom prst="rect">
            <a:avLst/>
          </a:prstGeom>
          <a:solidFill>
            <a:srgbClr val="F0EEE8"/>
          </a:solidFill>
          <a:ln w="12700">
            <a:solidFill>
              <a:srgbClr val="D9D6CE"/>
            </a:solidFill>
            <a:prstDash val="solid"/>
          </a:ln>
        </p:spPr>
      </p:sp>
      <p:sp>
        <p:nvSpPr>
          <p:cNvPr id="18" name="Text 16"/>
          <p:cNvSpPr txBox="1"/>
          <p:nvPr/>
        </p:nvSpPr>
        <p:spPr>
          <a:xfrm>
            <a:off x="3291840" y="219456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19" name="Shape 17"/>
          <p:cNvSpPr/>
          <p:nvPr/>
        </p:nvSpPr>
        <p:spPr>
          <a:xfrm>
            <a:off x="4389120" y="2194560"/>
            <a:ext cx="1051560" cy="411480"/>
          </a:xfrm>
          <a:prstGeom prst="rect">
            <a:avLst/>
          </a:prstGeom>
          <a:solidFill>
            <a:srgbClr val="F0EEE8"/>
          </a:solidFill>
          <a:ln w="12700">
            <a:solidFill>
              <a:srgbClr val="D9D6CE"/>
            </a:solidFill>
            <a:prstDash val="solid"/>
          </a:ln>
        </p:spPr>
      </p:sp>
      <p:sp>
        <p:nvSpPr>
          <p:cNvPr id="20" name="Text 18"/>
          <p:cNvSpPr txBox="1"/>
          <p:nvPr/>
        </p:nvSpPr>
        <p:spPr>
          <a:xfrm>
            <a:off x="4389120" y="219456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21" name="Shape 19"/>
          <p:cNvSpPr/>
          <p:nvPr/>
        </p:nvSpPr>
        <p:spPr>
          <a:xfrm>
            <a:off x="5486400" y="2194560"/>
            <a:ext cx="1051560" cy="411480"/>
          </a:xfrm>
          <a:prstGeom prst="rect">
            <a:avLst/>
          </a:prstGeom>
          <a:solidFill>
            <a:srgbClr val="F0EEE8"/>
          </a:solidFill>
          <a:ln w="12700">
            <a:solidFill>
              <a:srgbClr val="D9D6CE"/>
            </a:solidFill>
            <a:prstDash val="solid"/>
          </a:ln>
        </p:spPr>
      </p:sp>
      <p:sp>
        <p:nvSpPr>
          <p:cNvPr id="22" name="Text 20"/>
          <p:cNvSpPr txBox="1"/>
          <p:nvPr/>
        </p:nvSpPr>
        <p:spPr>
          <a:xfrm>
            <a:off x="5486400" y="219456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23" name="Shape 21"/>
          <p:cNvSpPr/>
          <p:nvPr/>
        </p:nvSpPr>
        <p:spPr>
          <a:xfrm>
            <a:off x="6583680" y="2194560"/>
            <a:ext cx="1051560" cy="411480"/>
          </a:xfrm>
          <a:prstGeom prst="rect">
            <a:avLst/>
          </a:prstGeom>
          <a:solidFill>
            <a:srgbClr val="F0EEE8"/>
          </a:solidFill>
          <a:ln w="12700">
            <a:solidFill>
              <a:srgbClr val="D9D6CE"/>
            </a:solidFill>
            <a:prstDash val="solid"/>
          </a:ln>
        </p:spPr>
      </p:sp>
      <p:sp>
        <p:nvSpPr>
          <p:cNvPr id="24" name="Text 22"/>
          <p:cNvSpPr txBox="1"/>
          <p:nvPr/>
        </p:nvSpPr>
        <p:spPr>
          <a:xfrm>
            <a:off x="6583680" y="219456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25" name="Shape 23"/>
          <p:cNvSpPr/>
          <p:nvPr/>
        </p:nvSpPr>
        <p:spPr>
          <a:xfrm>
            <a:off x="7680960" y="2194560"/>
            <a:ext cx="1051560" cy="411480"/>
          </a:xfrm>
          <a:prstGeom prst="rect">
            <a:avLst/>
          </a:prstGeom>
          <a:solidFill>
            <a:srgbClr val="D5EBDD"/>
          </a:solidFill>
          <a:ln w="12700">
            <a:solidFill>
              <a:srgbClr val="D9D6CE"/>
            </a:solidFill>
            <a:prstDash val="solid"/>
          </a:ln>
        </p:spPr>
      </p:sp>
      <p:sp>
        <p:nvSpPr>
          <p:cNvPr id="26" name="Text 24"/>
          <p:cNvSpPr txBox="1"/>
          <p:nvPr/>
        </p:nvSpPr>
        <p:spPr>
          <a:xfrm>
            <a:off x="7680960" y="2194560"/>
            <a:ext cx="1051560" cy="411480"/>
          </a:xfrm>
          <a:prstGeom prst="rect">
            <a:avLst/>
          </a:prstGeom>
          <a:noFill/>
          <a:ln/>
        </p:spPr>
        <p:txBody>
          <a:bodyPr wrap="square" lIns="0" tIns="0" rIns="0" bIns="0" rtlCol="0" anchor="ctr"/>
          <a:lstStyle/>
          <a:p>
            <a:pPr marL="0" indent="0" algn="ctr">
              <a:buNone/>
            </a:pPr>
            <a:r>
              <a:rPr lang="en-US" sz="800" dirty="0">
                <a:solidFill>
                  <a:srgbClr val="2F7D4F"/>
                </a:solidFill>
                <a:latin typeface="Calibri" pitchFamily="34" charset="0"/>
                <a:ea typeface="Calibri" pitchFamily="34" charset="-122"/>
                <a:cs typeface="Calibri" pitchFamily="34" charset="-120"/>
              </a:rPr>
              <a:t>documented</a:t>
            </a:r>
            <a:endParaRPr lang="en-US" sz="800" dirty="0"/>
          </a:p>
        </p:txBody>
      </p:sp>
      <p:sp>
        <p:nvSpPr>
          <p:cNvPr id="27" name="Shape 25"/>
          <p:cNvSpPr/>
          <p:nvPr/>
        </p:nvSpPr>
        <p:spPr>
          <a:xfrm>
            <a:off x="8778240" y="2194560"/>
            <a:ext cx="1051560" cy="411480"/>
          </a:xfrm>
          <a:prstGeom prst="rect">
            <a:avLst/>
          </a:prstGeom>
          <a:solidFill>
            <a:srgbClr val="D5EBDD"/>
          </a:solidFill>
          <a:ln w="12700">
            <a:solidFill>
              <a:srgbClr val="D9D6CE"/>
            </a:solidFill>
            <a:prstDash val="solid"/>
          </a:ln>
        </p:spPr>
      </p:sp>
      <p:sp>
        <p:nvSpPr>
          <p:cNvPr id="28" name="Text 26"/>
          <p:cNvSpPr txBox="1"/>
          <p:nvPr/>
        </p:nvSpPr>
        <p:spPr>
          <a:xfrm>
            <a:off x="8778240" y="2194560"/>
            <a:ext cx="1051560" cy="411480"/>
          </a:xfrm>
          <a:prstGeom prst="rect">
            <a:avLst/>
          </a:prstGeom>
          <a:noFill/>
          <a:ln/>
        </p:spPr>
        <p:txBody>
          <a:bodyPr wrap="square" lIns="0" tIns="0" rIns="0" bIns="0" rtlCol="0" anchor="ctr"/>
          <a:lstStyle/>
          <a:p>
            <a:pPr marL="0" indent="0" algn="ctr">
              <a:buNone/>
            </a:pPr>
            <a:r>
              <a:rPr lang="en-US" sz="800" dirty="0">
                <a:solidFill>
                  <a:srgbClr val="2F7D4F"/>
                </a:solidFill>
                <a:latin typeface="Calibri" pitchFamily="34" charset="0"/>
                <a:ea typeface="Calibri" pitchFamily="34" charset="-122"/>
                <a:cs typeface="Calibri" pitchFamily="34" charset="-120"/>
              </a:rPr>
              <a:t>documented</a:t>
            </a:r>
            <a:endParaRPr lang="en-US" sz="800" dirty="0"/>
          </a:p>
        </p:txBody>
      </p:sp>
      <p:sp>
        <p:nvSpPr>
          <p:cNvPr id="29" name="Shape 27"/>
          <p:cNvSpPr/>
          <p:nvPr/>
        </p:nvSpPr>
        <p:spPr>
          <a:xfrm>
            <a:off x="9875520" y="2194560"/>
            <a:ext cx="1051560" cy="411480"/>
          </a:xfrm>
          <a:prstGeom prst="rect">
            <a:avLst/>
          </a:prstGeom>
          <a:solidFill>
            <a:srgbClr val="D5EBDD"/>
          </a:solidFill>
          <a:ln w="12700">
            <a:solidFill>
              <a:srgbClr val="D9D6CE"/>
            </a:solidFill>
            <a:prstDash val="solid"/>
          </a:ln>
        </p:spPr>
      </p:sp>
      <p:sp>
        <p:nvSpPr>
          <p:cNvPr id="30" name="Text 28"/>
          <p:cNvSpPr txBox="1"/>
          <p:nvPr/>
        </p:nvSpPr>
        <p:spPr>
          <a:xfrm>
            <a:off x="9875520" y="2194560"/>
            <a:ext cx="1051560" cy="411480"/>
          </a:xfrm>
          <a:prstGeom prst="rect">
            <a:avLst/>
          </a:prstGeom>
          <a:noFill/>
          <a:ln/>
        </p:spPr>
        <p:txBody>
          <a:bodyPr wrap="square" lIns="0" tIns="0" rIns="0" bIns="0" rtlCol="0" anchor="ctr"/>
          <a:lstStyle/>
          <a:p>
            <a:pPr marL="0" indent="0" algn="ctr">
              <a:buNone/>
            </a:pPr>
            <a:r>
              <a:rPr lang="en-US" sz="800" dirty="0">
                <a:solidFill>
                  <a:srgbClr val="2F7D4F"/>
                </a:solidFill>
                <a:latin typeface="Calibri" pitchFamily="34" charset="0"/>
                <a:ea typeface="Calibri" pitchFamily="34" charset="-122"/>
                <a:cs typeface="Calibri" pitchFamily="34" charset="-120"/>
              </a:rPr>
              <a:t>documented</a:t>
            </a:r>
            <a:endParaRPr lang="en-US" sz="800" dirty="0"/>
          </a:p>
        </p:txBody>
      </p:sp>
      <p:sp>
        <p:nvSpPr>
          <p:cNvPr id="31" name="Text 29"/>
          <p:cNvSpPr txBox="1"/>
          <p:nvPr/>
        </p:nvSpPr>
        <p:spPr>
          <a:xfrm>
            <a:off x="548640" y="2697480"/>
            <a:ext cx="1554480" cy="411480"/>
          </a:xfrm>
          <a:prstGeom prst="rect">
            <a:avLst/>
          </a:prstGeom>
          <a:noFill/>
          <a:ln/>
        </p:spPr>
        <p:txBody>
          <a:bodyPr wrap="square" lIns="0" tIns="0" rIns="0" bIns="0" rtlCol="0" anchor="ctr"/>
          <a:lstStyle/>
          <a:p>
            <a:pPr marL="0" indent="0">
              <a:buNone/>
            </a:pPr>
            <a:r>
              <a:rPr lang="en-US" sz="1200" b="1" dirty="0">
                <a:solidFill>
                  <a:srgbClr val="14263F"/>
                </a:solidFill>
                <a:latin typeface="Calibri" pitchFamily="34" charset="0"/>
                <a:ea typeface="Calibri" pitchFamily="34" charset="-122"/>
                <a:cs typeface="Calibri" pitchFamily="34" charset="-120"/>
              </a:rPr>
              <a:t>[2] Kon</a:t>
            </a:r>
            <a:endParaRPr lang="en-US" sz="1200" dirty="0"/>
          </a:p>
        </p:txBody>
      </p:sp>
      <p:sp>
        <p:nvSpPr>
          <p:cNvPr id="32" name="Shape 30"/>
          <p:cNvSpPr/>
          <p:nvPr/>
        </p:nvSpPr>
        <p:spPr>
          <a:xfrm>
            <a:off x="2194560" y="2697480"/>
            <a:ext cx="1051560" cy="411480"/>
          </a:xfrm>
          <a:prstGeom prst="rect">
            <a:avLst/>
          </a:prstGeom>
          <a:solidFill>
            <a:srgbClr val="F0EEE8"/>
          </a:solidFill>
          <a:ln w="12700">
            <a:solidFill>
              <a:srgbClr val="D9D6CE"/>
            </a:solidFill>
            <a:prstDash val="solid"/>
          </a:ln>
        </p:spPr>
      </p:sp>
      <p:sp>
        <p:nvSpPr>
          <p:cNvPr id="33" name="Text 31"/>
          <p:cNvSpPr txBox="1"/>
          <p:nvPr/>
        </p:nvSpPr>
        <p:spPr>
          <a:xfrm>
            <a:off x="2194560" y="269748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34" name="Shape 32"/>
          <p:cNvSpPr/>
          <p:nvPr/>
        </p:nvSpPr>
        <p:spPr>
          <a:xfrm>
            <a:off x="3291840" y="2697480"/>
            <a:ext cx="1051560" cy="411480"/>
          </a:xfrm>
          <a:prstGeom prst="rect">
            <a:avLst/>
          </a:prstGeom>
          <a:solidFill>
            <a:srgbClr val="D5EBDD"/>
          </a:solidFill>
          <a:ln w="12700">
            <a:solidFill>
              <a:srgbClr val="D9D6CE"/>
            </a:solidFill>
            <a:prstDash val="solid"/>
          </a:ln>
        </p:spPr>
      </p:sp>
      <p:sp>
        <p:nvSpPr>
          <p:cNvPr id="35" name="Text 33"/>
          <p:cNvSpPr txBox="1"/>
          <p:nvPr/>
        </p:nvSpPr>
        <p:spPr>
          <a:xfrm>
            <a:off x="3291840" y="2697480"/>
            <a:ext cx="1051560" cy="411480"/>
          </a:xfrm>
          <a:prstGeom prst="rect">
            <a:avLst/>
          </a:prstGeom>
          <a:noFill/>
          <a:ln/>
        </p:spPr>
        <p:txBody>
          <a:bodyPr wrap="square" lIns="0" tIns="0" rIns="0" bIns="0" rtlCol="0" anchor="ctr"/>
          <a:lstStyle/>
          <a:p>
            <a:pPr marL="0" indent="0" algn="ctr">
              <a:buNone/>
            </a:pPr>
            <a:r>
              <a:rPr lang="en-US" sz="800" dirty="0">
                <a:solidFill>
                  <a:srgbClr val="2F7D4F"/>
                </a:solidFill>
                <a:latin typeface="Calibri" pitchFamily="34" charset="0"/>
                <a:ea typeface="Calibri" pitchFamily="34" charset="-122"/>
                <a:cs typeface="Calibri" pitchFamily="34" charset="-120"/>
              </a:rPr>
              <a:t>documented</a:t>
            </a:r>
            <a:endParaRPr lang="en-US" sz="800" dirty="0"/>
          </a:p>
        </p:txBody>
      </p:sp>
      <p:sp>
        <p:nvSpPr>
          <p:cNvPr id="36" name="Shape 34"/>
          <p:cNvSpPr/>
          <p:nvPr/>
        </p:nvSpPr>
        <p:spPr>
          <a:xfrm>
            <a:off x="4389120" y="2697480"/>
            <a:ext cx="1051560" cy="411480"/>
          </a:xfrm>
          <a:prstGeom prst="rect">
            <a:avLst/>
          </a:prstGeom>
          <a:solidFill>
            <a:srgbClr val="F0EEE8"/>
          </a:solidFill>
          <a:ln w="12700">
            <a:solidFill>
              <a:srgbClr val="D9D6CE"/>
            </a:solidFill>
            <a:prstDash val="solid"/>
          </a:ln>
        </p:spPr>
      </p:sp>
      <p:sp>
        <p:nvSpPr>
          <p:cNvPr id="37" name="Text 35"/>
          <p:cNvSpPr txBox="1"/>
          <p:nvPr/>
        </p:nvSpPr>
        <p:spPr>
          <a:xfrm>
            <a:off x="4389120" y="269748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38" name="Shape 36"/>
          <p:cNvSpPr/>
          <p:nvPr/>
        </p:nvSpPr>
        <p:spPr>
          <a:xfrm>
            <a:off x="5486400" y="2697480"/>
            <a:ext cx="1051560" cy="411480"/>
          </a:xfrm>
          <a:prstGeom prst="rect">
            <a:avLst/>
          </a:prstGeom>
          <a:solidFill>
            <a:srgbClr val="F0EEE8"/>
          </a:solidFill>
          <a:ln w="12700">
            <a:solidFill>
              <a:srgbClr val="D9D6CE"/>
            </a:solidFill>
            <a:prstDash val="solid"/>
          </a:ln>
        </p:spPr>
      </p:sp>
      <p:sp>
        <p:nvSpPr>
          <p:cNvPr id="39" name="Text 37"/>
          <p:cNvSpPr txBox="1"/>
          <p:nvPr/>
        </p:nvSpPr>
        <p:spPr>
          <a:xfrm>
            <a:off x="5486400" y="269748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40" name="Shape 38"/>
          <p:cNvSpPr/>
          <p:nvPr/>
        </p:nvSpPr>
        <p:spPr>
          <a:xfrm>
            <a:off x="6583680" y="2697480"/>
            <a:ext cx="1051560" cy="411480"/>
          </a:xfrm>
          <a:prstGeom prst="rect">
            <a:avLst/>
          </a:prstGeom>
          <a:solidFill>
            <a:srgbClr val="F0EEE8"/>
          </a:solidFill>
          <a:ln w="12700">
            <a:solidFill>
              <a:srgbClr val="D9D6CE"/>
            </a:solidFill>
            <a:prstDash val="solid"/>
          </a:ln>
        </p:spPr>
      </p:sp>
      <p:sp>
        <p:nvSpPr>
          <p:cNvPr id="41" name="Text 39"/>
          <p:cNvSpPr txBox="1"/>
          <p:nvPr/>
        </p:nvSpPr>
        <p:spPr>
          <a:xfrm>
            <a:off x="6583680" y="269748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42" name="Shape 40"/>
          <p:cNvSpPr/>
          <p:nvPr/>
        </p:nvSpPr>
        <p:spPr>
          <a:xfrm>
            <a:off x="7680960" y="2697480"/>
            <a:ext cx="1051560" cy="411480"/>
          </a:xfrm>
          <a:prstGeom prst="rect">
            <a:avLst/>
          </a:prstGeom>
          <a:solidFill>
            <a:srgbClr val="F0EEE8"/>
          </a:solidFill>
          <a:ln w="12700">
            <a:solidFill>
              <a:srgbClr val="D9D6CE"/>
            </a:solidFill>
            <a:prstDash val="solid"/>
          </a:ln>
        </p:spPr>
      </p:sp>
      <p:sp>
        <p:nvSpPr>
          <p:cNvPr id="43" name="Text 41"/>
          <p:cNvSpPr txBox="1"/>
          <p:nvPr/>
        </p:nvSpPr>
        <p:spPr>
          <a:xfrm>
            <a:off x="7680960" y="269748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44" name="Shape 42"/>
          <p:cNvSpPr/>
          <p:nvPr/>
        </p:nvSpPr>
        <p:spPr>
          <a:xfrm>
            <a:off x="8778240" y="2697480"/>
            <a:ext cx="1051560" cy="411480"/>
          </a:xfrm>
          <a:prstGeom prst="rect">
            <a:avLst/>
          </a:prstGeom>
          <a:solidFill>
            <a:srgbClr val="F0EEE8"/>
          </a:solidFill>
          <a:ln w="12700">
            <a:solidFill>
              <a:srgbClr val="D9D6CE"/>
            </a:solidFill>
            <a:prstDash val="solid"/>
          </a:ln>
        </p:spPr>
      </p:sp>
      <p:sp>
        <p:nvSpPr>
          <p:cNvPr id="45" name="Text 43"/>
          <p:cNvSpPr txBox="1"/>
          <p:nvPr/>
        </p:nvSpPr>
        <p:spPr>
          <a:xfrm>
            <a:off x="8778240" y="269748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46" name="Shape 44"/>
          <p:cNvSpPr/>
          <p:nvPr/>
        </p:nvSpPr>
        <p:spPr>
          <a:xfrm>
            <a:off x="9875520" y="2697480"/>
            <a:ext cx="1051560" cy="411480"/>
          </a:xfrm>
          <a:prstGeom prst="rect">
            <a:avLst/>
          </a:prstGeom>
          <a:solidFill>
            <a:srgbClr val="F0EEE8"/>
          </a:solidFill>
          <a:ln w="12700">
            <a:solidFill>
              <a:srgbClr val="D9D6CE"/>
            </a:solidFill>
            <a:prstDash val="solid"/>
          </a:ln>
        </p:spPr>
      </p:sp>
      <p:sp>
        <p:nvSpPr>
          <p:cNvPr id="47" name="Text 45"/>
          <p:cNvSpPr txBox="1"/>
          <p:nvPr/>
        </p:nvSpPr>
        <p:spPr>
          <a:xfrm>
            <a:off x="9875520" y="269748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48" name="Text 46"/>
          <p:cNvSpPr txBox="1"/>
          <p:nvPr/>
        </p:nvSpPr>
        <p:spPr>
          <a:xfrm>
            <a:off x="548640" y="3200400"/>
            <a:ext cx="1554480" cy="411480"/>
          </a:xfrm>
          <a:prstGeom prst="rect">
            <a:avLst/>
          </a:prstGeom>
          <a:noFill/>
          <a:ln/>
        </p:spPr>
        <p:txBody>
          <a:bodyPr wrap="square" lIns="0" tIns="0" rIns="0" bIns="0" rtlCol="0" anchor="ctr"/>
          <a:lstStyle/>
          <a:p>
            <a:pPr marL="0" indent="0">
              <a:buNone/>
            </a:pPr>
            <a:r>
              <a:rPr lang="en-US" sz="1200" b="1" dirty="0">
                <a:solidFill>
                  <a:srgbClr val="14263F"/>
                </a:solidFill>
                <a:latin typeface="Calibri" pitchFamily="34" charset="0"/>
                <a:ea typeface="Calibri" pitchFamily="34" charset="-122"/>
                <a:cs typeface="Calibri" pitchFamily="34" charset="-120"/>
              </a:rPr>
              <a:t>[3] Waibi</a:t>
            </a:r>
            <a:endParaRPr lang="en-US" sz="1200" dirty="0"/>
          </a:p>
        </p:txBody>
      </p:sp>
      <p:sp>
        <p:nvSpPr>
          <p:cNvPr id="49" name="Shape 47"/>
          <p:cNvSpPr/>
          <p:nvPr/>
        </p:nvSpPr>
        <p:spPr>
          <a:xfrm>
            <a:off x="2194560" y="3200400"/>
            <a:ext cx="1051560" cy="411480"/>
          </a:xfrm>
          <a:prstGeom prst="rect">
            <a:avLst/>
          </a:prstGeom>
          <a:solidFill>
            <a:srgbClr val="D5EBDD"/>
          </a:solidFill>
          <a:ln w="12700">
            <a:solidFill>
              <a:srgbClr val="D9D6CE"/>
            </a:solidFill>
            <a:prstDash val="solid"/>
          </a:ln>
        </p:spPr>
      </p:sp>
      <p:sp>
        <p:nvSpPr>
          <p:cNvPr id="50" name="Text 48"/>
          <p:cNvSpPr txBox="1"/>
          <p:nvPr/>
        </p:nvSpPr>
        <p:spPr>
          <a:xfrm>
            <a:off x="2194560" y="3200400"/>
            <a:ext cx="1051560" cy="411480"/>
          </a:xfrm>
          <a:prstGeom prst="rect">
            <a:avLst/>
          </a:prstGeom>
          <a:noFill/>
          <a:ln/>
        </p:spPr>
        <p:txBody>
          <a:bodyPr wrap="square" lIns="0" tIns="0" rIns="0" bIns="0" rtlCol="0" anchor="ctr"/>
          <a:lstStyle/>
          <a:p>
            <a:pPr marL="0" indent="0" algn="ctr">
              <a:buNone/>
            </a:pPr>
            <a:r>
              <a:rPr lang="en-US" sz="800" dirty="0">
                <a:solidFill>
                  <a:srgbClr val="2F7D4F"/>
                </a:solidFill>
                <a:latin typeface="Calibri" pitchFamily="34" charset="0"/>
                <a:ea typeface="Calibri" pitchFamily="34" charset="-122"/>
                <a:cs typeface="Calibri" pitchFamily="34" charset="-120"/>
              </a:rPr>
              <a:t>documented</a:t>
            </a:r>
            <a:endParaRPr lang="en-US" sz="800" dirty="0"/>
          </a:p>
        </p:txBody>
      </p:sp>
      <p:sp>
        <p:nvSpPr>
          <p:cNvPr id="51" name="Shape 49"/>
          <p:cNvSpPr/>
          <p:nvPr/>
        </p:nvSpPr>
        <p:spPr>
          <a:xfrm>
            <a:off x="3291840" y="3200400"/>
            <a:ext cx="1051560" cy="411480"/>
          </a:xfrm>
          <a:prstGeom prst="rect">
            <a:avLst/>
          </a:prstGeom>
          <a:solidFill>
            <a:srgbClr val="D5EBDD"/>
          </a:solidFill>
          <a:ln w="12700">
            <a:solidFill>
              <a:srgbClr val="D9D6CE"/>
            </a:solidFill>
            <a:prstDash val="solid"/>
          </a:ln>
        </p:spPr>
      </p:sp>
      <p:sp>
        <p:nvSpPr>
          <p:cNvPr id="52" name="Text 50"/>
          <p:cNvSpPr txBox="1"/>
          <p:nvPr/>
        </p:nvSpPr>
        <p:spPr>
          <a:xfrm>
            <a:off x="3291840" y="3200400"/>
            <a:ext cx="1051560" cy="411480"/>
          </a:xfrm>
          <a:prstGeom prst="rect">
            <a:avLst/>
          </a:prstGeom>
          <a:noFill/>
          <a:ln/>
        </p:spPr>
        <p:txBody>
          <a:bodyPr wrap="square" lIns="0" tIns="0" rIns="0" bIns="0" rtlCol="0" anchor="ctr"/>
          <a:lstStyle/>
          <a:p>
            <a:pPr marL="0" indent="0" algn="ctr">
              <a:buNone/>
            </a:pPr>
            <a:r>
              <a:rPr lang="en-US" sz="800" dirty="0">
                <a:solidFill>
                  <a:srgbClr val="2F7D4F"/>
                </a:solidFill>
                <a:latin typeface="Calibri" pitchFamily="34" charset="0"/>
                <a:ea typeface="Calibri" pitchFamily="34" charset="-122"/>
                <a:cs typeface="Calibri" pitchFamily="34" charset="-120"/>
              </a:rPr>
              <a:t>documented</a:t>
            </a:r>
            <a:endParaRPr lang="en-US" sz="800" dirty="0"/>
          </a:p>
        </p:txBody>
      </p:sp>
      <p:sp>
        <p:nvSpPr>
          <p:cNvPr id="53" name="Shape 51"/>
          <p:cNvSpPr/>
          <p:nvPr/>
        </p:nvSpPr>
        <p:spPr>
          <a:xfrm>
            <a:off x="4389120" y="3200400"/>
            <a:ext cx="1051560" cy="411480"/>
          </a:xfrm>
          <a:prstGeom prst="rect">
            <a:avLst/>
          </a:prstGeom>
          <a:solidFill>
            <a:srgbClr val="F0EEE8"/>
          </a:solidFill>
          <a:ln w="12700">
            <a:solidFill>
              <a:srgbClr val="D9D6CE"/>
            </a:solidFill>
            <a:prstDash val="solid"/>
          </a:ln>
        </p:spPr>
      </p:sp>
      <p:sp>
        <p:nvSpPr>
          <p:cNvPr id="54" name="Text 52"/>
          <p:cNvSpPr txBox="1"/>
          <p:nvPr/>
        </p:nvSpPr>
        <p:spPr>
          <a:xfrm>
            <a:off x="4389120" y="320040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55" name="Shape 53"/>
          <p:cNvSpPr/>
          <p:nvPr/>
        </p:nvSpPr>
        <p:spPr>
          <a:xfrm>
            <a:off x="5486400" y="3200400"/>
            <a:ext cx="1051560" cy="411480"/>
          </a:xfrm>
          <a:prstGeom prst="rect">
            <a:avLst/>
          </a:prstGeom>
          <a:solidFill>
            <a:srgbClr val="F0EEE8"/>
          </a:solidFill>
          <a:ln w="12700">
            <a:solidFill>
              <a:srgbClr val="D9D6CE"/>
            </a:solidFill>
            <a:prstDash val="solid"/>
          </a:ln>
        </p:spPr>
      </p:sp>
      <p:sp>
        <p:nvSpPr>
          <p:cNvPr id="56" name="Text 54"/>
          <p:cNvSpPr txBox="1"/>
          <p:nvPr/>
        </p:nvSpPr>
        <p:spPr>
          <a:xfrm>
            <a:off x="5486400" y="320040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57" name="Shape 55"/>
          <p:cNvSpPr/>
          <p:nvPr/>
        </p:nvSpPr>
        <p:spPr>
          <a:xfrm>
            <a:off x="6583680" y="3200400"/>
            <a:ext cx="1051560" cy="411480"/>
          </a:xfrm>
          <a:prstGeom prst="rect">
            <a:avLst/>
          </a:prstGeom>
          <a:solidFill>
            <a:srgbClr val="F0EEE8"/>
          </a:solidFill>
          <a:ln w="12700">
            <a:solidFill>
              <a:srgbClr val="D9D6CE"/>
            </a:solidFill>
            <a:prstDash val="solid"/>
          </a:ln>
        </p:spPr>
      </p:sp>
      <p:sp>
        <p:nvSpPr>
          <p:cNvPr id="58" name="Text 56"/>
          <p:cNvSpPr txBox="1"/>
          <p:nvPr/>
        </p:nvSpPr>
        <p:spPr>
          <a:xfrm>
            <a:off x="6583680" y="320040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59" name="Shape 57"/>
          <p:cNvSpPr/>
          <p:nvPr/>
        </p:nvSpPr>
        <p:spPr>
          <a:xfrm>
            <a:off x="7680960" y="3200400"/>
            <a:ext cx="1051560" cy="411480"/>
          </a:xfrm>
          <a:prstGeom prst="rect">
            <a:avLst/>
          </a:prstGeom>
          <a:solidFill>
            <a:srgbClr val="F0EEE8"/>
          </a:solidFill>
          <a:ln w="12700">
            <a:solidFill>
              <a:srgbClr val="D9D6CE"/>
            </a:solidFill>
            <a:prstDash val="solid"/>
          </a:ln>
        </p:spPr>
      </p:sp>
      <p:sp>
        <p:nvSpPr>
          <p:cNvPr id="60" name="Text 58"/>
          <p:cNvSpPr txBox="1"/>
          <p:nvPr/>
        </p:nvSpPr>
        <p:spPr>
          <a:xfrm>
            <a:off x="7680960" y="320040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61" name="Shape 59"/>
          <p:cNvSpPr/>
          <p:nvPr/>
        </p:nvSpPr>
        <p:spPr>
          <a:xfrm>
            <a:off x="8778240" y="3200400"/>
            <a:ext cx="1051560" cy="411480"/>
          </a:xfrm>
          <a:prstGeom prst="rect">
            <a:avLst/>
          </a:prstGeom>
          <a:solidFill>
            <a:srgbClr val="F0EEE8"/>
          </a:solidFill>
          <a:ln w="12700">
            <a:solidFill>
              <a:srgbClr val="D9D6CE"/>
            </a:solidFill>
            <a:prstDash val="solid"/>
          </a:ln>
        </p:spPr>
      </p:sp>
      <p:sp>
        <p:nvSpPr>
          <p:cNvPr id="62" name="Text 60"/>
          <p:cNvSpPr txBox="1"/>
          <p:nvPr/>
        </p:nvSpPr>
        <p:spPr>
          <a:xfrm>
            <a:off x="8778240" y="320040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63" name="Shape 61"/>
          <p:cNvSpPr/>
          <p:nvPr/>
        </p:nvSpPr>
        <p:spPr>
          <a:xfrm>
            <a:off x="9875520" y="3200400"/>
            <a:ext cx="1051560" cy="411480"/>
          </a:xfrm>
          <a:prstGeom prst="rect">
            <a:avLst/>
          </a:prstGeom>
          <a:solidFill>
            <a:srgbClr val="F0EEE8"/>
          </a:solidFill>
          <a:ln w="12700">
            <a:solidFill>
              <a:srgbClr val="D9D6CE"/>
            </a:solidFill>
            <a:prstDash val="solid"/>
          </a:ln>
        </p:spPr>
      </p:sp>
      <p:sp>
        <p:nvSpPr>
          <p:cNvPr id="64" name="Text 62"/>
          <p:cNvSpPr txBox="1"/>
          <p:nvPr/>
        </p:nvSpPr>
        <p:spPr>
          <a:xfrm>
            <a:off x="9875520" y="320040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65" name="Text 63"/>
          <p:cNvSpPr txBox="1"/>
          <p:nvPr/>
        </p:nvSpPr>
        <p:spPr>
          <a:xfrm>
            <a:off x="548640" y="3703320"/>
            <a:ext cx="1554480" cy="411480"/>
          </a:xfrm>
          <a:prstGeom prst="rect">
            <a:avLst/>
          </a:prstGeom>
          <a:noFill/>
          <a:ln/>
        </p:spPr>
        <p:txBody>
          <a:bodyPr wrap="square" lIns="0" tIns="0" rIns="0" bIns="0" rtlCol="0" anchor="ctr"/>
          <a:lstStyle/>
          <a:p>
            <a:pPr marL="0" indent="0">
              <a:buNone/>
            </a:pPr>
            <a:r>
              <a:rPr lang="en-US" sz="1200" b="1" dirty="0">
                <a:solidFill>
                  <a:srgbClr val="14263F"/>
                </a:solidFill>
                <a:latin typeface="Calibri" pitchFamily="34" charset="0"/>
                <a:ea typeface="Calibri" pitchFamily="34" charset="-122"/>
                <a:cs typeface="Calibri" pitchFamily="34" charset="-120"/>
              </a:rPr>
              <a:t>[4] Aneke</a:t>
            </a:r>
            <a:endParaRPr lang="en-US" sz="1200" dirty="0"/>
          </a:p>
        </p:txBody>
      </p:sp>
      <p:sp>
        <p:nvSpPr>
          <p:cNvPr id="66" name="Shape 64"/>
          <p:cNvSpPr/>
          <p:nvPr/>
        </p:nvSpPr>
        <p:spPr>
          <a:xfrm>
            <a:off x="2194560" y="3703320"/>
            <a:ext cx="1051560" cy="411480"/>
          </a:xfrm>
          <a:prstGeom prst="rect">
            <a:avLst/>
          </a:prstGeom>
          <a:solidFill>
            <a:srgbClr val="F0EEE8"/>
          </a:solidFill>
          <a:ln w="12700">
            <a:solidFill>
              <a:srgbClr val="D9D6CE"/>
            </a:solidFill>
            <a:prstDash val="solid"/>
          </a:ln>
        </p:spPr>
      </p:sp>
      <p:sp>
        <p:nvSpPr>
          <p:cNvPr id="67" name="Text 65"/>
          <p:cNvSpPr txBox="1"/>
          <p:nvPr/>
        </p:nvSpPr>
        <p:spPr>
          <a:xfrm>
            <a:off x="2194560" y="370332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68" name="Shape 66"/>
          <p:cNvSpPr/>
          <p:nvPr/>
        </p:nvSpPr>
        <p:spPr>
          <a:xfrm>
            <a:off x="3291840" y="3703320"/>
            <a:ext cx="1051560" cy="411480"/>
          </a:xfrm>
          <a:prstGeom prst="rect">
            <a:avLst/>
          </a:prstGeom>
          <a:solidFill>
            <a:srgbClr val="D5EBDD"/>
          </a:solidFill>
          <a:ln w="12700">
            <a:solidFill>
              <a:srgbClr val="D9D6CE"/>
            </a:solidFill>
            <a:prstDash val="solid"/>
          </a:ln>
        </p:spPr>
      </p:sp>
      <p:sp>
        <p:nvSpPr>
          <p:cNvPr id="69" name="Text 67"/>
          <p:cNvSpPr txBox="1"/>
          <p:nvPr/>
        </p:nvSpPr>
        <p:spPr>
          <a:xfrm>
            <a:off x="3291840" y="3703320"/>
            <a:ext cx="1051560" cy="411480"/>
          </a:xfrm>
          <a:prstGeom prst="rect">
            <a:avLst/>
          </a:prstGeom>
          <a:noFill/>
          <a:ln/>
        </p:spPr>
        <p:txBody>
          <a:bodyPr wrap="square" lIns="0" tIns="0" rIns="0" bIns="0" rtlCol="0" anchor="ctr"/>
          <a:lstStyle/>
          <a:p>
            <a:pPr marL="0" indent="0" algn="ctr">
              <a:buNone/>
            </a:pPr>
            <a:r>
              <a:rPr lang="en-US" sz="800" dirty="0">
                <a:solidFill>
                  <a:srgbClr val="2F7D4F"/>
                </a:solidFill>
                <a:latin typeface="Calibri" pitchFamily="34" charset="0"/>
                <a:ea typeface="Calibri" pitchFamily="34" charset="-122"/>
                <a:cs typeface="Calibri" pitchFamily="34" charset="-120"/>
              </a:rPr>
              <a:t>documented</a:t>
            </a:r>
            <a:endParaRPr lang="en-US" sz="800" dirty="0"/>
          </a:p>
        </p:txBody>
      </p:sp>
      <p:sp>
        <p:nvSpPr>
          <p:cNvPr id="70" name="Shape 68"/>
          <p:cNvSpPr/>
          <p:nvPr/>
        </p:nvSpPr>
        <p:spPr>
          <a:xfrm>
            <a:off x="4389120" y="3703320"/>
            <a:ext cx="1051560" cy="411480"/>
          </a:xfrm>
          <a:prstGeom prst="rect">
            <a:avLst/>
          </a:prstGeom>
          <a:solidFill>
            <a:srgbClr val="F0EEE8"/>
          </a:solidFill>
          <a:ln w="12700">
            <a:solidFill>
              <a:srgbClr val="D9D6CE"/>
            </a:solidFill>
            <a:prstDash val="solid"/>
          </a:ln>
        </p:spPr>
      </p:sp>
      <p:sp>
        <p:nvSpPr>
          <p:cNvPr id="71" name="Text 69"/>
          <p:cNvSpPr txBox="1"/>
          <p:nvPr/>
        </p:nvSpPr>
        <p:spPr>
          <a:xfrm>
            <a:off x="4389120" y="370332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72" name="Shape 70"/>
          <p:cNvSpPr/>
          <p:nvPr/>
        </p:nvSpPr>
        <p:spPr>
          <a:xfrm>
            <a:off x="5486400" y="3703320"/>
            <a:ext cx="1051560" cy="411480"/>
          </a:xfrm>
          <a:prstGeom prst="rect">
            <a:avLst/>
          </a:prstGeom>
          <a:solidFill>
            <a:srgbClr val="F0EEE8"/>
          </a:solidFill>
          <a:ln w="12700">
            <a:solidFill>
              <a:srgbClr val="D9D6CE"/>
            </a:solidFill>
            <a:prstDash val="solid"/>
          </a:ln>
        </p:spPr>
      </p:sp>
      <p:sp>
        <p:nvSpPr>
          <p:cNvPr id="73" name="Text 71"/>
          <p:cNvSpPr txBox="1"/>
          <p:nvPr/>
        </p:nvSpPr>
        <p:spPr>
          <a:xfrm>
            <a:off x="5486400" y="370332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74" name="Shape 72"/>
          <p:cNvSpPr/>
          <p:nvPr/>
        </p:nvSpPr>
        <p:spPr>
          <a:xfrm>
            <a:off x="6583680" y="3703320"/>
            <a:ext cx="1051560" cy="411480"/>
          </a:xfrm>
          <a:prstGeom prst="rect">
            <a:avLst/>
          </a:prstGeom>
          <a:solidFill>
            <a:srgbClr val="D5EBDD"/>
          </a:solidFill>
          <a:ln w="12700">
            <a:solidFill>
              <a:srgbClr val="D9D6CE"/>
            </a:solidFill>
            <a:prstDash val="solid"/>
          </a:ln>
        </p:spPr>
      </p:sp>
      <p:sp>
        <p:nvSpPr>
          <p:cNvPr id="75" name="Text 73"/>
          <p:cNvSpPr txBox="1"/>
          <p:nvPr/>
        </p:nvSpPr>
        <p:spPr>
          <a:xfrm>
            <a:off x="6583680" y="3703320"/>
            <a:ext cx="1051560" cy="411480"/>
          </a:xfrm>
          <a:prstGeom prst="rect">
            <a:avLst/>
          </a:prstGeom>
          <a:noFill/>
          <a:ln/>
        </p:spPr>
        <p:txBody>
          <a:bodyPr wrap="square" lIns="0" tIns="0" rIns="0" bIns="0" rtlCol="0" anchor="ctr"/>
          <a:lstStyle/>
          <a:p>
            <a:pPr marL="0" indent="0" algn="ctr">
              <a:buNone/>
            </a:pPr>
            <a:r>
              <a:rPr lang="en-US" sz="800" dirty="0">
                <a:solidFill>
                  <a:srgbClr val="2F7D4F"/>
                </a:solidFill>
                <a:latin typeface="Calibri" pitchFamily="34" charset="0"/>
                <a:ea typeface="Calibri" pitchFamily="34" charset="-122"/>
                <a:cs typeface="Calibri" pitchFamily="34" charset="-120"/>
              </a:rPr>
              <a:t>documented</a:t>
            </a:r>
            <a:endParaRPr lang="en-US" sz="800" dirty="0"/>
          </a:p>
        </p:txBody>
      </p:sp>
      <p:sp>
        <p:nvSpPr>
          <p:cNvPr id="76" name="Shape 74"/>
          <p:cNvSpPr/>
          <p:nvPr/>
        </p:nvSpPr>
        <p:spPr>
          <a:xfrm>
            <a:off x="7680960" y="3703320"/>
            <a:ext cx="1051560" cy="411480"/>
          </a:xfrm>
          <a:prstGeom prst="rect">
            <a:avLst/>
          </a:prstGeom>
          <a:solidFill>
            <a:srgbClr val="F0EEE8"/>
          </a:solidFill>
          <a:ln w="12700">
            <a:solidFill>
              <a:srgbClr val="D9D6CE"/>
            </a:solidFill>
            <a:prstDash val="solid"/>
          </a:ln>
        </p:spPr>
      </p:sp>
      <p:sp>
        <p:nvSpPr>
          <p:cNvPr id="77" name="Text 75"/>
          <p:cNvSpPr txBox="1"/>
          <p:nvPr/>
        </p:nvSpPr>
        <p:spPr>
          <a:xfrm>
            <a:off x="7680960" y="370332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78" name="Shape 76"/>
          <p:cNvSpPr/>
          <p:nvPr/>
        </p:nvSpPr>
        <p:spPr>
          <a:xfrm>
            <a:off x="8778240" y="3703320"/>
            <a:ext cx="1051560" cy="411480"/>
          </a:xfrm>
          <a:prstGeom prst="rect">
            <a:avLst/>
          </a:prstGeom>
          <a:solidFill>
            <a:srgbClr val="F0EEE8"/>
          </a:solidFill>
          <a:ln w="12700">
            <a:solidFill>
              <a:srgbClr val="D9D6CE"/>
            </a:solidFill>
            <a:prstDash val="solid"/>
          </a:ln>
        </p:spPr>
      </p:sp>
      <p:sp>
        <p:nvSpPr>
          <p:cNvPr id="79" name="Text 77"/>
          <p:cNvSpPr txBox="1"/>
          <p:nvPr/>
        </p:nvSpPr>
        <p:spPr>
          <a:xfrm>
            <a:off x="8778240" y="370332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80" name="Shape 78"/>
          <p:cNvSpPr/>
          <p:nvPr/>
        </p:nvSpPr>
        <p:spPr>
          <a:xfrm>
            <a:off x="9875520" y="3703320"/>
            <a:ext cx="1051560" cy="411480"/>
          </a:xfrm>
          <a:prstGeom prst="rect">
            <a:avLst/>
          </a:prstGeom>
          <a:solidFill>
            <a:srgbClr val="F0EEE8"/>
          </a:solidFill>
          <a:ln w="12700">
            <a:solidFill>
              <a:srgbClr val="D9D6CE"/>
            </a:solidFill>
            <a:prstDash val="solid"/>
          </a:ln>
        </p:spPr>
      </p:sp>
      <p:sp>
        <p:nvSpPr>
          <p:cNvPr id="81" name="Text 79"/>
          <p:cNvSpPr txBox="1"/>
          <p:nvPr/>
        </p:nvSpPr>
        <p:spPr>
          <a:xfrm>
            <a:off x="9875520" y="3703320"/>
            <a:ext cx="1051560" cy="411480"/>
          </a:xfrm>
          <a:prstGeom prst="rect">
            <a:avLst/>
          </a:prstGeom>
          <a:noFill/>
          <a:ln/>
        </p:spPr>
        <p:txBody>
          <a:bodyPr wrap="square" lIns="0" tIns="0" rIns="0" bIns="0" rtlCol="0" anchor="ctr"/>
          <a:lstStyle/>
          <a:p>
            <a:pPr marL="0" indent="0" algn="ctr">
              <a:buNone/>
            </a:pPr>
            <a:r>
              <a:rPr lang="en-US" sz="800" dirty="0">
                <a:solidFill>
                  <a:srgbClr val="8A8F98"/>
                </a:solidFill>
                <a:latin typeface="Calibri" pitchFamily="34" charset="0"/>
                <a:ea typeface="Calibri" pitchFamily="34" charset="-122"/>
                <a:cs typeface="Calibri" pitchFamily="34" charset="-120"/>
              </a:rPr>
              <a:t>not documented</a:t>
            </a:r>
            <a:endParaRPr lang="en-US" sz="800" dirty="0"/>
          </a:p>
        </p:txBody>
      </p:sp>
      <p:sp>
        <p:nvSpPr>
          <p:cNvPr id="82" name="Text 80"/>
          <p:cNvSpPr txBox="1"/>
          <p:nvPr/>
        </p:nvSpPr>
        <p:spPr>
          <a:xfrm>
            <a:off x="548640" y="4206240"/>
            <a:ext cx="1554480" cy="411480"/>
          </a:xfrm>
          <a:prstGeom prst="rect">
            <a:avLst/>
          </a:prstGeom>
          <a:noFill/>
          <a:ln/>
        </p:spPr>
        <p:txBody>
          <a:bodyPr wrap="square" lIns="0" tIns="0" rIns="0" bIns="0" rtlCol="0" anchor="ctr"/>
          <a:lstStyle/>
          <a:p>
            <a:pPr marL="0" indent="0">
              <a:buNone/>
            </a:pPr>
            <a:r>
              <a:rPr lang="en-US" sz="1200" b="1" dirty="0">
                <a:solidFill>
                  <a:srgbClr val="2A7F86"/>
                </a:solidFill>
                <a:latin typeface="Calibri" pitchFamily="34" charset="0"/>
                <a:ea typeface="Calibri" pitchFamily="34" charset="-122"/>
                <a:cs typeface="Calibri" pitchFamily="34" charset="-120"/>
              </a:rPr>
              <a:t>Proposed</a:t>
            </a:r>
            <a:endParaRPr lang="en-US" sz="1200" dirty="0"/>
          </a:p>
        </p:txBody>
      </p:sp>
      <p:sp>
        <p:nvSpPr>
          <p:cNvPr id="83" name="Shape 81"/>
          <p:cNvSpPr/>
          <p:nvPr/>
        </p:nvSpPr>
        <p:spPr>
          <a:xfrm>
            <a:off x="2194560" y="4206240"/>
            <a:ext cx="1051560" cy="411480"/>
          </a:xfrm>
          <a:prstGeom prst="rect">
            <a:avLst/>
          </a:prstGeom>
          <a:solidFill>
            <a:srgbClr val="D7EBEC"/>
          </a:solidFill>
          <a:ln w="12700">
            <a:solidFill>
              <a:srgbClr val="2A7F86"/>
            </a:solidFill>
            <a:prstDash val="dash"/>
          </a:ln>
        </p:spPr>
      </p:sp>
      <p:sp>
        <p:nvSpPr>
          <p:cNvPr id="84" name="Text 82"/>
          <p:cNvSpPr txBox="1"/>
          <p:nvPr/>
        </p:nvSpPr>
        <p:spPr>
          <a:xfrm>
            <a:off x="2194560" y="4206240"/>
            <a:ext cx="1051560" cy="411480"/>
          </a:xfrm>
          <a:prstGeom prst="rect">
            <a:avLst/>
          </a:prstGeom>
          <a:noFill/>
          <a:ln/>
        </p:spPr>
        <p:txBody>
          <a:bodyPr wrap="square" lIns="0" tIns="0" rIns="0" bIns="0" rtlCol="0" anchor="ctr"/>
          <a:lstStyle/>
          <a:p>
            <a:pPr marL="0" indent="0" algn="ctr">
              <a:buNone/>
            </a:pPr>
            <a:r>
              <a:rPr lang="en-US" sz="800" dirty="0">
                <a:solidFill>
                  <a:srgbClr val="2A7F86"/>
                </a:solidFill>
                <a:latin typeface="Calibri" pitchFamily="34" charset="0"/>
                <a:ea typeface="Calibri" pitchFamily="34" charset="-122"/>
                <a:cs typeface="Calibri" pitchFamily="34" charset="-120"/>
              </a:rPr>
              <a:t>proposed</a:t>
            </a:r>
            <a:endParaRPr lang="en-US" sz="800" dirty="0"/>
          </a:p>
        </p:txBody>
      </p:sp>
      <p:sp>
        <p:nvSpPr>
          <p:cNvPr id="85" name="Shape 83"/>
          <p:cNvSpPr/>
          <p:nvPr/>
        </p:nvSpPr>
        <p:spPr>
          <a:xfrm>
            <a:off x="3291840" y="4206240"/>
            <a:ext cx="1051560" cy="411480"/>
          </a:xfrm>
          <a:prstGeom prst="rect">
            <a:avLst/>
          </a:prstGeom>
          <a:solidFill>
            <a:srgbClr val="D7EBEC"/>
          </a:solidFill>
          <a:ln w="12700">
            <a:solidFill>
              <a:srgbClr val="2A7F86"/>
            </a:solidFill>
            <a:prstDash val="dash"/>
          </a:ln>
        </p:spPr>
      </p:sp>
      <p:sp>
        <p:nvSpPr>
          <p:cNvPr id="86" name="Text 84"/>
          <p:cNvSpPr txBox="1"/>
          <p:nvPr/>
        </p:nvSpPr>
        <p:spPr>
          <a:xfrm>
            <a:off x="3291840" y="4206240"/>
            <a:ext cx="1051560" cy="411480"/>
          </a:xfrm>
          <a:prstGeom prst="rect">
            <a:avLst/>
          </a:prstGeom>
          <a:noFill/>
          <a:ln/>
        </p:spPr>
        <p:txBody>
          <a:bodyPr wrap="square" lIns="0" tIns="0" rIns="0" bIns="0" rtlCol="0" anchor="ctr"/>
          <a:lstStyle/>
          <a:p>
            <a:pPr marL="0" indent="0" algn="ctr">
              <a:buNone/>
            </a:pPr>
            <a:r>
              <a:rPr lang="en-US" sz="800" dirty="0">
                <a:solidFill>
                  <a:srgbClr val="2A7F86"/>
                </a:solidFill>
                <a:latin typeface="Calibri" pitchFamily="34" charset="0"/>
                <a:ea typeface="Calibri" pitchFamily="34" charset="-122"/>
                <a:cs typeface="Calibri" pitchFamily="34" charset="-120"/>
              </a:rPr>
              <a:t>proposed</a:t>
            </a:r>
            <a:endParaRPr lang="en-US" sz="800" dirty="0"/>
          </a:p>
        </p:txBody>
      </p:sp>
      <p:sp>
        <p:nvSpPr>
          <p:cNvPr id="87" name="Shape 85"/>
          <p:cNvSpPr/>
          <p:nvPr/>
        </p:nvSpPr>
        <p:spPr>
          <a:xfrm>
            <a:off x="4389120" y="4206240"/>
            <a:ext cx="1051560" cy="411480"/>
          </a:xfrm>
          <a:prstGeom prst="rect">
            <a:avLst/>
          </a:prstGeom>
          <a:solidFill>
            <a:srgbClr val="D7EBEC"/>
          </a:solidFill>
          <a:ln w="12700">
            <a:solidFill>
              <a:srgbClr val="2A7F86"/>
            </a:solidFill>
            <a:prstDash val="dash"/>
          </a:ln>
        </p:spPr>
      </p:sp>
      <p:sp>
        <p:nvSpPr>
          <p:cNvPr id="88" name="Text 86"/>
          <p:cNvSpPr txBox="1"/>
          <p:nvPr/>
        </p:nvSpPr>
        <p:spPr>
          <a:xfrm>
            <a:off x="4389120" y="4206240"/>
            <a:ext cx="1051560" cy="411480"/>
          </a:xfrm>
          <a:prstGeom prst="rect">
            <a:avLst/>
          </a:prstGeom>
          <a:noFill/>
          <a:ln/>
        </p:spPr>
        <p:txBody>
          <a:bodyPr wrap="square" lIns="0" tIns="0" rIns="0" bIns="0" rtlCol="0" anchor="ctr"/>
          <a:lstStyle/>
          <a:p>
            <a:pPr marL="0" indent="0" algn="ctr">
              <a:buNone/>
            </a:pPr>
            <a:r>
              <a:rPr lang="en-US" sz="800" dirty="0">
                <a:solidFill>
                  <a:srgbClr val="2A7F86"/>
                </a:solidFill>
                <a:latin typeface="Calibri" pitchFamily="34" charset="0"/>
                <a:ea typeface="Calibri" pitchFamily="34" charset="-122"/>
                <a:cs typeface="Calibri" pitchFamily="34" charset="-120"/>
              </a:rPr>
              <a:t>proposed</a:t>
            </a:r>
            <a:endParaRPr lang="en-US" sz="800" dirty="0"/>
          </a:p>
        </p:txBody>
      </p:sp>
      <p:sp>
        <p:nvSpPr>
          <p:cNvPr id="89" name="Shape 87"/>
          <p:cNvSpPr/>
          <p:nvPr/>
        </p:nvSpPr>
        <p:spPr>
          <a:xfrm>
            <a:off x="5486400" y="4206240"/>
            <a:ext cx="1051560" cy="411480"/>
          </a:xfrm>
          <a:prstGeom prst="rect">
            <a:avLst/>
          </a:prstGeom>
          <a:solidFill>
            <a:srgbClr val="D7EBEC"/>
          </a:solidFill>
          <a:ln w="12700">
            <a:solidFill>
              <a:srgbClr val="2A7F86"/>
            </a:solidFill>
            <a:prstDash val="dash"/>
          </a:ln>
        </p:spPr>
      </p:sp>
      <p:sp>
        <p:nvSpPr>
          <p:cNvPr id="90" name="Text 88"/>
          <p:cNvSpPr txBox="1"/>
          <p:nvPr/>
        </p:nvSpPr>
        <p:spPr>
          <a:xfrm>
            <a:off x="5486400" y="4206240"/>
            <a:ext cx="1051560" cy="411480"/>
          </a:xfrm>
          <a:prstGeom prst="rect">
            <a:avLst/>
          </a:prstGeom>
          <a:noFill/>
          <a:ln/>
        </p:spPr>
        <p:txBody>
          <a:bodyPr wrap="square" lIns="0" tIns="0" rIns="0" bIns="0" rtlCol="0" anchor="ctr"/>
          <a:lstStyle/>
          <a:p>
            <a:pPr marL="0" indent="0" algn="ctr">
              <a:buNone/>
            </a:pPr>
            <a:r>
              <a:rPr lang="en-US" sz="800" dirty="0">
                <a:solidFill>
                  <a:srgbClr val="2A7F86"/>
                </a:solidFill>
                <a:latin typeface="Calibri" pitchFamily="34" charset="0"/>
                <a:ea typeface="Calibri" pitchFamily="34" charset="-122"/>
                <a:cs typeface="Calibri" pitchFamily="34" charset="-120"/>
              </a:rPr>
              <a:t>proposed</a:t>
            </a:r>
            <a:endParaRPr lang="en-US" sz="800" dirty="0"/>
          </a:p>
        </p:txBody>
      </p:sp>
      <p:sp>
        <p:nvSpPr>
          <p:cNvPr id="91" name="Shape 89"/>
          <p:cNvSpPr/>
          <p:nvPr/>
        </p:nvSpPr>
        <p:spPr>
          <a:xfrm>
            <a:off x="6583680" y="4206240"/>
            <a:ext cx="1051560" cy="411480"/>
          </a:xfrm>
          <a:prstGeom prst="rect">
            <a:avLst/>
          </a:prstGeom>
          <a:solidFill>
            <a:srgbClr val="D7EBEC"/>
          </a:solidFill>
          <a:ln w="12700">
            <a:solidFill>
              <a:srgbClr val="2A7F86"/>
            </a:solidFill>
            <a:prstDash val="dash"/>
          </a:ln>
        </p:spPr>
      </p:sp>
      <p:sp>
        <p:nvSpPr>
          <p:cNvPr id="92" name="Text 90"/>
          <p:cNvSpPr txBox="1"/>
          <p:nvPr/>
        </p:nvSpPr>
        <p:spPr>
          <a:xfrm>
            <a:off x="6583680" y="4206240"/>
            <a:ext cx="1051560" cy="411480"/>
          </a:xfrm>
          <a:prstGeom prst="rect">
            <a:avLst/>
          </a:prstGeom>
          <a:noFill/>
          <a:ln/>
        </p:spPr>
        <p:txBody>
          <a:bodyPr wrap="square" lIns="0" tIns="0" rIns="0" bIns="0" rtlCol="0" anchor="ctr"/>
          <a:lstStyle/>
          <a:p>
            <a:pPr marL="0" indent="0" algn="ctr">
              <a:buNone/>
            </a:pPr>
            <a:r>
              <a:rPr lang="en-US" sz="800" dirty="0">
                <a:solidFill>
                  <a:srgbClr val="2A7F86"/>
                </a:solidFill>
                <a:latin typeface="Calibri" pitchFamily="34" charset="0"/>
                <a:ea typeface="Calibri" pitchFamily="34" charset="-122"/>
                <a:cs typeface="Calibri" pitchFamily="34" charset="-120"/>
              </a:rPr>
              <a:t>proposed</a:t>
            </a:r>
            <a:endParaRPr lang="en-US" sz="800" dirty="0"/>
          </a:p>
        </p:txBody>
      </p:sp>
      <p:sp>
        <p:nvSpPr>
          <p:cNvPr id="93" name="Shape 91"/>
          <p:cNvSpPr/>
          <p:nvPr/>
        </p:nvSpPr>
        <p:spPr>
          <a:xfrm>
            <a:off x="7680960" y="4206240"/>
            <a:ext cx="1051560" cy="411480"/>
          </a:xfrm>
          <a:prstGeom prst="rect">
            <a:avLst/>
          </a:prstGeom>
          <a:solidFill>
            <a:srgbClr val="D7EBEC"/>
          </a:solidFill>
          <a:ln w="12700">
            <a:solidFill>
              <a:srgbClr val="2A7F86"/>
            </a:solidFill>
            <a:prstDash val="dash"/>
          </a:ln>
        </p:spPr>
      </p:sp>
      <p:sp>
        <p:nvSpPr>
          <p:cNvPr id="94" name="Text 92"/>
          <p:cNvSpPr txBox="1"/>
          <p:nvPr/>
        </p:nvSpPr>
        <p:spPr>
          <a:xfrm>
            <a:off x="7680960" y="4206240"/>
            <a:ext cx="1051560" cy="411480"/>
          </a:xfrm>
          <a:prstGeom prst="rect">
            <a:avLst/>
          </a:prstGeom>
          <a:noFill/>
          <a:ln/>
        </p:spPr>
        <p:txBody>
          <a:bodyPr wrap="square" lIns="0" tIns="0" rIns="0" bIns="0" rtlCol="0" anchor="ctr"/>
          <a:lstStyle/>
          <a:p>
            <a:pPr marL="0" indent="0" algn="ctr">
              <a:buNone/>
            </a:pPr>
            <a:r>
              <a:rPr lang="en-US" sz="800" dirty="0">
                <a:solidFill>
                  <a:srgbClr val="2A7F86"/>
                </a:solidFill>
                <a:latin typeface="Calibri" pitchFamily="34" charset="0"/>
                <a:ea typeface="Calibri" pitchFamily="34" charset="-122"/>
                <a:cs typeface="Calibri" pitchFamily="34" charset="-120"/>
              </a:rPr>
              <a:t>proposed</a:t>
            </a:r>
            <a:endParaRPr lang="en-US" sz="800" dirty="0"/>
          </a:p>
        </p:txBody>
      </p:sp>
      <p:sp>
        <p:nvSpPr>
          <p:cNvPr id="95" name="Shape 93"/>
          <p:cNvSpPr/>
          <p:nvPr/>
        </p:nvSpPr>
        <p:spPr>
          <a:xfrm>
            <a:off x="8778240" y="4206240"/>
            <a:ext cx="1051560" cy="411480"/>
          </a:xfrm>
          <a:prstGeom prst="rect">
            <a:avLst/>
          </a:prstGeom>
          <a:solidFill>
            <a:srgbClr val="D7EBEC"/>
          </a:solidFill>
          <a:ln w="12700">
            <a:solidFill>
              <a:srgbClr val="2A7F86"/>
            </a:solidFill>
            <a:prstDash val="dash"/>
          </a:ln>
        </p:spPr>
      </p:sp>
      <p:sp>
        <p:nvSpPr>
          <p:cNvPr id="96" name="Text 94"/>
          <p:cNvSpPr txBox="1"/>
          <p:nvPr/>
        </p:nvSpPr>
        <p:spPr>
          <a:xfrm>
            <a:off x="8778240" y="4206240"/>
            <a:ext cx="1051560" cy="411480"/>
          </a:xfrm>
          <a:prstGeom prst="rect">
            <a:avLst/>
          </a:prstGeom>
          <a:noFill/>
          <a:ln/>
        </p:spPr>
        <p:txBody>
          <a:bodyPr wrap="square" lIns="0" tIns="0" rIns="0" bIns="0" rtlCol="0" anchor="ctr"/>
          <a:lstStyle/>
          <a:p>
            <a:pPr marL="0" indent="0" algn="ctr">
              <a:buNone/>
            </a:pPr>
            <a:r>
              <a:rPr lang="en-US" sz="800" dirty="0">
                <a:solidFill>
                  <a:srgbClr val="2A7F86"/>
                </a:solidFill>
                <a:latin typeface="Calibri" pitchFamily="34" charset="0"/>
                <a:ea typeface="Calibri" pitchFamily="34" charset="-122"/>
                <a:cs typeface="Calibri" pitchFamily="34" charset="-120"/>
              </a:rPr>
              <a:t>proposed</a:t>
            </a:r>
            <a:endParaRPr lang="en-US" sz="800" dirty="0"/>
          </a:p>
        </p:txBody>
      </p:sp>
      <p:sp>
        <p:nvSpPr>
          <p:cNvPr id="97" name="Shape 95"/>
          <p:cNvSpPr/>
          <p:nvPr/>
        </p:nvSpPr>
        <p:spPr>
          <a:xfrm>
            <a:off x="9875520" y="4206240"/>
            <a:ext cx="1051560" cy="411480"/>
          </a:xfrm>
          <a:prstGeom prst="rect">
            <a:avLst/>
          </a:prstGeom>
          <a:solidFill>
            <a:srgbClr val="D7EBEC"/>
          </a:solidFill>
          <a:ln w="12700">
            <a:solidFill>
              <a:srgbClr val="2A7F86"/>
            </a:solidFill>
            <a:prstDash val="dash"/>
          </a:ln>
        </p:spPr>
      </p:sp>
      <p:sp>
        <p:nvSpPr>
          <p:cNvPr id="98" name="Text 96"/>
          <p:cNvSpPr txBox="1"/>
          <p:nvPr/>
        </p:nvSpPr>
        <p:spPr>
          <a:xfrm>
            <a:off x="9875520" y="4206240"/>
            <a:ext cx="1051560" cy="411480"/>
          </a:xfrm>
          <a:prstGeom prst="rect">
            <a:avLst/>
          </a:prstGeom>
          <a:noFill/>
          <a:ln/>
        </p:spPr>
        <p:txBody>
          <a:bodyPr wrap="square" lIns="0" tIns="0" rIns="0" bIns="0" rtlCol="0" anchor="ctr"/>
          <a:lstStyle/>
          <a:p>
            <a:pPr marL="0" indent="0" algn="ctr">
              <a:buNone/>
            </a:pPr>
            <a:r>
              <a:rPr lang="en-US" sz="800" dirty="0">
                <a:solidFill>
                  <a:srgbClr val="2A7F86"/>
                </a:solidFill>
                <a:latin typeface="Calibri" pitchFamily="34" charset="0"/>
                <a:ea typeface="Calibri" pitchFamily="34" charset="-122"/>
                <a:cs typeface="Calibri" pitchFamily="34" charset="-120"/>
              </a:rPr>
              <a:t>proposed</a:t>
            </a:r>
            <a:endParaRPr lang="en-US" sz="800" dirty="0"/>
          </a:p>
        </p:txBody>
      </p:sp>
      <p:sp>
        <p:nvSpPr>
          <p:cNvPr id="99" name="Text 97"/>
          <p:cNvSpPr txBox="1"/>
          <p:nvPr/>
        </p:nvSpPr>
        <p:spPr>
          <a:xfrm>
            <a:off x="548640" y="4754880"/>
            <a:ext cx="11064240" cy="365760"/>
          </a:xfrm>
          <a:prstGeom prst="rect">
            <a:avLst/>
          </a:prstGeom>
          <a:noFill/>
          <a:ln/>
        </p:spPr>
        <p:txBody>
          <a:bodyPr wrap="square" lIns="0" tIns="0" rIns="0" bIns="0" rtlCol="0" anchor="t"/>
          <a:lstStyle/>
          <a:p>
            <a:pPr marL="0" indent="0">
              <a:buNone/>
            </a:pPr>
            <a:r>
              <a:rPr lang="en-US" sz="1100" i="1" dirty="0">
                <a:solidFill>
                  <a:srgbClr val="5F6672"/>
                </a:solidFill>
                <a:latin typeface="Calibri" pitchFamily="34" charset="0"/>
                <a:ea typeface="Calibri" pitchFamily="34" charset="-122"/>
                <a:cs typeface="Calibri" pitchFamily="34" charset="-120"/>
              </a:rPr>
              <a:t>"Not documented" = not stated in the reviewed abstract; it is not evidence that the capability is absent. "Proposed" = design intent, not implemented.</a:t>
            </a:r>
            <a:endParaRPr lang="en-US" sz="1100" dirty="0"/>
          </a:p>
        </p:txBody>
      </p:sp>
      <p:sp>
        <p:nvSpPr>
          <p:cNvPr id="100" name="Text 98"/>
          <p:cNvSpPr txBox="1"/>
          <p:nvPr/>
        </p:nvSpPr>
        <p:spPr>
          <a:xfrm>
            <a:off x="548640" y="5166360"/>
            <a:ext cx="7315200" cy="228600"/>
          </a:xfrm>
          <a:prstGeom prst="rect">
            <a:avLst/>
          </a:prstGeom>
          <a:noFill/>
          <a:ln/>
        </p:spPr>
        <p:txBody>
          <a:bodyPr wrap="square" lIns="0" tIns="0" rIns="0" bIns="0" rtlCol="0" anchor="t"/>
          <a:lstStyle/>
          <a:p>
            <a:pPr marL="0" indent="0">
              <a:buNone/>
            </a:pPr>
            <a:r>
              <a:rPr lang="en-US" sz="1000" b="1" kern="0" spc="100" dirty="0">
                <a:solidFill>
                  <a:srgbClr val="5F6672"/>
                </a:solidFill>
                <a:latin typeface="Calibri" pitchFamily="34" charset="0"/>
                <a:ea typeface="Calibri" pitchFamily="34" charset="-122"/>
                <a:cs typeface="Calibri" pitchFamily="34" charset="-120"/>
              </a:rPr>
              <a:t>ADJACENT RESEARCH THAT INFORMS THE DESIGN</a:t>
            </a:r>
            <a:endParaRPr lang="en-US" sz="1000" dirty="0"/>
          </a:p>
        </p:txBody>
      </p:sp>
      <p:sp>
        <p:nvSpPr>
          <p:cNvPr id="101" name="Shape 99"/>
          <p:cNvSpPr/>
          <p:nvPr/>
        </p:nvSpPr>
        <p:spPr>
          <a:xfrm>
            <a:off x="548640" y="5440680"/>
            <a:ext cx="2103120" cy="457200"/>
          </a:xfrm>
          <a:prstGeom prst="rect">
            <a:avLst/>
          </a:prstGeom>
          <a:solidFill>
            <a:srgbClr val="FFFFFF"/>
          </a:solidFill>
          <a:ln w="12700">
            <a:solidFill>
              <a:srgbClr val="2A7F86"/>
            </a:solidFill>
            <a:prstDash val="solid"/>
          </a:ln>
        </p:spPr>
      </p:sp>
      <p:sp>
        <p:nvSpPr>
          <p:cNvPr id="102" name="Text 100"/>
          <p:cNvSpPr txBox="1"/>
          <p:nvPr/>
        </p:nvSpPr>
        <p:spPr>
          <a:xfrm>
            <a:off x="594360" y="5440680"/>
            <a:ext cx="2011680" cy="457200"/>
          </a:xfrm>
          <a:prstGeom prst="rect">
            <a:avLst/>
          </a:prstGeom>
          <a:noFill/>
          <a:ln/>
        </p:spPr>
        <p:txBody>
          <a:bodyPr wrap="square" lIns="0" tIns="0" rIns="0" bIns="0" rtlCol="0" anchor="ctr"/>
          <a:lstStyle/>
          <a:p>
            <a:pPr marL="0" indent="0" algn="ctr">
              <a:buNone/>
            </a:pPr>
            <a:r>
              <a:rPr lang="en-US" sz="1100" dirty="0">
                <a:solidFill>
                  <a:srgbClr val="14263F"/>
                </a:solidFill>
                <a:latin typeface="Calibri" pitchFamily="34" charset="0"/>
                <a:ea typeface="Calibri" pitchFamily="34" charset="-122"/>
                <a:cs typeface="Calibri" pitchFamily="34" charset="-120"/>
              </a:rPr>
              <a:t>Fair assignment [7], [8]</a:t>
            </a:r>
            <a:endParaRPr lang="en-US" sz="1100" dirty="0"/>
          </a:p>
        </p:txBody>
      </p:sp>
      <p:sp>
        <p:nvSpPr>
          <p:cNvPr id="103" name="Shape 101"/>
          <p:cNvSpPr/>
          <p:nvPr/>
        </p:nvSpPr>
        <p:spPr>
          <a:xfrm>
            <a:off x="2788920" y="5440680"/>
            <a:ext cx="2103120" cy="457200"/>
          </a:xfrm>
          <a:prstGeom prst="rect">
            <a:avLst/>
          </a:prstGeom>
          <a:solidFill>
            <a:srgbClr val="FFFFFF"/>
          </a:solidFill>
          <a:ln w="12700">
            <a:solidFill>
              <a:srgbClr val="2A7F86"/>
            </a:solidFill>
            <a:prstDash val="solid"/>
          </a:ln>
        </p:spPr>
      </p:sp>
      <p:sp>
        <p:nvSpPr>
          <p:cNvPr id="104" name="Text 102"/>
          <p:cNvSpPr txBox="1"/>
          <p:nvPr/>
        </p:nvSpPr>
        <p:spPr>
          <a:xfrm>
            <a:off x="2834640" y="5440680"/>
            <a:ext cx="2011680" cy="457200"/>
          </a:xfrm>
          <a:prstGeom prst="rect">
            <a:avLst/>
          </a:prstGeom>
          <a:noFill/>
          <a:ln/>
        </p:spPr>
        <p:txBody>
          <a:bodyPr wrap="square" lIns="0" tIns="0" rIns="0" bIns="0" rtlCol="0" anchor="ctr"/>
          <a:lstStyle/>
          <a:p>
            <a:pPr marL="0" indent="0" algn="ctr">
              <a:buNone/>
            </a:pPr>
            <a:r>
              <a:rPr lang="en-US" sz="1100" dirty="0">
                <a:solidFill>
                  <a:srgbClr val="14263F"/>
                </a:solidFill>
                <a:latin typeface="Calibri" pitchFamily="34" charset="0"/>
                <a:ea typeface="Calibri" pitchFamily="34" charset="-122"/>
                <a:cs typeface="Calibri" pitchFamily="34" charset="-120"/>
              </a:rPr>
              <a:t>Access control [9], [11]</a:t>
            </a:r>
            <a:endParaRPr lang="en-US" sz="1100" dirty="0"/>
          </a:p>
        </p:txBody>
      </p:sp>
      <p:sp>
        <p:nvSpPr>
          <p:cNvPr id="105" name="Shape 103"/>
          <p:cNvSpPr/>
          <p:nvPr/>
        </p:nvSpPr>
        <p:spPr>
          <a:xfrm>
            <a:off x="5029200" y="5440680"/>
            <a:ext cx="2103120" cy="457200"/>
          </a:xfrm>
          <a:prstGeom prst="rect">
            <a:avLst/>
          </a:prstGeom>
          <a:solidFill>
            <a:srgbClr val="FFFFFF"/>
          </a:solidFill>
          <a:ln w="12700">
            <a:solidFill>
              <a:srgbClr val="2A7F86"/>
            </a:solidFill>
            <a:prstDash val="solid"/>
          </a:ln>
        </p:spPr>
      </p:sp>
      <p:sp>
        <p:nvSpPr>
          <p:cNvPr id="106" name="Text 104"/>
          <p:cNvSpPr txBox="1"/>
          <p:nvPr/>
        </p:nvSpPr>
        <p:spPr>
          <a:xfrm>
            <a:off x="5074920" y="5440680"/>
            <a:ext cx="2011680" cy="457200"/>
          </a:xfrm>
          <a:prstGeom prst="rect">
            <a:avLst/>
          </a:prstGeom>
          <a:noFill/>
          <a:ln/>
        </p:spPr>
        <p:txBody>
          <a:bodyPr wrap="square" lIns="0" tIns="0" rIns="0" bIns="0" rtlCol="0" anchor="ctr"/>
          <a:lstStyle/>
          <a:p>
            <a:pPr marL="0" indent="0" algn="ctr">
              <a:buNone/>
            </a:pPr>
            <a:r>
              <a:rPr lang="en-US" sz="1100" dirty="0">
                <a:solidFill>
                  <a:srgbClr val="14263F"/>
                </a:solidFill>
                <a:latin typeface="Calibri" pitchFamily="34" charset="0"/>
                <a:ea typeface="Calibri" pitchFamily="34" charset="-122"/>
                <a:cs typeface="Calibri" pitchFamily="34" charset="-120"/>
              </a:rPr>
              <a:t>Transaction integrity [10], [12]</a:t>
            </a:r>
            <a:endParaRPr lang="en-US" sz="1100" dirty="0"/>
          </a:p>
        </p:txBody>
      </p:sp>
      <p:sp>
        <p:nvSpPr>
          <p:cNvPr id="107" name="Shape 105"/>
          <p:cNvSpPr/>
          <p:nvPr/>
        </p:nvSpPr>
        <p:spPr>
          <a:xfrm>
            <a:off x="7269480" y="5440680"/>
            <a:ext cx="2103120" cy="457200"/>
          </a:xfrm>
          <a:prstGeom prst="rect">
            <a:avLst/>
          </a:prstGeom>
          <a:solidFill>
            <a:srgbClr val="FFFFFF"/>
          </a:solidFill>
          <a:ln w="12700">
            <a:solidFill>
              <a:srgbClr val="2A7F86"/>
            </a:solidFill>
            <a:prstDash val="solid"/>
          </a:ln>
        </p:spPr>
      </p:sp>
      <p:sp>
        <p:nvSpPr>
          <p:cNvPr id="108" name="Text 106"/>
          <p:cNvSpPr txBox="1"/>
          <p:nvPr/>
        </p:nvSpPr>
        <p:spPr>
          <a:xfrm>
            <a:off x="7315200" y="5440680"/>
            <a:ext cx="2011680" cy="457200"/>
          </a:xfrm>
          <a:prstGeom prst="rect">
            <a:avLst/>
          </a:prstGeom>
          <a:noFill/>
          <a:ln/>
        </p:spPr>
        <p:txBody>
          <a:bodyPr wrap="square" lIns="0" tIns="0" rIns="0" bIns="0" rtlCol="0" anchor="ctr"/>
          <a:lstStyle/>
          <a:p>
            <a:pPr marL="0" indent="0" algn="ctr">
              <a:buNone/>
            </a:pPr>
            <a:r>
              <a:rPr lang="en-US" sz="1100" dirty="0">
                <a:solidFill>
                  <a:srgbClr val="14263F"/>
                </a:solidFill>
                <a:latin typeface="Calibri" pitchFamily="34" charset="0"/>
                <a:ea typeface="Calibri" pitchFamily="34" charset="-122"/>
                <a:cs typeface="Calibri" pitchFamily="34" charset="-120"/>
              </a:rPr>
              <a:t>Privacy [13]</a:t>
            </a:r>
            <a:endParaRPr lang="en-US" sz="1100" dirty="0"/>
          </a:p>
        </p:txBody>
      </p:sp>
      <p:sp>
        <p:nvSpPr>
          <p:cNvPr id="109" name="Shape 107"/>
          <p:cNvSpPr/>
          <p:nvPr/>
        </p:nvSpPr>
        <p:spPr>
          <a:xfrm>
            <a:off x="9509760" y="5440680"/>
            <a:ext cx="2103120" cy="457200"/>
          </a:xfrm>
          <a:prstGeom prst="rect">
            <a:avLst/>
          </a:prstGeom>
          <a:solidFill>
            <a:srgbClr val="FFFFFF"/>
          </a:solidFill>
          <a:ln w="12700">
            <a:solidFill>
              <a:srgbClr val="2A7F86"/>
            </a:solidFill>
            <a:prstDash val="solid"/>
          </a:ln>
        </p:spPr>
      </p:sp>
      <p:sp>
        <p:nvSpPr>
          <p:cNvPr id="110" name="Text 108"/>
          <p:cNvSpPr txBox="1"/>
          <p:nvPr/>
        </p:nvSpPr>
        <p:spPr>
          <a:xfrm>
            <a:off x="9555480" y="5440680"/>
            <a:ext cx="2011680" cy="457200"/>
          </a:xfrm>
          <a:prstGeom prst="rect">
            <a:avLst/>
          </a:prstGeom>
          <a:noFill/>
          <a:ln/>
        </p:spPr>
        <p:txBody>
          <a:bodyPr wrap="square" lIns="0" tIns="0" rIns="0" bIns="0" rtlCol="0" anchor="ctr"/>
          <a:lstStyle/>
          <a:p>
            <a:pPr marL="0" indent="0" algn="ctr">
              <a:buNone/>
            </a:pPr>
            <a:r>
              <a:rPr lang="en-US" sz="1100" dirty="0">
                <a:solidFill>
                  <a:srgbClr val="14263F"/>
                </a:solidFill>
                <a:latin typeface="Calibri" pitchFamily="34" charset="0"/>
                <a:ea typeface="Calibri" pitchFamily="34" charset="-122"/>
                <a:cs typeface="Calibri" pitchFamily="34" charset="-120"/>
              </a:rPr>
              <a:t>Fuzzy allocation [6]</a:t>
            </a:r>
            <a:endParaRPr lang="en-US" sz="1100" dirty="0"/>
          </a:p>
        </p:txBody>
      </p:sp>
      <p:sp>
        <p:nvSpPr>
          <p:cNvPr id="111" name="Text 109"/>
          <p:cNvSpPr txBox="1"/>
          <p:nvPr/>
        </p:nvSpPr>
        <p:spPr>
          <a:xfrm>
            <a:off x="548640" y="6217920"/>
            <a:ext cx="11064240" cy="228600"/>
          </a:xfrm>
          <a:prstGeom prst="rect">
            <a:avLst/>
          </a:prstGeom>
          <a:noFill/>
          <a:ln/>
        </p:spPr>
        <p:txBody>
          <a:bodyPr wrap="square" lIns="0" tIns="0" rIns="0" bIns="0" rtlCol="0" anchor="t"/>
          <a:lstStyle/>
          <a:p>
            <a:pPr marL="0" indent="0">
              <a:buNone/>
            </a:pPr>
            <a:r>
              <a:rPr lang="en-US" sz="900" i="1" dirty="0">
                <a:solidFill>
                  <a:srgbClr val="5F6672"/>
                </a:solidFill>
                <a:latin typeface="Calibri" pitchFamily="34" charset="0"/>
                <a:ea typeface="Calibri" pitchFamily="34" charset="-122"/>
                <a:cs typeface="Calibri" pitchFamily="34" charset="-120"/>
              </a:rPr>
              <a:t>Reviewed sources: [1]–[4] by abstract. Priority-aware, seat-level and live-occupancy allocation are not documented in them — an opportunity to validate, not a proven gap.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100" b="1" kern="0" spc="300" dirty="0">
                <a:solidFill>
                  <a:srgbClr val="2A7F86"/>
                </a:solidFill>
                <a:latin typeface="Calibri" pitchFamily="34" charset="0"/>
                <a:ea typeface="Calibri" pitchFamily="34" charset="-122"/>
                <a:cs typeface="Calibri" pitchFamily="34" charset="-120"/>
              </a:rPr>
              <a:t>LIMITATIONS OF EXISTING APPROACHES</a:t>
            </a:r>
            <a:endParaRPr lang="en-US" sz="1100" dirty="0"/>
          </a:p>
        </p:txBody>
      </p:sp>
      <p:sp>
        <p:nvSpPr>
          <p:cNvPr id="3" name="Text 1"/>
          <p:cNvSpPr txBox="1"/>
          <p:nvPr/>
        </p:nvSpPr>
        <p:spPr>
          <a:xfrm>
            <a:off x="548640" y="640080"/>
            <a:ext cx="11064240" cy="548640"/>
          </a:xfrm>
          <a:prstGeom prst="rect">
            <a:avLst/>
          </a:prstGeom>
          <a:noFill/>
          <a:ln/>
        </p:spPr>
        <p:txBody>
          <a:bodyPr wrap="square" lIns="0" tIns="0" rIns="0" bIns="0" rtlCol="0" anchor="t"/>
          <a:lstStyle/>
          <a:p>
            <a:pPr marL="0" indent="0">
              <a:buNone/>
            </a:pPr>
            <a:r>
              <a:rPr lang="en-US" sz="2700" b="1" dirty="0">
                <a:solidFill>
                  <a:srgbClr val="14263F"/>
                </a:solidFill>
                <a:latin typeface="Calibri" pitchFamily="34" charset="0"/>
                <a:ea typeface="Calibri" pitchFamily="34" charset="-122"/>
                <a:cs typeface="Calibri" pitchFamily="34" charset="-120"/>
              </a:rPr>
              <a:t>Candidate Gaps to Validate</a:t>
            </a:r>
            <a:endParaRPr lang="en-US" sz="2700" dirty="0"/>
          </a:p>
        </p:txBody>
      </p:sp>
      <p:sp>
        <p:nvSpPr>
          <p:cNvPr id="4" name="Text 2"/>
          <p:cNvSpPr txBox="1"/>
          <p:nvPr/>
        </p:nvSpPr>
        <p:spPr>
          <a:xfrm>
            <a:off x="548640" y="6492240"/>
            <a:ext cx="7315200" cy="228600"/>
          </a:xfrm>
          <a:prstGeom prst="rect">
            <a:avLst/>
          </a:prstGeom>
          <a:noFill/>
          <a:ln/>
        </p:spPr>
        <p:txBody>
          <a:bodyPr wrap="square" lIns="0" tIns="0" rIns="0" bIns="0" rtlCol="0" anchor="t"/>
          <a:lstStyle/>
          <a:p>
            <a:pPr marL="0" indent="0">
              <a:buNone/>
            </a:pPr>
            <a:r>
              <a:rPr lang="en-US" sz="900" dirty="0">
                <a:solidFill>
                  <a:srgbClr val="5F6672"/>
                </a:solidFill>
                <a:latin typeface="Calibri" pitchFamily="34" charset="0"/>
                <a:ea typeface="Calibri" pitchFamily="34" charset="-122"/>
                <a:cs typeface="Calibri" pitchFamily="34" charset="-120"/>
              </a:rPr>
              <a:t>SIT Tumakuru · Dept. of CSE · Community Project Phase-I, 2026–27</a:t>
            </a:r>
            <a:endParaRPr lang="en-US" sz="900" dirty="0"/>
          </a:p>
        </p:txBody>
      </p:sp>
      <p:sp>
        <p:nvSpPr>
          <p:cNvPr id="5" name="Text 3"/>
          <p:cNvSpPr txBox="1"/>
          <p:nvPr/>
        </p:nvSpPr>
        <p:spPr>
          <a:xfrm>
            <a:off x="11155680" y="6492240"/>
            <a:ext cx="457200" cy="228600"/>
          </a:xfrm>
          <a:prstGeom prst="rect">
            <a:avLst/>
          </a:prstGeom>
          <a:noFill/>
          <a:ln/>
        </p:spPr>
        <p:txBody>
          <a:bodyPr wrap="square" lIns="0" tIns="0" rIns="0" bIns="0" rtlCol="0" anchor="t"/>
          <a:lstStyle/>
          <a:p>
            <a:pPr marL="0" indent="0" algn="r">
              <a:buNone/>
            </a:pPr>
            <a:r>
              <a:rPr lang="en-US" sz="900" dirty="0">
                <a:solidFill>
                  <a:srgbClr val="5F6672"/>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6766560" y="411480"/>
            <a:ext cx="4846320" cy="256032"/>
          </a:xfrm>
          <a:prstGeom prst="rect">
            <a:avLst/>
          </a:prstGeom>
          <a:solidFill>
            <a:srgbClr val="FFFFFF"/>
          </a:solidFill>
          <a:ln w="12700">
            <a:solidFill>
              <a:srgbClr val="B7791F"/>
            </a:solidFill>
            <a:prstDash val="solid"/>
          </a:ln>
        </p:spPr>
      </p:sp>
      <p:sp>
        <p:nvSpPr>
          <p:cNvPr id="7" name="Text 5"/>
          <p:cNvSpPr txBox="1"/>
          <p:nvPr/>
        </p:nvSpPr>
        <p:spPr>
          <a:xfrm>
            <a:off x="6812280" y="411480"/>
            <a:ext cx="4754880" cy="256032"/>
          </a:xfrm>
          <a:prstGeom prst="rect">
            <a:avLst/>
          </a:prstGeom>
          <a:noFill/>
          <a:ln/>
        </p:spPr>
        <p:txBody>
          <a:bodyPr wrap="square" lIns="0" tIns="0" rIns="0" bIns="0" rtlCol="0" anchor="ctr"/>
          <a:lstStyle/>
          <a:p>
            <a:pPr marL="0" indent="0" algn="ctr">
              <a:buNone/>
            </a:pPr>
            <a:r>
              <a:rPr lang="en-US" sz="900" b="1" dirty="0">
                <a:solidFill>
                  <a:srgbClr val="B7791F"/>
                </a:solidFill>
                <a:latin typeface="Calibri" pitchFamily="34" charset="0"/>
                <a:ea typeface="Calibri" pitchFamily="34" charset="-122"/>
                <a:cs typeface="Calibri" pitchFamily="34" charset="-120"/>
              </a:rPr>
              <a:t>CANDIDATE PROBLEMS — TO BE VALIDATED WITH THE COMMUNITY</a:t>
            </a:r>
            <a:endParaRPr lang="en-US" sz="900" dirty="0"/>
          </a:p>
        </p:txBody>
      </p:sp>
      <p:sp>
        <p:nvSpPr>
          <p:cNvPr id="8" name="Text 6"/>
          <p:cNvSpPr txBox="1"/>
          <p:nvPr/>
        </p:nvSpPr>
        <p:spPr>
          <a:xfrm>
            <a:off x="548640" y="1737360"/>
            <a:ext cx="3657600" cy="274320"/>
          </a:xfrm>
          <a:prstGeom prst="rect">
            <a:avLst/>
          </a:prstGeom>
          <a:noFill/>
          <a:ln/>
        </p:spPr>
        <p:txBody>
          <a:bodyPr wrap="square" lIns="0" tIns="0" rIns="0" bIns="0" rtlCol="0" anchor="t"/>
          <a:lstStyle/>
          <a:p>
            <a:pPr marL="0" indent="0">
              <a:buNone/>
            </a:pPr>
            <a:r>
              <a:rPr lang="en-US" sz="1100" b="1" kern="0" spc="200" dirty="0">
                <a:solidFill>
                  <a:srgbClr val="5F6672"/>
                </a:solidFill>
                <a:latin typeface="Calibri" pitchFamily="34" charset="0"/>
                <a:ea typeface="Calibri" pitchFamily="34" charset="-122"/>
                <a:cs typeface="Calibri" pitchFamily="34" charset="-120"/>
              </a:rPr>
              <a:t>POSSIBLE CAUSES</a:t>
            </a:r>
            <a:endParaRPr lang="en-US" sz="1100" dirty="0"/>
          </a:p>
        </p:txBody>
      </p:sp>
      <p:sp>
        <p:nvSpPr>
          <p:cNvPr id="9" name="Shape 7"/>
          <p:cNvSpPr/>
          <p:nvPr/>
        </p:nvSpPr>
        <p:spPr>
          <a:xfrm>
            <a:off x="548640" y="2103120"/>
            <a:ext cx="3291840" cy="685800"/>
          </a:xfrm>
          <a:prstGeom prst="rect">
            <a:avLst/>
          </a:prstGeom>
          <a:solidFill>
            <a:srgbClr val="FFFFFF"/>
          </a:solidFill>
          <a:ln w="12700">
            <a:solidFill>
              <a:srgbClr val="2A7F86"/>
            </a:solidFill>
            <a:prstDash val="solid"/>
          </a:ln>
        </p:spPr>
      </p:sp>
      <p:sp>
        <p:nvSpPr>
          <p:cNvPr id="10" name="Text 8"/>
          <p:cNvSpPr txBox="1"/>
          <p:nvPr/>
        </p:nvSpPr>
        <p:spPr>
          <a:xfrm>
            <a:off x="594360" y="2103120"/>
            <a:ext cx="3200400" cy="685800"/>
          </a:xfrm>
          <a:prstGeom prst="rect">
            <a:avLst/>
          </a:prstGeom>
          <a:noFill/>
          <a:ln/>
        </p:spPr>
        <p:txBody>
          <a:bodyPr wrap="square" lIns="0" tIns="0" rIns="0" bIns="0" rtlCol="0" anchor="ctr"/>
          <a:lstStyle/>
          <a:p>
            <a:pPr marL="0" indent="0" algn="ctr">
              <a:buNone/>
            </a:pPr>
            <a:r>
              <a:rPr lang="en-US" sz="1300" dirty="0">
                <a:solidFill>
                  <a:srgbClr val="1F2328"/>
                </a:solidFill>
                <a:latin typeface="Calibri" pitchFamily="34" charset="0"/>
                <a:ea typeface="Calibri" pitchFamily="34" charset="-122"/>
                <a:cs typeface="Calibri" pitchFamily="34" charset="-120"/>
              </a:rPr>
              <a:t>Paper records and manual steps</a:t>
            </a:r>
            <a:endParaRPr lang="en-US" sz="1300" dirty="0"/>
          </a:p>
        </p:txBody>
      </p:sp>
      <p:sp>
        <p:nvSpPr>
          <p:cNvPr id="11" name="Shape 9"/>
          <p:cNvSpPr/>
          <p:nvPr/>
        </p:nvSpPr>
        <p:spPr>
          <a:xfrm>
            <a:off x="3886200" y="2441448"/>
            <a:ext cx="731520" cy="393192"/>
          </a:xfrm>
          <a:prstGeom prst="line">
            <a:avLst/>
          </a:prstGeom>
          <a:noFill/>
          <a:ln w="15875">
            <a:solidFill>
              <a:srgbClr val="5F6672"/>
            </a:solidFill>
            <a:prstDash val="solid"/>
            <a:tailEnd type="triangle"/>
          </a:ln>
        </p:spPr>
      </p:sp>
      <p:sp>
        <p:nvSpPr>
          <p:cNvPr id="12" name="Shape 10"/>
          <p:cNvSpPr/>
          <p:nvPr/>
        </p:nvSpPr>
        <p:spPr>
          <a:xfrm>
            <a:off x="548640" y="2971800"/>
            <a:ext cx="3291840" cy="685800"/>
          </a:xfrm>
          <a:prstGeom prst="rect">
            <a:avLst/>
          </a:prstGeom>
          <a:solidFill>
            <a:srgbClr val="FFFFFF"/>
          </a:solidFill>
          <a:ln w="12700">
            <a:solidFill>
              <a:srgbClr val="2A7F86"/>
            </a:solidFill>
            <a:prstDash val="solid"/>
          </a:ln>
        </p:spPr>
      </p:sp>
      <p:sp>
        <p:nvSpPr>
          <p:cNvPr id="13" name="Text 11"/>
          <p:cNvSpPr txBox="1"/>
          <p:nvPr/>
        </p:nvSpPr>
        <p:spPr>
          <a:xfrm>
            <a:off x="594360" y="2971800"/>
            <a:ext cx="3200400" cy="685800"/>
          </a:xfrm>
          <a:prstGeom prst="rect">
            <a:avLst/>
          </a:prstGeom>
          <a:noFill/>
          <a:ln/>
        </p:spPr>
        <p:txBody>
          <a:bodyPr wrap="square" lIns="0" tIns="0" rIns="0" bIns="0" rtlCol="0" anchor="ctr"/>
          <a:lstStyle/>
          <a:p>
            <a:pPr marL="0" indent="0" algn="ctr">
              <a:buNone/>
            </a:pPr>
            <a:r>
              <a:rPr lang="en-US" sz="1300" dirty="0">
                <a:solidFill>
                  <a:srgbClr val="1F2328"/>
                </a:solidFill>
                <a:latin typeface="Calibri" pitchFamily="34" charset="0"/>
                <a:ea typeface="Calibri" pitchFamily="34" charset="-122"/>
                <a:cs typeface="Calibri" pitchFamily="34" charset="-120"/>
              </a:rPr>
              <a:t>No live view of seat availability</a:t>
            </a:r>
            <a:endParaRPr lang="en-US" sz="1300" dirty="0"/>
          </a:p>
        </p:txBody>
      </p:sp>
      <p:sp>
        <p:nvSpPr>
          <p:cNvPr id="14" name="Shape 12"/>
          <p:cNvSpPr/>
          <p:nvPr/>
        </p:nvSpPr>
        <p:spPr>
          <a:xfrm>
            <a:off x="3886200" y="3310128"/>
            <a:ext cx="640080" cy="0"/>
          </a:xfrm>
          <a:prstGeom prst="line">
            <a:avLst/>
          </a:prstGeom>
          <a:noFill/>
          <a:ln w="15875">
            <a:solidFill>
              <a:srgbClr val="5F6672"/>
            </a:solidFill>
            <a:prstDash val="solid"/>
            <a:tailEnd type="triangle"/>
          </a:ln>
        </p:spPr>
      </p:sp>
      <p:sp>
        <p:nvSpPr>
          <p:cNvPr id="15" name="Shape 13"/>
          <p:cNvSpPr/>
          <p:nvPr/>
        </p:nvSpPr>
        <p:spPr>
          <a:xfrm>
            <a:off x="548640" y="3840480"/>
            <a:ext cx="3291840" cy="685800"/>
          </a:xfrm>
          <a:prstGeom prst="rect">
            <a:avLst/>
          </a:prstGeom>
          <a:solidFill>
            <a:srgbClr val="FFFFFF"/>
          </a:solidFill>
          <a:ln w="12700">
            <a:solidFill>
              <a:srgbClr val="2A7F86"/>
            </a:solidFill>
            <a:prstDash val="solid"/>
          </a:ln>
        </p:spPr>
      </p:sp>
      <p:sp>
        <p:nvSpPr>
          <p:cNvPr id="16" name="Text 14"/>
          <p:cNvSpPr txBox="1"/>
          <p:nvPr/>
        </p:nvSpPr>
        <p:spPr>
          <a:xfrm>
            <a:off x="594360" y="3840480"/>
            <a:ext cx="3200400" cy="685800"/>
          </a:xfrm>
          <a:prstGeom prst="rect">
            <a:avLst/>
          </a:prstGeom>
          <a:noFill/>
          <a:ln/>
        </p:spPr>
        <p:txBody>
          <a:bodyPr wrap="square" lIns="0" tIns="0" rIns="0" bIns="0" rtlCol="0" anchor="ctr"/>
          <a:lstStyle/>
          <a:p>
            <a:pPr marL="0" indent="0" algn="ctr">
              <a:buNone/>
            </a:pPr>
            <a:r>
              <a:rPr lang="en-US" sz="1300" dirty="0">
                <a:solidFill>
                  <a:srgbClr val="1F2328"/>
                </a:solidFill>
                <a:latin typeface="Calibri" pitchFamily="34" charset="0"/>
                <a:ea typeface="Calibri" pitchFamily="34" charset="-122"/>
                <a:cs typeface="Calibri" pitchFamily="34" charset="-120"/>
              </a:rPr>
              <a:t>Priority rules applied by hand</a:t>
            </a:r>
            <a:endParaRPr lang="en-US" sz="1300" dirty="0"/>
          </a:p>
        </p:txBody>
      </p:sp>
      <p:sp>
        <p:nvSpPr>
          <p:cNvPr id="17" name="Shape 15"/>
          <p:cNvSpPr/>
          <p:nvPr/>
        </p:nvSpPr>
        <p:spPr>
          <a:xfrm>
            <a:off x="3886200" y="4178808"/>
            <a:ext cx="640080" cy="0"/>
          </a:xfrm>
          <a:prstGeom prst="line">
            <a:avLst/>
          </a:prstGeom>
          <a:noFill/>
          <a:ln w="15875">
            <a:solidFill>
              <a:srgbClr val="5F6672"/>
            </a:solidFill>
            <a:prstDash val="solid"/>
            <a:tailEnd type="triangle"/>
          </a:ln>
        </p:spPr>
      </p:sp>
      <p:sp>
        <p:nvSpPr>
          <p:cNvPr id="18" name="Shape 16"/>
          <p:cNvSpPr/>
          <p:nvPr/>
        </p:nvSpPr>
        <p:spPr>
          <a:xfrm>
            <a:off x="548640" y="4709160"/>
            <a:ext cx="3291840" cy="685800"/>
          </a:xfrm>
          <a:prstGeom prst="rect">
            <a:avLst/>
          </a:prstGeom>
          <a:solidFill>
            <a:srgbClr val="FFFFFF"/>
          </a:solidFill>
          <a:ln w="12700">
            <a:solidFill>
              <a:srgbClr val="2A7F86"/>
            </a:solidFill>
            <a:prstDash val="solid"/>
          </a:ln>
        </p:spPr>
      </p:sp>
      <p:sp>
        <p:nvSpPr>
          <p:cNvPr id="19" name="Text 17"/>
          <p:cNvSpPr txBox="1"/>
          <p:nvPr/>
        </p:nvSpPr>
        <p:spPr>
          <a:xfrm>
            <a:off x="594360" y="4709160"/>
            <a:ext cx="3200400" cy="685800"/>
          </a:xfrm>
          <a:prstGeom prst="rect">
            <a:avLst/>
          </a:prstGeom>
          <a:noFill/>
          <a:ln/>
        </p:spPr>
        <p:txBody>
          <a:bodyPr wrap="square" lIns="0" tIns="0" rIns="0" bIns="0" rtlCol="0" anchor="ctr"/>
          <a:lstStyle/>
          <a:p>
            <a:pPr marL="0" indent="0" algn="ctr">
              <a:buNone/>
            </a:pPr>
            <a:r>
              <a:rPr lang="en-US" sz="1300" dirty="0">
                <a:solidFill>
                  <a:srgbClr val="1F2328"/>
                </a:solidFill>
                <a:latin typeface="Calibri" pitchFamily="34" charset="0"/>
                <a:ea typeface="Calibri" pitchFamily="34" charset="-122"/>
                <a:cs typeface="Calibri" pitchFamily="34" charset="-120"/>
              </a:rPr>
              <a:t>Complaints and changes tracked loosely</a:t>
            </a:r>
            <a:endParaRPr lang="en-US" sz="1300" dirty="0"/>
          </a:p>
        </p:txBody>
      </p:sp>
      <p:sp>
        <p:nvSpPr>
          <p:cNvPr id="20" name="Shape 18"/>
          <p:cNvSpPr/>
          <p:nvPr/>
        </p:nvSpPr>
        <p:spPr>
          <a:xfrm flipV="1">
            <a:off x="3886200" y="4343400"/>
            <a:ext cx="811924" cy="704088"/>
          </a:xfrm>
          <a:prstGeom prst="line">
            <a:avLst/>
          </a:prstGeom>
          <a:noFill/>
          <a:ln w="15875">
            <a:solidFill>
              <a:srgbClr val="5F6672"/>
            </a:solidFill>
            <a:prstDash val="solid"/>
            <a:tailEnd type="triangle"/>
          </a:ln>
        </p:spPr>
      </p:sp>
      <p:sp>
        <p:nvSpPr>
          <p:cNvPr id="21" name="Shape 19"/>
          <p:cNvSpPr/>
          <p:nvPr/>
        </p:nvSpPr>
        <p:spPr>
          <a:xfrm>
            <a:off x="4572000" y="2926080"/>
            <a:ext cx="2743200" cy="1371600"/>
          </a:xfrm>
          <a:prstGeom prst="rect">
            <a:avLst/>
          </a:prstGeom>
          <a:solidFill>
            <a:srgbClr val="14263F"/>
          </a:solidFill>
          <a:ln w="12700">
            <a:solidFill>
              <a:srgbClr val="14263F"/>
            </a:solidFill>
            <a:prstDash val="solid"/>
          </a:ln>
        </p:spPr>
      </p:sp>
      <p:sp>
        <p:nvSpPr>
          <p:cNvPr id="22" name="Text 20"/>
          <p:cNvSpPr txBox="1"/>
          <p:nvPr/>
        </p:nvSpPr>
        <p:spPr>
          <a:xfrm>
            <a:off x="4617720" y="2926080"/>
            <a:ext cx="2651760" cy="13716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Slow, unclear and hard-to-audit hostel allocation</a:t>
            </a:r>
            <a:endParaRPr lang="en-US" sz="1500" dirty="0"/>
          </a:p>
        </p:txBody>
      </p:sp>
      <p:sp>
        <p:nvSpPr>
          <p:cNvPr id="23" name="Shape 21"/>
          <p:cNvSpPr/>
          <p:nvPr/>
        </p:nvSpPr>
        <p:spPr>
          <a:xfrm>
            <a:off x="7360920" y="3611880"/>
            <a:ext cx="548640" cy="0"/>
          </a:xfrm>
          <a:prstGeom prst="line">
            <a:avLst/>
          </a:prstGeom>
          <a:noFill/>
          <a:ln w="15875">
            <a:solidFill>
              <a:srgbClr val="5F6672"/>
            </a:solidFill>
            <a:prstDash val="solid"/>
            <a:tailEnd type="triangle"/>
          </a:ln>
        </p:spPr>
      </p:sp>
      <p:sp>
        <p:nvSpPr>
          <p:cNvPr id="24" name="Text 22"/>
          <p:cNvSpPr txBox="1"/>
          <p:nvPr/>
        </p:nvSpPr>
        <p:spPr>
          <a:xfrm>
            <a:off x="8046720" y="1737360"/>
            <a:ext cx="3657600" cy="274320"/>
          </a:xfrm>
          <a:prstGeom prst="rect">
            <a:avLst/>
          </a:prstGeom>
          <a:noFill/>
          <a:ln/>
        </p:spPr>
        <p:txBody>
          <a:bodyPr wrap="square" lIns="0" tIns="0" rIns="0" bIns="0" rtlCol="0" anchor="t"/>
          <a:lstStyle/>
          <a:p>
            <a:pPr marL="0" indent="0">
              <a:buNone/>
            </a:pPr>
            <a:r>
              <a:rPr lang="en-US" sz="1100" b="1" kern="0" spc="200" dirty="0">
                <a:solidFill>
                  <a:srgbClr val="5F6672"/>
                </a:solidFill>
                <a:latin typeface="Calibri" pitchFamily="34" charset="0"/>
                <a:ea typeface="Calibri" pitchFamily="34" charset="-122"/>
                <a:cs typeface="Calibri" pitchFamily="34" charset="-120"/>
              </a:rPr>
              <a:t>POSSIBLE EFFECTS</a:t>
            </a:r>
            <a:endParaRPr lang="en-US" sz="1100" dirty="0"/>
          </a:p>
        </p:txBody>
      </p:sp>
      <p:sp>
        <p:nvSpPr>
          <p:cNvPr id="25" name="Shape 23"/>
          <p:cNvSpPr/>
          <p:nvPr/>
        </p:nvSpPr>
        <p:spPr>
          <a:xfrm>
            <a:off x="8046720" y="2103120"/>
            <a:ext cx="3566160" cy="685800"/>
          </a:xfrm>
          <a:prstGeom prst="rect">
            <a:avLst/>
          </a:prstGeom>
          <a:solidFill>
            <a:srgbClr val="FFFFFF"/>
          </a:solidFill>
          <a:ln w="12700">
            <a:solidFill>
              <a:srgbClr val="B03A3A"/>
            </a:solidFill>
            <a:prstDash val="solid"/>
          </a:ln>
        </p:spPr>
      </p:sp>
      <p:sp>
        <p:nvSpPr>
          <p:cNvPr id="26" name="Text 24"/>
          <p:cNvSpPr txBox="1"/>
          <p:nvPr/>
        </p:nvSpPr>
        <p:spPr>
          <a:xfrm>
            <a:off x="8092440" y="2103120"/>
            <a:ext cx="3474720" cy="685800"/>
          </a:xfrm>
          <a:prstGeom prst="rect">
            <a:avLst/>
          </a:prstGeom>
          <a:noFill/>
          <a:ln/>
        </p:spPr>
        <p:txBody>
          <a:bodyPr wrap="square" lIns="0" tIns="0" rIns="0" bIns="0" rtlCol="0" anchor="ctr"/>
          <a:lstStyle/>
          <a:p>
            <a:pPr marL="0" indent="0" algn="ctr">
              <a:buNone/>
            </a:pPr>
            <a:r>
              <a:rPr lang="en-US" sz="1300" dirty="0">
                <a:solidFill>
                  <a:srgbClr val="B03A3A"/>
                </a:solidFill>
                <a:latin typeface="Calibri" pitchFamily="34" charset="0"/>
                <a:ea typeface="Calibri" pitchFamily="34" charset="-122"/>
                <a:cs typeface="Calibri" pitchFamily="34" charset="-120"/>
              </a:rPr>
              <a:t>Delays and repeated enquiries</a:t>
            </a:r>
            <a:endParaRPr lang="en-US" sz="1300" dirty="0"/>
          </a:p>
        </p:txBody>
      </p:sp>
      <p:sp>
        <p:nvSpPr>
          <p:cNvPr id="27" name="Shape 25"/>
          <p:cNvSpPr/>
          <p:nvPr/>
        </p:nvSpPr>
        <p:spPr>
          <a:xfrm>
            <a:off x="8046720" y="2971800"/>
            <a:ext cx="3566160" cy="685800"/>
          </a:xfrm>
          <a:prstGeom prst="rect">
            <a:avLst/>
          </a:prstGeom>
          <a:solidFill>
            <a:srgbClr val="FFFFFF"/>
          </a:solidFill>
          <a:ln w="12700">
            <a:solidFill>
              <a:srgbClr val="B03A3A"/>
            </a:solidFill>
            <a:prstDash val="solid"/>
          </a:ln>
        </p:spPr>
      </p:sp>
      <p:sp>
        <p:nvSpPr>
          <p:cNvPr id="28" name="Text 26"/>
          <p:cNvSpPr txBox="1"/>
          <p:nvPr/>
        </p:nvSpPr>
        <p:spPr>
          <a:xfrm>
            <a:off x="8092440" y="2971800"/>
            <a:ext cx="3474720" cy="685800"/>
          </a:xfrm>
          <a:prstGeom prst="rect">
            <a:avLst/>
          </a:prstGeom>
          <a:noFill/>
          <a:ln/>
        </p:spPr>
        <p:txBody>
          <a:bodyPr wrap="square" lIns="0" tIns="0" rIns="0" bIns="0" rtlCol="0" anchor="ctr"/>
          <a:lstStyle/>
          <a:p>
            <a:pPr marL="0" indent="0" algn="ctr">
              <a:buNone/>
            </a:pPr>
            <a:r>
              <a:rPr lang="en-US" sz="1300" dirty="0">
                <a:solidFill>
                  <a:srgbClr val="B03A3A"/>
                </a:solidFill>
                <a:latin typeface="Calibri" pitchFamily="34" charset="0"/>
                <a:ea typeface="Calibri" pitchFamily="34" charset="-122"/>
                <a:cs typeface="Calibri" pitchFamily="34" charset="-120"/>
              </a:rPr>
              <a:t>Confusion about status and availability</a:t>
            </a:r>
            <a:endParaRPr lang="en-US" sz="1300" dirty="0"/>
          </a:p>
        </p:txBody>
      </p:sp>
      <p:sp>
        <p:nvSpPr>
          <p:cNvPr id="29" name="Shape 27"/>
          <p:cNvSpPr/>
          <p:nvPr/>
        </p:nvSpPr>
        <p:spPr>
          <a:xfrm>
            <a:off x="8046720" y="3840480"/>
            <a:ext cx="3566160" cy="685800"/>
          </a:xfrm>
          <a:prstGeom prst="rect">
            <a:avLst/>
          </a:prstGeom>
          <a:solidFill>
            <a:srgbClr val="FFFFFF"/>
          </a:solidFill>
          <a:ln w="12700">
            <a:solidFill>
              <a:srgbClr val="B03A3A"/>
            </a:solidFill>
            <a:prstDash val="solid"/>
          </a:ln>
        </p:spPr>
      </p:sp>
      <p:sp>
        <p:nvSpPr>
          <p:cNvPr id="30" name="Text 28"/>
          <p:cNvSpPr txBox="1"/>
          <p:nvPr/>
        </p:nvSpPr>
        <p:spPr>
          <a:xfrm>
            <a:off x="8092440" y="3840480"/>
            <a:ext cx="3474720" cy="685800"/>
          </a:xfrm>
          <a:prstGeom prst="rect">
            <a:avLst/>
          </a:prstGeom>
          <a:noFill/>
          <a:ln/>
        </p:spPr>
        <p:txBody>
          <a:bodyPr wrap="square" lIns="0" tIns="0" rIns="0" bIns="0" rtlCol="0" anchor="ctr"/>
          <a:lstStyle/>
          <a:p>
            <a:pPr marL="0" indent="0" algn="ctr">
              <a:buNone/>
            </a:pPr>
            <a:r>
              <a:rPr lang="en-US" sz="1300" dirty="0">
                <a:solidFill>
                  <a:srgbClr val="B03A3A"/>
                </a:solidFill>
                <a:latin typeface="Calibri" pitchFamily="34" charset="0"/>
                <a:ea typeface="Calibri" pitchFamily="34" charset="-122"/>
                <a:cs typeface="Calibri" pitchFamily="34" charset="-120"/>
              </a:rPr>
              <a:t>Inconsistent record updates</a:t>
            </a:r>
            <a:endParaRPr lang="en-US" sz="1300" dirty="0"/>
          </a:p>
        </p:txBody>
      </p:sp>
      <p:sp>
        <p:nvSpPr>
          <p:cNvPr id="31" name="Shape 29"/>
          <p:cNvSpPr/>
          <p:nvPr/>
        </p:nvSpPr>
        <p:spPr>
          <a:xfrm>
            <a:off x="8046720" y="4709160"/>
            <a:ext cx="3566160" cy="685800"/>
          </a:xfrm>
          <a:prstGeom prst="rect">
            <a:avLst/>
          </a:prstGeom>
          <a:solidFill>
            <a:srgbClr val="FFFFFF"/>
          </a:solidFill>
          <a:ln w="12700">
            <a:solidFill>
              <a:srgbClr val="B03A3A"/>
            </a:solidFill>
            <a:prstDash val="solid"/>
          </a:ln>
        </p:spPr>
      </p:sp>
      <p:sp>
        <p:nvSpPr>
          <p:cNvPr id="32" name="Text 30"/>
          <p:cNvSpPr txBox="1"/>
          <p:nvPr/>
        </p:nvSpPr>
        <p:spPr>
          <a:xfrm>
            <a:off x="8092440" y="4709160"/>
            <a:ext cx="3474720" cy="685800"/>
          </a:xfrm>
          <a:prstGeom prst="rect">
            <a:avLst/>
          </a:prstGeom>
          <a:noFill/>
          <a:ln/>
        </p:spPr>
        <p:txBody>
          <a:bodyPr wrap="square" lIns="0" tIns="0" rIns="0" bIns="0" rtlCol="0" anchor="ctr"/>
          <a:lstStyle/>
          <a:p>
            <a:pPr marL="0" indent="0" algn="ctr">
              <a:buNone/>
            </a:pPr>
            <a:r>
              <a:rPr lang="en-US" sz="1300" dirty="0">
                <a:solidFill>
                  <a:srgbClr val="B03A3A"/>
                </a:solidFill>
                <a:latin typeface="Calibri" pitchFamily="34" charset="0"/>
                <a:ea typeface="Calibri" pitchFamily="34" charset="-122"/>
                <a:cs typeface="Calibri" pitchFamily="34" charset="-120"/>
              </a:rPr>
              <a:t>Limited traceability of decisions</a:t>
            </a:r>
            <a:endParaRPr lang="en-US" sz="1300" dirty="0"/>
          </a:p>
        </p:txBody>
      </p:sp>
      <p:sp>
        <p:nvSpPr>
          <p:cNvPr id="33" name="Text 31"/>
          <p:cNvSpPr txBox="1"/>
          <p:nvPr/>
        </p:nvSpPr>
        <p:spPr>
          <a:xfrm>
            <a:off x="548640" y="6217920"/>
            <a:ext cx="11064240" cy="228600"/>
          </a:xfrm>
          <a:prstGeom prst="rect">
            <a:avLst/>
          </a:prstGeom>
          <a:noFill/>
          <a:ln/>
        </p:spPr>
        <p:txBody>
          <a:bodyPr wrap="square" lIns="0" tIns="0" rIns="0" bIns="0" rtlCol="0" anchor="t"/>
          <a:lstStyle/>
          <a:p>
            <a:pPr marL="0" indent="0">
              <a:buNone/>
            </a:pPr>
            <a:r>
              <a:rPr lang="en-US" sz="900" i="1" dirty="0">
                <a:solidFill>
                  <a:srgbClr val="5F6672"/>
                </a:solidFill>
                <a:latin typeface="Calibri" pitchFamily="34" charset="0"/>
                <a:ea typeface="Calibri" pitchFamily="34" charset="-122"/>
                <a:cs typeface="Calibri" pitchFamily="34" charset="-120"/>
              </a:rPr>
              <a:t>Manual-process issues are described in [1], [3], [4]; whether they apply to the partner hostel is to be confirmed by the needs assessment.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100" b="1" kern="0" spc="300" dirty="0">
                <a:solidFill>
                  <a:srgbClr val="2A7F86"/>
                </a:solidFill>
                <a:latin typeface="Calibri" pitchFamily="34" charset="0"/>
                <a:ea typeface="Calibri" pitchFamily="34" charset="-122"/>
                <a:cs typeface="Calibri" pitchFamily="34" charset="-120"/>
              </a:rPr>
              <a:t>PROBLEM STATEMENT</a:t>
            </a:r>
            <a:endParaRPr lang="en-US" sz="1100" dirty="0"/>
          </a:p>
        </p:txBody>
      </p:sp>
      <p:sp>
        <p:nvSpPr>
          <p:cNvPr id="3" name="Text 1"/>
          <p:cNvSpPr txBox="1"/>
          <p:nvPr/>
        </p:nvSpPr>
        <p:spPr>
          <a:xfrm>
            <a:off x="548640" y="640080"/>
            <a:ext cx="11064240" cy="548640"/>
          </a:xfrm>
          <a:prstGeom prst="rect">
            <a:avLst/>
          </a:prstGeom>
          <a:noFill/>
          <a:ln/>
        </p:spPr>
        <p:txBody>
          <a:bodyPr wrap="square" lIns="0" tIns="0" rIns="0" bIns="0" rtlCol="0" anchor="t"/>
          <a:lstStyle/>
          <a:p>
            <a:pPr marL="0" indent="0">
              <a:buNone/>
            </a:pPr>
            <a:r>
              <a:rPr lang="en-US" sz="2700" b="1" dirty="0">
                <a:solidFill>
                  <a:srgbClr val="14263F"/>
                </a:solidFill>
                <a:latin typeface="Calibri" pitchFamily="34" charset="0"/>
                <a:ea typeface="Calibri" pitchFamily="34" charset="-122"/>
                <a:cs typeface="Calibri" pitchFamily="34" charset="-120"/>
              </a:rPr>
              <a:t>Clear Problem Statement</a:t>
            </a:r>
            <a:endParaRPr lang="en-US" sz="2700" dirty="0"/>
          </a:p>
        </p:txBody>
      </p:sp>
      <p:sp>
        <p:nvSpPr>
          <p:cNvPr id="4" name="Text 2"/>
          <p:cNvSpPr txBox="1"/>
          <p:nvPr/>
        </p:nvSpPr>
        <p:spPr>
          <a:xfrm>
            <a:off x="548640" y="6492240"/>
            <a:ext cx="7315200" cy="228600"/>
          </a:xfrm>
          <a:prstGeom prst="rect">
            <a:avLst/>
          </a:prstGeom>
          <a:noFill/>
          <a:ln/>
        </p:spPr>
        <p:txBody>
          <a:bodyPr wrap="square" lIns="0" tIns="0" rIns="0" bIns="0" rtlCol="0" anchor="t"/>
          <a:lstStyle/>
          <a:p>
            <a:pPr marL="0" indent="0">
              <a:buNone/>
            </a:pPr>
            <a:r>
              <a:rPr lang="en-US" sz="900" dirty="0">
                <a:solidFill>
                  <a:srgbClr val="5F6672"/>
                </a:solidFill>
                <a:latin typeface="Calibri" pitchFamily="34" charset="0"/>
                <a:ea typeface="Calibri" pitchFamily="34" charset="-122"/>
                <a:cs typeface="Calibri" pitchFamily="34" charset="-120"/>
              </a:rPr>
              <a:t>SIT Tumakuru · Dept. of CSE · Community Project Phase-I, 2026–27</a:t>
            </a:r>
            <a:endParaRPr lang="en-US" sz="900" dirty="0"/>
          </a:p>
        </p:txBody>
      </p:sp>
      <p:sp>
        <p:nvSpPr>
          <p:cNvPr id="5" name="Text 3"/>
          <p:cNvSpPr txBox="1"/>
          <p:nvPr/>
        </p:nvSpPr>
        <p:spPr>
          <a:xfrm>
            <a:off x="11155680" y="6492240"/>
            <a:ext cx="457200" cy="228600"/>
          </a:xfrm>
          <a:prstGeom prst="rect">
            <a:avLst/>
          </a:prstGeom>
          <a:noFill/>
          <a:ln/>
        </p:spPr>
        <p:txBody>
          <a:bodyPr wrap="square" lIns="0" tIns="0" rIns="0" bIns="0" rtlCol="0" anchor="t"/>
          <a:lstStyle/>
          <a:p>
            <a:pPr marL="0" indent="0" algn="r">
              <a:buNone/>
            </a:pPr>
            <a:r>
              <a:rPr lang="en-US" sz="900" dirty="0">
                <a:solidFill>
                  <a:srgbClr val="5F6672"/>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645920"/>
            <a:ext cx="64008" cy="2194560"/>
          </a:xfrm>
          <a:prstGeom prst="rect">
            <a:avLst/>
          </a:prstGeom>
          <a:solidFill>
            <a:srgbClr val="2A7F86"/>
          </a:solidFill>
          <a:ln/>
        </p:spPr>
      </p:sp>
      <p:sp>
        <p:nvSpPr>
          <p:cNvPr id="7" name="Text 5"/>
          <p:cNvSpPr txBox="1"/>
          <p:nvPr/>
        </p:nvSpPr>
        <p:spPr>
          <a:xfrm>
            <a:off x="822960" y="1645920"/>
            <a:ext cx="10515600" cy="2194560"/>
          </a:xfrm>
          <a:prstGeom prst="rect">
            <a:avLst/>
          </a:prstGeom>
          <a:noFill/>
          <a:ln/>
        </p:spPr>
        <p:txBody>
          <a:bodyPr wrap="square" lIns="0" tIns="0" rIns="0" bIns="0" rtlCol="0" anchor="ctr"/>
          <a:lstStyle/>
          <a:p>
            <a:pPr marL="0" indent="0">
              <a:buNone/>
            </a:pPr>
            <a:r>
              <a:rPr lang="en-US" sz="1800" dirty="0">
                <a:solidFill>
                  <a:srgbClr val="1F2328"/>
                </a:solidFill>
                <a:latin typeface="Calibri" pitchFamily="34" charset="0"/>
                <a:ea typeface="Calibri" pitchFamily="34" charset="-122"/>
                <a:cs typeface="Calibri" pitchFamily="34" charset="-120"/>
              </a:rPr>
              <a:t>Hostel students, wardens and hostel-office staff often rely on manual or fragmented processes to register applicants, apply priority rules and allot seats. This can lead to delays, limited visibility of availability and allocation status, inconsistent records and difficult follow-up. There is a need for a secure, transparent and manageable digital system that applies priority consistently, records every allocation and controls who can see what.</a:t>
            </a:r>
            <a:endParaRPr lang="en-US" sz="1800" dirty="0"/>
          </a:p>
        </p:txBody>
      </p:sp>
      <p:sp>
        <p:nvSpPr>
          <p:cNvPr id="8" name="Shape 6"/>
          <p:cNvSpPr/>
          <p:nvPr/>
        </p:nvSpPr>
        <p:spPr>
          <a:xfrm>
            <a:off x="548640" y="4206240"/>
            <a:ext cx="2651760" cy="45720"/>
          </a:xfrm>
          <a:prstGeom prst="rect">
            <a:avLst/>
          </a:prstGeom>
          <a:solidFill>
            <a:srgbClr val="2A7F86"/>
          </a:solidFill>
          <a:ln/>
        </p:spPr>
      </p:sp>
      <p:sp>
        <p:nvSpPr>
          <p:cNvPr id="9" name="Text 7"/>
          <p:cNvSpPr txBox="1"/>
          <p:nvPr/>
        </p:nvSpPr>
        <p:spPr>
          <a:xfrm>
            <a:off x="548640" y="4343400"/>
            <a:ext cx="2651760" cy="365760"/>
          </a:xfrm>
          <a:prstGeom prst="rect">
            <a:avLst/>
          </a:prstGeom>
          <a:noFill/>
          <a:ln/>
        </p:spPr>
        <p:txBody>
          <a:bodyPr wrap="square" lIns="0" tIns="0" rIns="0" bIns="0" rtlCol="0" anchor="t"/>
          <a:lstStyle/>
          <a:p>
            <a:pPr marL="0" indent="0">
              <a:buNone/>
            </a:pPr>
            <a:r>
              <a:rPr lang="en-US" sz="1800" b="1" dirty="0">
                <a:solidFill>
                  <a:srgbClr val="14263F"/>
                </a:solidFill>
                <a:latin typeface="Calibri" pitchFamily="34" charset="0"/>
                <a:ea typeface="Calibri" pitchFamily="34" charset="-122"/>
                <a:cs typeface="Calibri" pitchFamily="34" charset="-120"/>
              </a:rPr>
              <a:t>Visibility</a:t>
            </a:r>
            <a:endParaRPr lang="en-US" sz="1800" dirty="0"/>
          </a:p>
        </p:txBody>
      </p:sp>
      <p:sp>
        <p:nvSpPr>
          <p:cNvPr id="10" name="Text 8"/>
          <p:cNvSpPr txBox="1"/>
          <p:nvPr/>
        </p:nvSpPr>
        <p:spPr>
          <a:xfrm>
            <a:off x="548640" y="4800600"/>
            <a:ext cx="2560320" cy="731520"/>
          </a:xfrm>
          <a:prstGeom prst="rect">
            <a:avLst/>
          </a:prstGeom>
          <a:noFill/>
          <a:ln/>
        </p:spPr>
        <p:txBody>
          <a:bodyPr wrap="square" lIns="0" tIns="0" rIns="0" bIns="0" rtlCol="0" anchor="t"/>
          <a:lstStyle/>
          <a:p>
            <a:pPr marL="0" indent="0">
              <a:buNone/>
            </a:pPr>
            <a:r>
              <a:rPr lang="en-US" sz="1300" dirty="0">
                <a:solidFill>
                  <a:srgbClr val="5F6672"/>
                </a:solidFill>
                <a:latin typeface="Calibri" pitchFamily="34" charset="0"/>
                <a:ea typeface="Calibri" pitchFamily="34" charset="-122"/>
                <a:cs typeface="Calibri" pitchFamily="34" charset="-120"/>
              </a:rPr>
              <a:t>Seat availability and status are hard to see</a:t>
            </a:r>
            <a:endParaRPr lang="en-US" sz="1300" dirty="0"/>
          </a:p>
        </p:txBody>
      </p:sp>
      <p:sp>
        <p:nvSpPr>
          <p:cNvPr id="11" name="Shape 9"/>
          <p:cNvSpPr/>
          <p:nvPr/>
        </p:nvSpPr>
        <p:spPr>
          <a:xfrm>
            <a:off x="3383280" y="4206240"/>
            <a:ext cx="2651760" cy="45720"/>
          </a:xfrm>
          <a:prstGeom prst="rect">
            <a:avLst/>
          </a:prstGeom>
          <a:solidFill>
            <a:srgbClr val="2A7F86"/>
          </a:solidFill>
          <a:ln/>
        </p:spPr>
      </p:sp>
      <p:sp>
        <p:nvSpPr>
          <p:cNvPr id="12" name="Text 10"/>
          <p:cNvSpPr txBox="1"/>
          <p:nvPr/>
        </p:nvSpPr>
        <p:spPr>
          <a:xfrm>
            <a:off x="3383280" y="4343400"/>
            <a:ext cx="2651760" cy="365760"/>
          </a:xfrm>
          <a:prstGeom prst="rect">
            <a:avLst/>
          </a:prstGeom>
          <a:noFill/>
          <a:ln/>
        </p:spPr>
        <p:txBody>
          <a:bodyPr wrap="square" lIns="0" tIns="0" rIns="0" bIns="0" rtlCol="0" anchor="t"/>
          <a:lstStyle/>
          <a:p>
            <a:pPr marL="0" indent="0">
              <a:buNone/>
            </a:pPr>
            <a:r>
              <a:rPr lang="en-US" sz="1800" b="1" dirty="0">
                <a:solidFill>
                  <a:srgbClr val="14263F"/>
                </a:solidFill>
                <a:latin typeface="Calibri" pitchFamily="34" charset="0"/>
                <a:ea typeface="Calibri" pitchFamily="34" charset="-122"/>
                <a:cs typeface="Calibri" pitchFamily="34" charset="-120"/>
              </a:rPr>
              <a:t>Priority</a:t>
            </a:r>
            <a:endParaRPr lang="en-US" sz="1800" dirty="0"/>
          </a:p>
        </p:txBody>
      </p:sp>
      <p:sp>
        <p:nvSpPr>
          <p:cNvPr id="13" name="Text 11"/>
          <p:cNvSpPr txBox="1"/>
          <p:nvPr/>
        </p:nvSpPr>
        <p:spPr>
          <a:xfrm>
            <a:off x="3383280" y="4800600"/>
            <a:ext cx="2560320" cy="731520"/>
          </a:xfrm>
          <a:prstGeom prst="rect">
            <a:avLst/>
          </a:prstGeom>
          <a:noFill/>
          <a:ln/>
        </p:spPr>
        <p:txBody>
          <a:bodyPr wrap="square" lIns="0" tIns="0" rIns="0" bIns="0" rtlCol="0" anchor="t"/>
          <a:lstStyle/>
          <a:p>
            <a:pPr marL="0" indent="0">
              <a:buNone/>
            </a:pPr>
            <a:r>
              <a:rPr lang="en-US" sz="1300" dirty="0">
                <a:solidFill>
                  <a:srgbClr val="5F6672"/>
                </a:solidFill>
                <a:latin typeface="Calibri" pitchFamily="34" charset="0"/>
                <a:ea typeface="Calibri" pitchFamily="34" charset="-122"/>
                <a:cs typeface="Calibri" pitchFamily="34" charset="-120"/>
              </a:rPr>
              <a:t>Rules are hard to apply consistently</a:t>
            </a:r>
            <a:endParaRPr lang="en-US" sz="1300" dirty="0"/>
          </a:p>
        </p:txBody>
      </p:sp>
      <p:sp>
        <p:nvSpPr>
          <p:cNvPr id="14" name="Shape 12"/>
          <p:cNvSpPr/>
          <p:nvPr/>
        </p:nvSpPr>
        <p:spPr>
          <a:xfrm>
            <a:off x="6217920" y="4206240"/>
            <a:ext cx="2651760" cy="45720"/>
          </a:xfrm>
          <a:prstGeom prst="rect">
            <a:avLst/>
          </a:prstGeom>
          <a:solidFill>
            <a:srgbClr val="2A7F86"/>
          </a:solidFill>
          <a:ln/>
        </p:spPr>
      </p:sp>
      <p:sp>
        <p:nvSpPr>
          <p:cNvPr id="15" name="Text 13"/>
          <p:cNvSpPr txBox="1"/>
          <p:nvPr/>
        </p:nvSpPr>
        <p:spPr>
          <a:xfrm>
            <a:off x="6217920" y="4343400"/>
            <a:ext cx="2651760" cy="365760"/>
          </a:xfrm>
          <a:prstGeom prst="rect">
            <a:avLst/>
          </a:prstGeom>
          <a:noFill/>
          <a:ln/>
        </p:spPr>
        <p:txBody>
          <a:bodyPr wrap="square" lIns="0" tIns="0" rIns="0" bIns="0" rtlCol="0" anchor="t"/>
          <a:lstStyle/>
          <a:p>
            <a:pPr marL="0" indent="0">
              <a:buNone/>
            </a:pPr>
            <a:r>
              <a:rPr lang="en-US" sz="1800" b="1" dirty="0">
                <a:solidFill>
                  <a:srgbClr val="14263F"/>
                </a:solidFill>
                <a:latin typeface="Calibri" pitchFamily="34" charset="0"/>
                <a:ea typeface="Calibri" pitchFamily="34" charset="-122"/>
                <a:cs typeface="Calibri" pitchFamily="34" charset="-120"/>
              </a:rPr>
              <a:t>Records</a:t>
            </a:r>
            <a:endParaRPr lang="en-US" sz="1800" dirty="0"/>
          </a:p>
        </p:txBody>
      </p:sp>
      <p:sp>
        <p:nvSpPr>
          <p:cNvPr id="16" name="Text 14"/>
          <p:cNvSpPr txBox="1"/>
          <p:nvPr/>
        </p:nvSpPr>
        <p:spPr>
          <a:xfrm>
            <a:off x="6217920" y="4800600"/>
            <a:ext cx="2560320" cy="731520"/>
          </a:xfrm>
          <a:prstGeom prst="rect">
            <a:avLst/>
          </a:prstGeom>
          <a:noFill/>
          <a:ln/>
        </p:spPr>
        <p:txBody>
          <a:bodyPr wrap="square" lIns="0" tIns="0" rIns="0" bIns="0" rtlCol="0" anchor="t"/>
          <a:lstStyle/>
          <a:p>
            <a:pPr marL="0" indent="0">
              <a:buNone/>
            </a:pPr>
            <a:r>
              <a:rPr lang="en-US" sz="1300" dirty="0">
                <a:solidFill>
                  <a:srgbClr val="5F6672"/>
                </a:solidFill>
                <a:latin typeface="Calibri" pitchFamily="34" charset="0"/>
                <a:ea typeface="Calibri" pitchFamily="34" charset="-122"/>
                <a:cs typeface="Calibri" pitchFamily="34" charset="-120"/>
              </a:rPr>
              <a:t>Updates can become inconsistent</a:t>
            </a:r>
            <a:endParaRPr lang="en-US" sz="1300" dirty="0"/>
          </a:p>
        </p:txBody>
      </p:sp>
      <p:sp>
        <p:nvSpPr>
          <p:cNvPr id="17" name="Shape 15"/>
          <p:cNvSpPr/>
          <p:nvPr/>
        </p:nvSpPr>
        <p:spPr>
          <a:xfrm>
            <a:off x="9052560" y="4206240"/>
            <a:ext cx="2651760" cy="45720"/>
          </a:xfrm>
          <a:prstGeom prst="rect">
            <a:avLst/>
          </a:prstGeom>
          <a:solidFill>
            <a:srgbClr val="2A7F86"/>
          </a:solidFill>
          <a:ln/>
        </p:spPr>
      </p:sp>
      <p:sp>
        <p:nvSpPr>
          <p:cNvPr id="18" name="Text 16"/>
          <p:cNvSpPr txBox="1"/>
          <p:nvPr/>
        </p:nvSpPr>
        <p:spPr>
          <a:xfrm>
            <a:off x="9052560" y="4343400"/>
            <a:ext cx="2651760" cy="365760"/>
          </a:xfrm>
          <a:prstGeom prst="rect">
            <a:avLst/>
          </a:prstGeom>
          <a:noFill/>
          <a:ln/>
        </p:spPr>
        <p:txBody>
          <a:bodyPr wrap="square" lIns="0" tIns="0" rIns="0" bIns="0" rtlCol="0" anchor="t"/>
          <a:lstStyle/>
          <a:p>
            <a:pPr marL="0" indent="0">
              <a:buNone/>
            </a:pPr>
            <a:r>
              <a:rPr lang="en-US" sz="1800" b="1" dirty="0">
                <a:solidFill>
                  <a:srgbClr val="14263F"/>
                </a:solidFill>
                <a:latin typeface="Calibri" pitchFamily="34" charset="0"/>
                <a:ea typeface="Calibri" pitchFamily="34" charset="-122"/>
                <a:cs typeface="Calibri" pitchFamily="34" charset="-120"/>
              </a:rPr>
              <a:t>Accountability</a:t>
            </a:r>
            <a:endParaRPr lang="en-US" sz="1800" dirty="0"/>
          </a:p>
        </p:txBody>
      </p:sp>
      <p:sp>
        <p:nvSpPr>
          <p:cNvPr id="19" name="Text 17"/>
          <p:cNvSpPr txBox="1"/>
          <p:nvPr/>
        </p:nvSpPr>
        <p:spPr>
          <a:xfrm>
            <a:off x="9052560" y="4800600"/>
            <a:ext cx="2560320" cy="731520"/>
          </a:xfrm>
          <a:prstGeom prst="rect">
            <a:avLst/>
          </a:prstGeom>
          <a:noFill/>
          <a:ln/>
        </p:spPr>
        <p:txBody>
          <a:bodyPr wrap="square" lIns="0" tIns="0" rIns="0" bIns="0" rtlCol="0" anchor="t"/>
          <a:lstStyle/>
          <a:p>
            <a:pPr marL="0" indent="0">
              <a:buNone/>
            </a:pPr>
            <a:r>
              <a:rPr lang="en-US" sz="1300" dirty="0">
                <a:solidFill>
                  <a:srgbClr val="5F6672"/>
                </a:solidFill>
                <a:latin typeface="Calibri" pitchFamily="34" charset="0"/>
                <a:ea typeface="Calibri" pitchFamily="34" charset="-122"/>
                <a:cs typeface="Calibri" pitchFamily="34" charset="-120"/>
              </a:rPr>
              <a:t>Decisions are hard to trace</a:t>
            </a:r>
            <a:endParaRPr lang="en-US" sz="1300" dirty="0"/>
          </a:p>
        </p:txBody>
      </p:sp>
      <p:sp>
        <p:nvSpPr>
          <p:cNvPr id="20" name="Text 18"/>
          <p:cNvSpPr txBox="1"/>
          <p:nvPr/>
        </p:nvSpPr>
        <p:spPr>
          <a:xfrm>
            <a:off x="548640" y="6217920"/>
            <a:ext cx="11064240" cy="228600"/>
          </a:xfrm>
          <a:prstGeom prst="rect">
            <a:avLst/>
          </a:prstGeom>
          <a:noFill/>
          <a:ln/>
        </p:spPr>
        <p:txBody>
          <a:bodyPr wrap="square" lIns="0" tIns="0" rIns="0" bIns="0" rtlCol="0" anchor="t"/>
          <a:lstStyle/>
          <a:p>
            <a:pPr marL="0" indent="0">
              <a:buNone/>
            </a:pPr>
            <a:r>
              <a:rPr lang="en-US" sz="900" i="1" dirty="0">
                <a:solidFill>
                  <a:srgbClr val="5F6672"/>
                </a:solidFill>
                <a:latin typeface="Calibri" pitchFamily="34" charset="0"/>
                <a:ea typeface="Calibri" pitchFamily="34" charset="-122"/>
                <a:cs typeface="Calibri" pitchFamily="34" charset="-120"/>
              </a:rPr>
              <a:t>Problem framing is based on the literature [1], [3], [4] and is subject to validation with the community.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100" b="1" kern="0" spc="300" dirty="0">
                <a:solidFill>
                  <a:srgbClr val="2A7F86"/>
                </a:solidFill>
                <a:latin typeface="Calibri" pitchFamily="34" charset="0"/>
                <a:ea typeface="Calibri" pitchFamily="34" charset="-122"/>
                <a:cs typeface="Calibri" pitchFamily="34" charset="-120"/>
              </a:rPr>
              <a:t>PROJECT OBJECTIVES</a:t>
            </a:r>
            <a:endParaRPr lang="en-US" sz="1100" dirty="0"/>
          </a:p>
        </p:txBody>
      </p:sp>
      <p:sp>
        <p:nvSpPr>
          <p:cNvPr id="3" name="Text 1"/>
          <p:cNvSpPr txBox="1"/>
          <p:nvPr/>
        </p:nvSpPr>
        <p:spPr>
          <a:xfrm>
            <a:off x="548640" y="640080"/>
            <a:ext cx="11064240" cy="548640"/>
          </a:xfrm>
          <a:prstGeom prst="rect">
            <a:avLst/>
          </a:prstGeom>
          <a:noFill/>
          <a:ln/>
        </p:spPr>
        <p:txBody>
          <a:bodyPr wrap="square" lIns="0" tIns="0" rIns="0" bIns="0" rtlCol="0" anchor="t"/>
          <a:lstStyle/>
          <a:p>
            <a:pPr marL="0" indent="0">
              <a:buNone/>
            </a:pPr>
            <a:r>
              <a:rPr lang="en-US" sz="2700" b="1" dirty="0">
                <a:solidFill>
                  <a:srgbClr val="14263F"/>
                </a:solidFill>
                <a:latin typeface="Calibri" pitchFamily="34" charset="0"/>
                <a:ea typeface="Calibri" pitchFamily="34" charset="-122"/>
                <a:cs typeface="Calibri" pitchFamily="34" charset="-120"/>
              </a:rPr>
              <a:t>One General Objective, Five Verifiable Specific Objectives</a:t>
            </a:r>
            <a:endParaRPr lang="en-US" sz="2700" dirty="0"/>
          </a:p>
        </p:txBody>
      </p:sp>
      <p:sp>
        <p:nvSpPr>
          <p:cNvPr id="4" name="Text 2"/>
          <p:cNvSpPr txBox="1"/>
          <p:nvPr/>
        </p:nvSpPr>
        <p:spPr>
          <a:xfrm>
            <a:off x="548640" y="6492240"/>
            <a:ext cx="7315200" cy="228600"/>
          </a:xfrm>
          <a:prstGeom prst="rect">
            <a:avLst/>
          </a:prstGeom>
          <a:noFill/>
          <a:ln/>
        </p:spPr>
        <p:txBody>
          <a:bodyPr wrap="square" lIns="0" tIns="0" rIns="0" bIns="0" rtlCol="0" anchor="t"/>
          <a:lstStyle/>
          <a:p>
            <a:pPr marL="0" indent="0">
              <a:buNone/>
            </a:pPr>
            <a:r>
              <a:rPr lang="en-US" sz="900" dirty="0">
                <a:solidFill>
                  <a:srgbClr val="5F6672"/>
                </a:solidFill>
                <a:latin typeface="Calibri" pitchFamily="34" charset="0"/>
                <a:ea typeface="Calibri" pitchFamily="34" charset="-122"/>
                <a:cs typeface="Calibri" pitchFamily="34" charset="-120"/>
              </a:rPr>
              <a:t>SIT Tumakuru · Dept. of CSE · Community Project Phase-I, 2026–27</a:t>
            </a:r>
            <a:endParaRPr lang="en-US" sz="900" dirty="0"/>
          </a:p>
        </p:txBody>
      </p:sp>
      <p:sp>
        <p:nvSpPr>
          <p:cNvPr id="5" name="Text 3"/>
          <p:cNvSpPr txBox="1"/>
          <p:nvPr/>
        </p:nvSpPr>
        <p:spPr>
          <a:xfrm>
            <a:off x="11155680" y="6492240"/>
            <a:ext cx="457200" cy="228600"/>
          </a:xfrm>
          <a:prstGeom prst="rect">
            <a:avLst/>
          </a:prstGeom>
          <a:noFill/>
          <a:ln/>
        </p:spPr>
        <p:txBody>
          <a:bodyPr wrap="square" lIns="0" tIns="0" rIns="0" bIns="0" rtlCol="0" anchor="t"/>
          <a:lstStyle/>
          <a:p>
            <a:pPr marL="0" indent="0" algn="r">
              <a:buNone/>
            </a:pPr>
            <a:r>
              <a:rPr lang="en-US" sz="900" dirty="0">
                <a:solidFill>
                  <a:srgbClr val="5F6672"/>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1645920"/>
            <a:ext cx="11064240" cy="822960"/>
          </a:xfrm>
          <a:prstGeom prst="rect">
            <a:avLst/>
          </a:prstGeom>
          <a:solidFill>
            <a:srgbClr val="14263F"/>
          </a:solidFill>
          <a:ln w="12700">
            <a:solidFill>
              <a:srgbClr val="14263F"/>
            </a:solidFill>
            <a:prstDash val="solid"/>
          </a:ln>
        </p:spPr>
      </p:sp>
      <p:sp>
        <p:nvSpPr>
          <p:cNvPr id="7" name="Text 5"/>
          <p:cNvSpPr txBox="1"/>
          <p:nvPr/>
        </p:nvSpPr>
        <p:spPr>
          <a:xfrm>
            <a:off x="594360" y="1645920"/>
            <a:ext cx="1097280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GENERAL OBJECTIVE</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Design and develop a secure, priority-aware web platform that makes hostel seat allocation transparent, consistent and manageable.</a:t>
            </a:r>
            <a:endParaRPr lang="en-US" sz="1400" dirty="0"/>
          </a:p>
        </p:txBody>
      </p:sp>
      <p:sp>
        <p:nvSpPr>
          <p:cNvPr id="8" name="Shape 6"/>
          <p:cNvSpPr/>
          <p:nvPr/>
        </p:nvSpPr>
        <p:spPr>
          <a:xfrm>
            <a:off x="548640" y="2743200"/>
            <a:ext cx="3566160" cy="1554480"/>
          </a:xfrm>
          <a:prstGeom prst="rect">
            <a:avLst/>
          </a:prstGeom>
          <a:solidFill>
            <a:srgbClr val="FFFFFF"/>
          </a:solidFill>
          <a:ln w="12700">
            <a:solidFill>
              <a:srgbClr val="D9D6CE"/>
            </a:solidFill>
            <a:prstDash val="solid"/>
          </a:ln>
        </p:spPr>
      </p:sp>
      <p:sp>
        <p:nvSpPr>
          <p:cNvPr id="9" name="Shape 7"/>
          <p:cNvSpPr/>
          <p:nvPr/>
        </p:nvSpPr>
        <p:spPr>
          <a:xfrm>
            <a:off x="548640" y="2743200"/>
            <a:ext cx="3566160" cy="45720"/>
          </a:xfrm>
          <a:prstGeom prst="rect">
            <a:avLst/>
          </a:prstGeom>
          <a:solidFill>
            <a:srgbClr val="2A7F86"/>
          </a:solidFill>
          <a:ln/>
        </p:spPr>
      </p:sp>
      <p:sp>
        <p:nvSpPr>
          <p:cNvPr id="10" name="Text 8"/>
          <p:cNvSpPr txBox="1"/>
          <p:nvPr/>
        </p:nvSpPr>
        <p:spPr>
          <a:xfrm>
            <a:off x="685800" y="2880360"/>
            <a:ext cx="914400" cy="274320"/>
          </a:xfrm>
          <a:prstGeom prst="rect">
            <a:avLst/>
          </a:prstGeom>
          <a:noFill/>
          <a:ln/>
        </p:spPr>
        <p:txBody>
          <a:bodyPr wrap="square" lIns="0" tIns="0" rIns="0" bIns="0" rtlCol="0" anchor="t"/>
          <a:lstStyle/>
          <a:p>
            <a:pPr marL="0" indent="0">
              <a:buNone/>
            </a:pPr>
            <a:r>
              <a:rPr lang="en-US" sz="1200" b="1" dirty="0">
                <a:solidFill>
                  <a:srgbClr val="2A7F86"/>
                </a:solidFill>
                <a:latin typeface="Calibri" pitchFamily="34" charset="0"/>
                <a:ea typeface="Calibri" pitchFamily="34" charset="-122"/>
                <a:cs typeface="Calibri" pitchFamily="34" charset="-120"/>
              </a:rPr>
              <a:t>SO1</a:t>
            </a:r>
            <a:endParaRPr lang="en-US" sz="1200" dirty="0"/>
          </a:p>
        </p:txBody>
      </p:sp>
      <p:sp>
        <p:nvSpPr>
          <p:cNvPr id="11" name="Text 9"/>
          <p:cNvSpPr txBox="1"/>
          <p:nvPr/>
        </p:nvSpPr>
        <p:spPr>
          <a:xfrm>
            <a:off x="685800" y="3154680"/>
            <a:ext cx="3291840" cy="457200"/>
          </a:xfrm>
          <a:prstGeom prst="rect">
            <a:avLst/>
          </a:prstGeom>
          <a:noFill/>
          <a:ln/>
        </p:spPr>
        <p:txBody>
          <a:bodyPr wrap="square" lIns="0" tIns="0" rIns="0" bIns="0" rtlCol="0" anchor="t"/>
          <a:lstStyle/>
          <a:p>
            <a:pPr marL="0" indent="0">
              <a:buNone/>
            </a:pPr>
            <a:r>
              <a:rPr lang="en-US" sz="1400" b="1" dirty="0">
                <a:solidFill>
                  <a:srgbClr val="14263F"/>
                </a:solidFill>
                <a:latin typeface="Calibri" pitchFamily="34" charset="0"/>
                <a:ea typeface="Calibri" pitchFamily="34" charset="-122"/>
                <a:cs typeface="Calibri" pitchFamily="34" charset="-120"/>
              </a:rPr>
              <a:t>Digitize registration and eligibility</a:t>
            </a:r>
            <a:endParaRPr lang="en-US" sz="1400" dirty="0"/>
          </a:p>
        </p:txBody>
      </p:sp>
      <p:sp>
        <p:nvSpPr>
          <p:cNvPr id="12" name="Text 10"/>
          <p:cNvSpPr txBox="1"/>
          <p:nvPr/>
        </p:nvSpPr>
        <p:spPr>
          <a:xfrm>
            <a:off x="685800" y="3657600"/>
            <a:ext cx="3291840" cy="594360"/>
          </a:xfrm>
          <a:prstGeom prst="rect">
            <a:avLst/>
          </a:prstGeom>
          <a:noFill/>
          <a:ln/>
        </p:spPr>
        <p:txBody>
          <a:bodyPr wrap="square" lIns="0" tIns="0" rIns="0" bIns="0" rtlCol="0" anchor="t"/>
          <a:lstStyle/>
          <a:p>
            <a:pPr marL="0" indent="0">
              <a:buNone/>
            </a:pPr>
            <a:r>
              <a:rPr lang="en-US" sz="1100" dirty="0">
                <a:solidFill>
                  <a:srgbClr val="5F6672"/>
                </a:solidFill>
                <a:latin typeface="Calibri" pitchFamily="34" charset="0"/>
                <a:ea typeface="Calibri" pitchFamily="34" charset="-122"/>
                <a:cs typeface="Calibri" pitchFamily="34" charset="-120"/>
              </a:rPr>
              <a:t>Verify: Staff can register an applicant and record year, quota and priority</a:t>
            </a:r>
            <a:endParaRPr lang="en-US" sz="1100" dirty="0"/>
          </a:p>
        </p:txBody>
      </p:sp>
      <p:sp>
        <p:nvSpPr>
          <p:cNvPr id="13" name="Shape 11"/>
          <p:cNvSpPr/>
          <p:nvPr/>
        </p:nvSpPr>
        <p:spPr>
          <a:xfrm>
            <a:off x="4297680" y="2743200"/>
            <a:ext cx="3566160" cy="1554480"/>
          </a:xfrm>
          <a:prstGeom prst="rect">
            <a:avLst/>
          </a:prstGeom>
          <a:solidFill>
            <a:srgbClr val="FFFFFF"/>
          </a:solidFill>
          <a:ln w="12700">
            <a:solidFill>
              <a:srgbClr val="D9D6CE"/>
            </a:solidFill>
            <a:prstDash val="solid"/>
          </a:ln>
        </p:spPr>
      </p:sp>
      <p:sp>
        <p:nvSpPr>
          <p:cNvPr id="14" name="Shape 12"/>
          <p:cNvSpPr/>
          <p:nvPr/>
        </p:nvSpPr>
        <p:spPr>
          <a:xfrm>
            <a:off x="4297680" y="2743200"/>
            <a:ext cx="3566160" cy="45720"/>
          </a:xfrm>
          <a:prstGeom prst="rect">
            <a:avLst/>
          </a:prstGeom>
          <a:solidFill>
            <a:srgbClr val="2A7F86"/>
          </a:solidFill>
          <a:ln/>
        </p:spPr>
      </p:sp>
      <p:sp>
        <p:nvSpPr>
          <p:cNvPr id="15" name="Text 13"/>
          <p:cNvSpPr txBox="1"/>
          <p:nvPr/>
        </p:nvSpPr>
        <p:spPr>
          <a:xfrm>
            <a:off x="4434840" y="2880360"/>
            <a:ext cx="914400" cy="274320"/>
          </a:xfrm>
          <a:prstGeom prst="rect">
            <a:avLst/>
          </a:prstGeom>
          <a:noFill/>
          <a:ln/>
        </p:spPr>
        <p:txBody>
          <a:bodyPr wrap="square" lIns="0" tIns="0" rIns="0" bIns="0" rtlCol="0" anchor="t"/>
          <a:lstStyle/>
          <a:p>
            <a:pPr marL="0" indent="0">
              <a:buNone/>
            </a:pPr>
            <a:r>
              <a:rPr lang="en-US" sz="1200" b="1" dirty="0">
                <a:solidFill>
                  <a:srgbClr val="2A7F86"/>
                </a:solidFill>
                <a:latin typeface="Calibri" pitchFamily="34" charset="0"/>
                <a:ea typeface="Calibri" pitchFamily="34" charset="-122"/>
                <a:cs typeface="Calibri" pitchFamily="34" charset="-120"/>
              </a:rPr>
              <a:t>SO2</a:t>
            </a:r>
            <a:endParaRPr lang="en-US" sz="1200" dirty="0"/>
          </a:p>
        </p:txBody>
      </p:sp>
      <p:sp>
        <p:nvSpPr>
          <p:cNvPr id="16" name="Text 14"/>
          <p:cNvSpPr txBox="1"/>
          <p:nvPr/>
        </p:nvSpPr>
        <p:spPr>
          <a:xfrm>
            <a:off x="4434840" y="3154680"/>
            <a:ext cx="3291840" cy="457200"/>
          </a:xfrm>
          <a:prstGeom prst="rect">
            <a:avLst/>
          </a:prstGeom>
          <a:noFill/>
          <a:ln/>
        </p:spPr>
        <p:txBody>
          <a:bodyPr wrap="square" lIns="0" tIns="0" rIns="0" bIns="0" rtlCol="0" anchor="t"/>
          <a:lstStyle/>
          <a:p>
            <a:pPr marL="0" indent="0">
              <a:buNone/>
            </a:pPr>
            <a:r>
              <a:rPr lang="en-US" sz="1400" b="1" dirty="0">
                <a:solidFill>
                  <a:srgbClr val="14263F"/>
                </a:solidFill>
                <a:latin typeface="Calibri" pitchFamily="34" charset="0"/>
                <a:ea typeface="Calibri" pitchFamily="34" charset="-122"/>
                <a:cs typeface="Calibri" pitchFamily="34" charset="-120"/>
              </a:rPr>
              <a:t>Model occupancy per seat</a:t>
            </a:r>
            <a:endParaRPr lang="en-US" sz="1400" dirty="0"/>
          </a:p>
        </p:txBody>
      </p:sp>
      <p:sp>
        <p:nvSpPr>
          <p:cNvPr id="17" name="Text 15"/>
          <p:cNvSpPr txBox="1"/>
          <p:nvPr/>
        </p:nvSpPr>
        <p:spPr>
          <a:xfrm>
            <a:off x="4434840" y="3657600"/>
            <a:ext cx="3291840" cy="594360"/>
          </a:xfrm>
          <a:prstGeom prst="rect">
            <a:avLst/>
          </a:prstGeom>
          <a:noFill/>
          <a:ln/>
        </p:spPr>
        <p:txBody>
          <a:bodyPr wrap="square" lIns="0" tIns="0" rIns="0" bIns="0" rtlCol="0" anchor="t"/>
          <a:lstStyle/>
          <a:p>
            <a:pPr marL="0" indent="0">
              <a:buNone/>
            </a:pPr>
            <a:r>
              <a:rPr lang="en-US" sz="1100" dirty="0">
                <a:solidFill>
                  <a:srgbClr val="5F6672"/>
                </a:solidFill>
                <a:latin typeface="Calibri" pitchFamily="34" charset="0"/>
                <a:ea typeface="Calibri" pitchFamily="34" charset="-122"/>
                <a:cs typeface="Calibri" pitchFamily="34" charset="-120"/>
              </a:rPr>
              <a:t>Verify: A room with 3 beds can show 2 occupied, 1 available</a:t>
            </a:r>
            <a:endParaRPr lang="en-US" sz="1100" dirty="0"/>
          </a:p>
        </p:txBody>
      </p:sp>
      <p:sp>
        <p:nvSpPr>
          <p:cNvPr id="18" name="Shape 16"/>
          <p:cNvSpPr/>
          <p:nvPr/>
        </p:nvSpPr>
        <p:spPr>
          <a:xfrm>
            <a:off x="8046720" y="2743200"/>
            <a:ext cx="3566160" cy="1554480"/>
          </a:xfrm>
          <a:prstGeom prst="rect">
            <a:avLst/>
          </a:prstGeom>
          <a:solidFill>
            <a:srgbClr val="FFFFFF"/>
          </a:solidFill>
          <a:ln w="12700">
            <a:solidFill>
              <a:srgbClr val="D9D6CE"/>
            </a:solidFill>
            <a:prstDash val="solid"/>
          </a:ln>
        </p:spPr>
      </p:sp>
      <p:sp>
        <p:nvSpPr>
          <p:cNvPr id="19" name="Shape 17"/>
          <p:cNvSpPr/>
          <p:nvPr/>
        </p:nvSpPr>
        <p:spPr>
          <a:xfrm>
            <a:off x="8046720" y="2743200"/>
            <a:ext cx="3566160" cy="45720"/>
          </a:xfrm>
          <a:prstGeom prst="rect">
            <a:avLst/>
          </a:prstGeom>
          <a:solidFill>
            <a:srgbClr val="2A7F86"/>
          </a:solidFill>
          <a:ln/>
        </p:spPr>
      </p:sp>
      <p:sp>
        <p:nvSpPr>
          <p:cNvPr id="20" name="Text 18"/>
          <p:cNvSpPr txBox="1"/>
          <p:nvPr/>
        </p:nvSpPr>
        <p:spPr>
          <a:xfrm>
            <a:off x="8183880" y="2880360"/>
            <a:ext cx="914400" cy="274320"/>
          </a:xfrm>
          <a:prstGeom prst="rect">
            <a:avLst/>
          </a:prstGeom>
          <a:noFill/>
          <a:ln/>
        </p:spPr>
        <p:txBody>
          <a:bodyPr wrap="square" lIns="0" tIns="0" rIns="0" bIns="0" rtlCol="0" anchor="t"/>
          <a:lstStyle/>
          <a:p>
            <a:pPr marL="0" indent="0">
              <a:buNone/>
            </a:pPr>
            <a:r>
              <a:rPr lang="en-US" sz="1200" b="1" dirty="0">
                <a:solidFill>
                  <a:srgbClr val="2A7F86"/>
                </a:solidFill>
                <a:latin typeface="Calibri" pitchFamily="34" charset="0"/>
                <a:ea typeface="Calibri" pitchFamily="34" charset="-122"/>
                <a:cs typeface="Calibri" pitchFamily="34" charset="-120"/>
              </a:rPr>
              <a:t>SO3</a:t>
            </a:r>
            <a:endParaRPr lang="en-US" sz="1200" dirty="0"/>
          </a:p>
        </p:txBody>
      </p:sp>
      <p:sp>
        <p:nvSpPr>
          <p:cNvPr id="21" name="Text 19"/>
          <p:cNvSpPr txBox="1"/>
          <p:nvPr/>
        </p:nvSpPr>
        <p:spPr>
          <a:xfrm>
            <a:off x="8183880" y="3154680"/>
            <a:ext cx="3291840" cy="457200"/>
          </a:xfrm>
          <a:prstGeom prst="rect">
            <a:avLst/>
          </a:prstGeom>
          <a:noFill/>
          <a:ln/>
        </p:spPr>
        <p:txBody>
          <a:bodyPr wrap="square" lIns="0" tIns="0" rIns="0" bIns="0" rtlCol="0" anchor="t"/>
          <a:lstStyle/>
          <a:p>
            <a:pPr marL="0" indent="0">
              <a:buNone/>
            </a:pPr>
            <a:r>
              <a:rPr lang="en-US" sz="1400" b="1" dirty="0">
                <a:solidFill>
                  <a:srgbClr val="14263F"/>
                </a:solidFill>
                <a:latin typeface="Calibri" pitchFamily="34" charset="0"/>
                <a:ea typeface="Calibri" pitchFamily="34" charset="-122"/>
                <a:cs typeface="Calibri" pitchFamily="34" charset="-120"/>
              </a:rPr>
              <a:t>Priority-aware allocation workflow</a:t>
            </a:r>
            <a:endParaRPr lang="en-US" sz="1400" dirty="0"/>
          </a:p>
        </p:txBody>
      </p:sp>
      <p:sp>
        <p:nvSpPr>
          <p:cNvPr id="22" name="Text 20"/>
          <p:cNvSpPr txBox="1"/>
          <p:nvPr/>
        </p:nvSpPr>
        <p:spPr>
          <a:xfrm>
            <a:off x="8183880" y="3657600"/>
            <a:ext cx="3291840" cy="594360"/>
          </a:xfrm>
          <a:prstGeom prst="rect">
            <a:avLst/>
          </a:prstGeom>
          <a:noFill/>
          <a:ln/>
        </p:spPr>
        <p:txBody>
          <a:bodyPr wrap="square" lIns="0" tIns="0" rIns="0" bIns="0" rtlCol="0" anchor="t"/>
          <a:lstStyle/>
          <a:p>
            <a:pPr marL="0" indent="0">
              <a:buNone/>
            </a:pPr>
            <a:r>
              <a:rPr lang="en-US" sz="1100" dirty="0">
                <a:solidFill>
                  <a:srgbClr val="5F6672"/>
                </a:solidFill>
                <a:latin typeface="Calibri" pitchFamily="34" charset="0"/>
                <a:ea typeface="Calibri" pitchFamily="34" charset="-122"/>
                <a:cs typeface="Calibri" pitchFamily="34" charset="-120"/>
              </a:rPr>
              <a:t>Verify: Turns follow priority order; only the active student can confirm</a:t>
            </a:r>
            <a:endParaRPr lang="en-US" sz="1100" dirty="0"/>
          </a:p>
        </p:txBody>
      </p:sp>
      <p:sp>
        <p:nvSpPr>
          <p:cNvPr id="23" name="Shape 21"/>
          <p:cNvSpPr/>
          <p:nvPr/>
        </p:nvSpPr>
        <p:spPr>
          <a:xfrm>
            <a:off x="548640" y="4480560"/>
            <a:ext cx="3566160" cy="1554480"/>
          </a:xfrm>
          <a:prstGeom prst="rect">
            <a:avLst/>
          </a:prstGeom>
          <a:solidFill>
            <a:srgbClr val="FFFFFF"/>
          </a:solidFill>
          <a:ln w="12700">
            <a:solidFill>
              <a:srgbClr val="D9D6CE"/>
            </a:solidFill>
            <a:prstDash val="solid"/>
          </a:ln>
        </p:spPr>
      </p:sp>
      <p:sp>
        <p:nvSpPr>
          <p:cNvPr id="24" name="Shape 22"/>
          <p:cNvSpPr/>
          <p:nvPr/>
        </p:nvSpPr>
        <p:spPr>
          <a:xfrm>
            <a:off x="548640" y="4480560"/>
            <a:ext cx="3566160" cy="45720"/>
          </a:xfrm>
          <a:prstGeom prst="rect">
            <a:avLst/>
          </a:prstGeom>
          <a:solidFill>
            <a:srgbClr val="2A7F86"/>
          </a:solidFill>
          <a:ln/>
        </p:spPr>
      </p:sp>
      <p:sp>
        <p:nvSpPr>
          <p:cNvPr id="25" name="Text 23"/>
          <p:cNvSpPr txBox="1"/>
          <p:nvPr/>
        </p:nvSpPr>
        <p:spPr>
          <a:xfrm>
            <a:off x="685800" y="4617720"/>
            <a:ext cx="914400" cy="274320"/>
          </a:xfrm>
          <a:prstGeom prst="rect">
            <a:avLst/>
          </a:prstGeom>
          <a:noFill/>
          <a:ln/>
        </p:spPr>
        <p:txBody>
          <a:bodyPr wrap="square" lIns="0" tIns="0" rIns="0" bIns="0" rtlCol="0" anchor="t"/>
          <a:lstStyle/>
          <a:p>
            <a:pPr marL="0" indent="0">
              <a:buNone/>
            </a:pPr>
            <a:r>
              <a:rPr lang="en-US" sz="1200" b="1" dirty="0">
                <a:solidFill>
                  <a:srgbClr val="2A7F86"/>
                </a:solidFill>
                <a:latin typeface="Calibri" pitchFamily="34" charset="0"/>
                <a:ea typeface="Calibri" pitchFamily="34" charset="-122"/>
                <a:cs typeface="Calibri" pitchFamily="34" charset="-120"/>
              </a:rPr>
              <a:t>SO4</a:t>
            </a:r>
            <a:endParaRPr lang="en-US" sz="1200" dirty="0"/>
          </a:p>
        </p:txBody>
      </p:sp>
      <p:sp>
        <p:nvSpPr>
          <p:cNvPr id="26" name="Text 24"/>
          <p:cNvSpPr txBox="1"/>
          <p:nvPr/>
        </p:nvSpPr>
        <p:spPr>
          <a:xfrm>
            <a:off x="685800" y="4892040"/>
            <a:ext cx="3291840" cy="457200"/>
          </a:xfrm>
          <a:prstGeom prst="rect">
            <a:avLst/>
          </a:prstGeom>
          <a:noFill/>
          <a:ln/>
        </p:spPr>
        <p:txBody>
          <a:bodyPr wrap="square" lIns="0" tIns="0" rIns="0" bIns="0" rtlCol="0" anchor="t"/>
          <a:lstStyle/>
          <a:p>
            <a:pPr marL="0" indent="0">
              <a:buNone/>
            </a:pPr>
            <a:r>
              <a:rPr lang="en-US" sz="1400" b="1" dirty="0">
                <a:solidFill>
                  <a:srgbClr val="14263F"/>
                </a:solidFill>
                <a:latin typeface="Calibri" pitchFamily="34" charset="0"/>
                <a:ea typeface="Calibri" pitchFamily="34" charset="-122"/>
                <a:cs typeface="Calibri" pitchFamily="34" charset="-120"/>
              </a:rPr>
              <a:t>Prevent conflicting confirmations</a:t>
            </a:r>
            <a:endParaRPr lang="en-US" sz="1400" dirty="0"/>
          </a:p>
        </p:txBody>
      </p:sp>
      <p:sp>
        <p:nvSpPr>
          <p:cNvPr id="27" name="Text 25"/>
          <p:cNvSpPr txBox="1"/>
          <p:nvPr/>
        </p:nvSpPr>
        <p:spPr>
          <a:xfrm>
            <a:off x="685800" y="5394960"/>
            <a:ext cx="3291840" cy="594360"/>
          </a:xfrm>
          <a:prstGeom prst="rect">
            <a:avLst/>
          </a:prstGeom>
          <a:noFill/>
          <a:ln/>
        </p:spPr>
        <p:txBody>
          <a:bodyPr wrap="square" lIns="0" tIns="0" rIns="0" bIns="0" rtlCol="0" anchor="t"/>
          <a:lstStyle/>
          <a:p>
            <a:pPr marL="0" indent="0">
              <a:buNone/>
            </a:pPr>
            <a:r>
              <a:rPr lang="en-US" sz="1100" dirty="0">
                <a:solidFill>
                  <a:srgbClr val="5F6672"/>
                </a:solidFill>
                <a:latin typeface="Calibri" pitchFamily="34" charset="0"/>
                <a:ea typeface="Calibri" pitchFamily="34" charset="-122"/>
                <a:cs typeface="Calibri" pitchFamily="34" charset="-120"/>
              </a:rPr>
              <a:t>Verify: Two attempts on one seat yield exactly one success (test)</a:t>
            </a:r>
            <a:endParaRPr lang="en-US" sz="1100" dirty="0"/>
          </a:p>
        </p:txBody>
      </p:sp>
      <p:sp>
        <p:nvSpPr>
          <p:cNvPr id="28" name="Shape 26"/>
          <p:cNvSpPr/>
          <p:nvPr/>
        </p:nvSpPr>
        <p:spPr>
          <a:xfrm>
            <a:off x="4297680" y="4480560"/>
            <a:ext cx="3566160" cy="1554480"/>
          </a:xfrm>
          <a:prstGeom prst="rect">
            <a:avLst/>
          </a:prstGeom>
          <a:solidFill>
            <a:srgbClr val="FFFFFF"/>
          </a:solidFill>
          <a:ln w="12700">
            <a:solidFill>
              <a:srgbClr val="D9D6CE"/>
            </a:solidFill>
            <a:prstDash val="solid"/>
          </a:ln>
        </p:spPr>
      </p:sp>
      <p:sp>
        <p:nvSpPr>
          <p:cNvPr id="29" name="Shape 27"/>
          <p:cNvSpPr/>
          <p:nvPr/>
        </p:nvSpPr>
        <p:spPr>
          <a:xfrm>
            <a:off x="4297680" y="4480560"/>
            <a:ext cx="3566160" cy="45720"/>
          </a:xfrm>
          <a:prstGeom prst="rect">
            <a:avLst/>
          </a:prstGeom>
          <a:solidFill>
            <a:srgbClr val="2A7F86"/>
          </a:solidFill>
          <a:ln/>
        </p:spPr>
      </p:sp>
      <p:sp>
        <p:nvSpPr>
          <p:cNvPr id="30" name="Text 28"/>
          <p:cNvSpPr txBox="1"/>
          <p:nvPr/>
        </p:nvSpPr>
        <p:spPr>
          <a:xfrm>
            <a:off x="4434840" y="4617720"/>
            <a:ext cx="914400" cy="274320"/>
          </a:xfrm>
          <a:prstGeom prst="rect">
            <a:avLst/>
          </a:prstGeom>
          <a:noFill/>
          <a:ln/>
        </p:spPr>
        <p:txBody>
          <a:bodyPr wrap="square" lIns="0" tIns="0" rIns="0" bIns="0" rtlCol="0" anchor="t"/>
          <a:lstStyle/>
          <a:p>
            <a:pPr marL="0" indent="0">
              <a:buNone/>
            </a:pPr>
            <a:r>
              <a:rPr lang="en-US" sz="1200" b="1" dirty="0">
                <a:solidFill>
                  <a:srgbClr val="2A7F86"/>
                </a:solidFill>
                <a:latin typeface="Calibri" pitchFamily="34" charset="0"/>
                <a:ea typeface="Calibri" pitchFamily="34" charset="-122"/>
                <a:cs typeface="Calibri" pitchFamily="34" charset="-120"/>
              </a:rPr>
              <a:t>SO5</a:t>
            </a:r>
            <a:endParaRPr lang="en-US" sz="1200" dirty="0"/>
          </a:p>
        </p:txBody>
      </p:sp>
      <p:sp>
        <p:nvSpPr>
          <p:cNvPr id="31" name="Text 29"/>
          <p:cNvSpPr txBox="1"/>
          <p:nvPr/>
        </p:nvSpPr>
        <p:spPr>
          <a:xfrm>
            <a:off x="4434840" y="4892040"/>
            <a:ext cx="3291840" cy="457200"/>
          </a:xfrm>
          <a:prstGeom prst="rect">
            <a:avLst/>
          </a:prstGeom>
          <a:noFill/>
          <a:ln/>
        </p:spPr>
        <p:txBody>
          <a:bodyPr wrap="square" lIns="0" tIns="0" rIns="0" bIns="0" rtlCol="0" anchor="t"/>
          <a:lstStyle/>
          <a:p>
            <a:pPr marL="0" indent="0">
              <a:buNone/>
            </a:pPr>
            <a:r>
              <a:rPr lang="en-US" sz="1400" b="1" dirty="0">
                <a:solidFill>
                  <a:srgbClr val="14263F"/>
                </a:solidFill>
                <a:latin typeface="Calibri" pitchFamily="34" charset="0"/>
                <a:ea typeface="Calibri" pitchFamily="34" charset="-122"/>
                <a:cs typeface="Calibri" pitchFamily="34" charset="-120"/>
              </a:rPr>
              <a:t>Role-based access, complaints, room change</a:t>
            </a:r>
            <a:endParaRPr lang="en-US" sz="1400" dirty="0"/>
          </a:p>
        </p:txBody>
      </p:sp>
      <p:sp>
        <p:nvSpPr>
          <p:cNvPr id="32" name="Text 30"/>
          <p:cNvSpPr txBox="1"/>
          <p:nvPr/>
        </p:nvSpPr>
        <p:spPr>
          <a:xfrm>
            <a:off x="4434840" y="5394960"/>
            <a:ext cx="3291840" cy="594360"/>
          </a:xfrm>
          <a:prstGeom prst="rect">
            <a:avLst/>
          </a:prstGeom>
          <a:noFill/>
          <a:ln/>
        </p:spPr>
        <p:txBody>
          <a:bodyPr wrap="square" lIns="0" tIns="0" rIns="0" bIns="0" rtlCol="0" anchor="t"/>
          <a:lstStyle/>
          <a:p>
            <a:pPr marL="0" indent="0">
              <a:buNone/>
            </a:pPr>
            <a:r>
              <a:rPr lang="en-US" sz="1100" dirty="0">
                <a:solidFill>
                  <a:srgbClr val="5F6672"/>
                </a:solidFill>
                <a:latin typeface="Calibri" pitchFamily="34" charset="0"/>
                <a:ea typeface="Calibri" pitchFamily="34" charset="-122"/>
                <a:cs typeface="Calibri" pitchFamily="34" charset="-120"/>
              </a:rPr>
              <a:t>Verify: Users see only permitted data; requests are tracked to closure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100" b="1" kern="0" spc="300" dirty="0">
                <a:solidFill>
                  <a:srgbClr val="2A7F86"/>
                </a:solidFill>
                <a:latin typeface="Calibri" pitchFamily="34" charset="0"/>
                <a:ea typeface="Calibri" pitchFamily="34" charset="-122"/>
                <a:cs typeface="Calibri" pitchFamily="34" charset="-120"/>
              </a:rPr>
              <a:t>PROPOSED SOLUTION AND METHODOLOGY</a:t>
            </a:r>
            <a:endParaRPr lang="en-US" sz="1100" dirty="0"/>
          </a:p>
        </p:txBody>
      </p:sp>
      <p:sp>
        <p:nvSpPr>
          <p:cNvPr id="3" name="Text 1"/>
          <p:cNvSpPr txBox="1"/>
          <p:nvPr/>
        </p:nvSpPr>
        <p:spPr>
          <a:xfrm>
            <a:off x="548640" y="640080"/>
            <a:ext cx="11064240" cy="548640"/>
          </a:xfrm>
          <a:prstGeom prst="rect">
            <a:avLst/>
          </a:prstGeom>
          <a:noFill/>
          <a:ln/>
        </p:spPr>
        <p:txBody>
          <a:bodyPr wrap="square" lIns="0" tIns="0" rIns="0" bIns="0" rtlCol="0" anchor="t"/>
          <a:lstStyle/>
          <a:p>
            <a:pPr marL="0" indent="0">
              <a:buNone/>
            </a:pPr>
            <a:r>
              <a:rPr lang="en-US" sz="2700" b="1" dirty="0">
                <a:solidFill>
                  <a:srgbClr val="14263F"/>
                </a:solidFill>
                <a:latin typeface="Calibri" pitchFamily="34" charset="0"/>
                <a:ea typeface="Calibri" pitchFamily="34" charset="-122"/>
                <a:cs typeface="Calibri" pitchFamily="34" charset="-120"/>
              </a:rPr>
              <a:t>How a Seat Gets Allocated</a:t>
            </a:r>
            <a:endParaRPr lang="en-US" sz="2700" dirty="0"/>
          </a:p>
        </p:txBody>
      </p:sp>
      <p:sp>
        <p:nvSpPr>
          <p:cNvPr id="4" name="Text 2"/>
          <p:cNvSpPr txBox="1"/>
          <p:nvPr/>
        </p:nvSpPr>
        <p:spPr>
          <a:xfrm>
            <a:off x="548640" y="6492240"/>
            <a:ext cx="7315200" cy="228600"/>
          </a:xfrm>
          <a:prstGeom prst="rect">
            <a:avLst/>
          </a:prstGeom>
          <a:noFill/>
          <a:ln/>
        </p:spPr>
        <p:txBody>
          <a:bodyPr wrap="square" lIns="0" tIns="0" rIns="0" bIns="0" rtlCol="0" anchor="t"/>
          <a:lstStyle/>
          <a:p>
            <a:pPr marL="0" indent="0">
              <a:buNone/>
            </a:pPr>
            <a:r>
              <a:rPr lang="en-US" sz="900" dirty="0">
                <a:solidFill>
                  <a:srgbClr val="5F6672"/>
                </a:solidFill>
                <a:latin typeface="Calibri" pitchFamily="34" charset="0"/>
                <a:ea typeface="Calibri" pitchFamily="34" charset="-122"/>
                <a:cs typeface="Calibri" pitchFamily="34" charset="-120"/>
              </a:rPr>
              <a:t>SIT Tumakuru · Dept. of CSE · Community Project Phase-I, 2026–27</a:t>
            </a:r>
            <a:endParaRPr lang="en-US" sz="900" dirty="0"/>
          </a:p>
        </p:txBody>
      </p:sp>
      <p:sp>
        <p:nvSpPr>
          <p:cNvPr id="5" name="Text 3"/>
          <p:cNvSpPr txBox="1"/>
          <p:nvPr/>
        </p:nvSpPr>
        <p:spPr>
          <a:xfrm>
            <a:off x="11155680" y="6492240"/>
            <a:ext cx="457200" cy="228600"/>
          </a:xfrm>
          <a:prstGeom prst="rect">
            <a:avLst/>
          </a:prstGeom>
          <a:noFill/>
          <a:ln/>
        </p:spPr>
        <p:txBody>
          <a:bodyPr wrap="square" lIns="0" tIns="0" rIns="0" bIns="0" rtlCol="0" anchor="t"/>
          <a:lstStyle/>
          <a:p>
            <a:pPr marL="0" indent="0" algn="r">
              <a:buNone/>
            </a:pPr>
            <a:r>
              <a:rPr lang="en-US" sz="900" dirty="0">
                <a:solidFill>
                  <a:srgbClr val="5F6672"/>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920240"/>
            <a:ext cx="1920240" cy="1097280"/>
          </a:xfrm>
          <a:prstGeom prst="rect">
            <a:avLst/>
          </a:prstGeom>
          <a:solidFill>
            <a:srgbClr val="14263F"/>
          </a:solidFill>
          <a:ln/>
        </p:spPr>
      </p:sp>
      <p:sp>
        <p:nvSpPr>
          <p:cNvPr id="7" name="Text 5"/>
          <p:cNvSpPr txBox="1"/>
          <p:nvPr/>
        </p:nvSpPr>
        <p:spPr>
          <a:xfrm>
            <a:off x="658368" y="1993392"/>
            <a:ext cx="457200" cy="365760"/>
          </a:xfrm>
          <a:prstGeom prst="rect">
            <a:avLst/>
          </a:prstGeom>
          <a:noFill/>
          <a:ln/>
        </p:spPr>
        <p:txBody>
          <a:bodyPr wrap="square" lIns="0" tIns="0" rIns="0" bIns="0" rtlCol="0" anchor="t"/>
          <a:lstStyle/>
          <a:p>
            <a:pPr marL="0" indent="0">
              <a:buNone/>
            </a:pPr>
            <a:r>
              <a:rPr lang="en-US" sz="1800" b="1" dirty="0">
                <a:solidFill>
                  <a:srgbClr val="BFD9DC"/>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640080" y="2377440"/>
            <a:ext cx="173736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Registration</a:t>
            </a:r>
            <a:endParaRPr lang="en-US" sz="1300" dirty="0"/>
          </a:p>
        </p:txBody>
      </p:sp>
      <p:sp>
        <p:nvSpPr>
          <p:cNvPr id="9" name="Shape 7"/>
          <p:cNvSpPr/>
          <p:nvPr/>
        </p:nvSpPr>
        <p:spPr>
          <a:xfrm>
            <a:off x="2478024" y="2468880"/>
            <a:ext cx="301752" cy="0"/>
          </a:xfrm>
          <a:prstGeom prst="line">
            <a:avLst/>
          </a:prstGeom>
          <a:noFill/>
          <a:ln w="15875">
            <a:solidFill>
              <a:srgbClr val="5F6672"/>
            </a:solidFill>
            <a:prstDash val="solid"/>
            <a:tailEnd type="triangle"/>
          </a:ln>
        </p:spPr>
      </p:sp>
      <p:sp>
        <p:nvSpPr>
          <p:cNvPr id="10" name="Shape 8"/>
          <p:cNvSpPr/>
          <p:nvPr/>
        </p:nvSpPr>
        <p:spPr>
          <a:xfrm>
            <a:off x="2788920" y="1920240"/>
            <a:ext cx="1920240" cy="1097280"/>
          </a:xfrm>
          <a:prstGeom prst="rect">
            <a:avLst/>
          </a:prstGeom>
          <a:solidFill>
            <a:srgbClr val="14263F"/>
          </a:solidFill>
          <a:ln/>
        </p:spPr>
      </p:sp>
      <p:sp>
        <p:nvSpPr>
          <p:cNvPr id="11" name="Text 9"/>
          <p:cNvSpPr txBox="1"/>
          <p:nvPr/>
        </p:nvSpPr>
        <p:spPr>
          <a:xfrm>
            <a:off x="2898648" y="1993392"/>
            <a:ext cx="457200" cy="365760"/>
          </a:xfrm>
          <a:prstGeom prst="rect">
            <a:avLst/>
          </a:prstGeom>
          <a:noFill/>
          <a:ln/>
        </p:spPr>
        <p:txBody>
          <a:bodyPr wrap="square" lIns="0" tIns="0" rIns="0" bIns="0" rtlCol="0" anchor="t"/>
          <a:lstStyle/>
          <a:p>
            <a:pPr marL="0" indent="0">
              <a:buNone/>
            </a:pPr>
            <a:r>
              <a:rPr lang="en-US" sz="1800" b="1" dirty="0">
                <a:solidFill>
                  <a:srgbClr val="BFD9DC"/>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2880360" y="2377440"/>
            <a:ext cx="173736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Staff verification</a:t>
            </a:r>
            <a:endParaRPr lang="en-US" sz="1300" dirty="0"/>
          </a:p>
        </p:txBody>
      </p:sp>
      <p:sp>
        <p:nvSpPr>
          <p:cNvPr id="13" name="Shape 11"/>
          <p:cNvSpPr/>
          <p:nvPr/>
        </p:nvSpPr>
        <p:spPr>
          <a:xfrm>
            <a:off x="4718304" y="2468880"/>
            <a:ext cx="301752" cy="0"/>
          </a:xfrm>
          <a:prstGeom prst="line">
            <a:avLst/>
          </a:prstGeom>
          <a:noFill/>
          <a:ln w="15875">
            <a:solidFill>
              <a:srgbClr val="5F6672"/>
            </a:solidFill>
            <a:prstDash val="solid"/>
            <a:tailEnd type="triangle"/>
          </a:ln>
        </p:spPr>
      </p:sp>
      <p:sp>
        <p:nvSpPr>
          <p:cNvPr id="14" name="Shape 12"/>
          <p:cNvSpPr/>
          <p:nvPr/>
        </p:nvSpPr>
        <p:spPr>
          <a:xfrm>
            <a:off x="5029200" y="1920240"/>
            <a:ext cx="1920240" cy="1097280"/>
          </a:xfrm>
          <a:prstGeom prst="rect">
            <a:avLst/>
          </a:prstGeom>
          <a:solidFill>
            <a:srgbClr val="14263F"/>
          </a:solidFill>
          <a:ln/>
        </p:spPr>
      </p:sp>
      <p:sp>
        <p:nvSpPr>
          <p:cNvPr id="15" name="Text 13"/>
          <p:cNvSpPr txBox="1"/>
          <p:nvPr/>
        </p:nvSpPr>
        <p:spPr>
          <a:xfrm>
            <a:off x="5138928" y="1993392"/>
            <a:ext cx="457200" cy="365760"/>
          </a:xfrm>
          <a:prstGeom prst="rect">
            <a:avLst/>
          </a:prstGeom>
          <a:noFill/>
          <a:ln/>
        </p:spPr>
        <p:txBody>
          <a:bodyPr wrap="square" lIns="0" tIns="0" rIns="0" bIns="0" rtlCol="0" anchor="t"/>
          <a:lstStyle/>
          <a:p>
            <a:pPr marL="0" indent="0">
              <a:buNone/>
            </a:pPr>
            <a:r>
              <a:rPr lang="en-US" sz="1800" b="1" dirty="0">
                <a:solidFill>
                  <a:srgbClr val="BFD9DC"/>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5120640" y="2377440"/>
            <a:ext cx="173736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Eligibility + priority</a:t>
            </a:r>
            <a:endParaRPr lang="en-US" sz="1300" dirty="0"/>
          </a:p>
        </p:txBody>
      </p:sp>
      <p:sp>
        <p:nvSpPr>
          <p:cNvPr id="17" name="Shape 15"/>
          <p:cNvSpPr/>
          <p:nvPr/>
        </p:nvSpPr>
        <p:spPr>
          <a:xfrm>
            <a:off x="6958584" y="2468880"/>
            <a:ext cx="301752" cy="0"/>
          </a:xfrm>
          <a:prstGeom prst="line">
            <a:avLst/>
          </a:prstGeom>
          <a:noFill/>
          <a:ln w="15875">
            <a:solidFill>
              <a:srgbClr val="5F6672"/>
            </a:solidFill>
            <a:prstDash val="solid"/>
            <a:tailEnd type="triangle"/>
          </a:ln>
        </p:spPr>
      </p:sp>
      <p:sp>
        <p:nvSpPr>
          <p:cNvPr id="18" name="Shape 16"/>
          <p:cNvSpPr/>
          <p:nvPr/>
        </p:nvSpPr>
        <p:spPr>
          <a:xfrm>
            <a:off x="7269480" y="1920240"/>
            <a:ext cx="1920240" cy="1097280"/>
          </a:xfrm>
          <a:prstGeom prst="rect">
            <a:avLst/>
          </a:prstGeom>
          <a:solidFill>
            <a:srgbClr val="2A7F86"/>
          </a:solidFill>
          <a:ln/>
        </p:spPr>
      </p:sp>
      <p:sp>
        <p:nvSpPr>
          <p:cNvPr id="19" name="Text 17"/>
          <p:cNvSpPr txBox="1"/>
          <p:nvPr/>
        </p:nvSpPr>
        <p:spPr>
          <a:xfrm>
            <a:off x="7379208" y="1993392"/>
            <a:ext cx="457200" cy="365760"/>
          </a:xfrm>
          <a:prstGeom prst="rect">
            <a:avLst/>
          </a:prstGeom>
          <a:noFill/>
          <a:ln/>
        </p:spPr>
        <p:txBody>
          <a:bodyPr wrap="square" lIns="0" tIns="0" rIns="0" bIns="0" rtlCol="0" anchor="t"/>
          <a:lstStyle/>
          <a:p>
            <a:pPr marL="0" indent="0">
              <a:buNone/>
            </a:pPr>
            <a:r>
              <a:rPr lang="en-US" sz="1800" b="1" dirty="0">
                <a:solidFill>
                  <a:srgbClr val="BFD9DC"/>
                </a:solidFill>
                <a:latin typeface="Calibri" pitchFamily="34" charset="0"/>
                <a:ea typeface="Calibri" pitchFamily="34" charset="-122"/>
                <a:cs typeface="Calibri" pitchFamily="34" charset="-120"/>
              </a:rPr>
              <a:t>4</a:t>
            </a:r>
            <a:endParaRPr lang="en-US" sz="1800" dirty="0"/>
          </a:p>
        </p:txBody>
      </p:sp>
      <p:sp>
        <p:nvSpPr>
          <p:cNvPr id="20" name="Text 18"/>
          <p:cNvSpPr txBox="1"/>
          <p:nvPr/>
        </p:nvSpPr>
        <p:spPr>
          <a:xfrm>
            <a:off x="7360920" y="2377440"/>
            <a:ext cx="173736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Waiting queue</a:t>
            </a:r>
            <a:endParaRPr lang="en-US" sz="1300" dirty="0"/>
          </a:p>
        </p:txBody>
      </p:sp>
      <p:sp>
        <p:nvSpPr>
          <p:cNvPr id="21" name="Shape 19"/>
          <p:cNvSpPr/>
          <p:nvPr/>
        </p:nvSpPr>
        <p:spPr>
          <a:xfrm>
            <a:off x="9198864" y="2468880"/>
            <a:ext cx="301752" cy="0"/>
          </a:xfrm>
          <a:prstGeom prst="line">
            <a:avLst/>
          </a:prstGeom>
          <a:noFill/>
          <a:ln w="15875">
            <a:solidFill>
              <a:srgbClr val="5F6672"/>
            </a:solidFill>
            <a:prstDash val="solid"/>
            <a:tailEnd type="triangle"/>
          </a:ln>
        </p:spPr>
      </p:sp>
      <p:sp>
        <p:nvSpPr>
          <p:cNvPr id="22" name="Shape 20"/>
          <p:cNvSpPr/>
          <p:nvPr/>
        </p:nvSpPr>
        <p:spPr>
          <a:xfrm>
            <a:off x="9509760" y="1920240"/>
            <a:ext cx="1920240" cy="1097280"/>
          </a:xfrm>
          <a:prstGeom prst="rect">
            <a:avLst/>
          </a:prstGeom>
          <a:solidFill>
            <a:srgbClr val="2A7F86"/>
          </a:solidFill>
          <a:ln/>
        </p:spPr>
      </p:sp>
      <p:sp>
        <p:nvSpPr>
          <p:cNvPr id="23" name="Text 21"/>
          <p:cNvSpPr txBox="1"/>
          <p:nvPr/>
        </p:nvSpPr>
        <p:spPr>
          <a:xfrm>
            <a:off x="9619488" y="1993392"/>
            <a:ext cx="457200" cy="365760"/>
          </a:xfrm>
          <a:prstGeom prst="rect">
            <a:avLst/>
          </a:prstGeom>
          <a:noFill/>
          <a:ln/>
        </p:spPr>
        <p:txBody>
          <a:bodyPr wrap="square" lIns="0" tIns="0" rIns="0" bIns="0" rtlCol="0" anchor="t"/>
          <a:lstStyle/>
          <a:p>
            <a:pPr marL="0" indent="0">
              <a:buNone/>
            </a:pPr>
            <a:r>
              <a:rPr lang="en-US" sz="1800" b="1" dirty="0">
                <a:solidFill>
                  <a:srgbClr val="BFD9DC"/>
                </a:solidFill>
                <a:latin typeface="Calibri" pitchFamily="34" charset="0"/>
                <a:ea typeface="Calibri" pitchFamily="34" charset="-122"/>
                <a:cs typeface="Calibri" pitchFamily="34" charset="-120"/>
              </a:rPr>
              <a:t>5</a:t>
            </a:r>
            <a:endParaRPr lang="en-US" sz="1800" dirty="0"/>
          </a:p>
        </p:txBody>
      </p:sp>
      <p:sp>
        <p:nvSpPr>
          <p:cNvPr id="24" name="Text 22"/>
          <p:cNvSpPr txBox="1"/>
          <p:nvPr/>
        </p:nvSpPr>
        <p:spPr>
          <a:xfrm>
            <a:off x="9601200" y="2377440"/>
            <a:ext cx="173736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Student's turn</a:t>
            </a:r>
            <a:endParaRPr lang="en-US" sz="1300" dirty="0"/>
          </a:p>
        </p:txBody>
      </p:sp>
      <p:sp>
        <p:nvSpPr>
          <p:cNvPr id="25" name="Shape 23"/>
          <p:cNvSpPr/>
          <p:nvPr/>
        </p:nvSpPr>
        <p:spPr>
          <a:xfrm>
            <a:off x="548640" y="3749040"/>
            <a:ext cx="1920240" cy="1097280"/>
          </a:xfrm>
          <a:prstGeom prst="rect">
            <a:avLst/>
          </a:prstGeom>
          <a:solidFill>
            <a:srgbClr val="2B6CB0"/>
          </a:solidFill>
          <a:ln/>
        </p:spPr>
      </p:sp>
      <p:sp>
        <p:nvSpPr>
          <p:cNvPr id="26" name="Text 24"/>
          <p:cNvSpPr txBox="1"/>
          <p:nvPr/>
        </p:nvSpPr>
        <p:spPr>
          <a:xfrm>
            <a:off x="658368" y="3822192"/>
            <a:ext cx="457200" cy="365760"/>
          </a:xfrm>
          <a:prstGeom prst="rect">
            <a:avLst/>
          </a:prstGeom>
          <a:noFill/>
          <a:ln/>
        </p:spPr>
        <p:txBody>
          <a:bodyPr wrap="square" lIns="0" tIns="0" rIns="0" bIns="0" rtlCol="0" anchor="t"/>
          <a:lstStyle/>
          <a:p>
            <a:pPr marL="0" indent="0">
              <a:buNone/>
            </a:pPr>
            <a:r>
              <a:rPr lang="en-US" sz="1800" b="1" dirty="0">
                <a:solidFill>
                  <a:srgbClr val="BFD9DC"/>
                </a:solidFill>
                <a:latin typeface="Calibri" pitchFamily="34" charset="0"/>
                <a:ea typeface="Calibri" pitchFamily="34" charset="-122"/>
                <a:cs typeface="Calibri" pitchFamily="34" charset="-120"/>
              </a:rPr>
              <a:t>6</a:t>
            </a:r>
            <a:endParaRPr lang="en-US" sz="1800" dirty="0"/>
          </a:p>
        </p:txBody>
      </p:sp>
      <p:sp>
        <p:nvSpPr>
          <p:cNvPr id="27" name="Text 25"/>
          <p:cNvSpPr txBox="1"/>
          <p:nvPr/>
        </p:nvSpPr>
        <p:spPr>
          <a:xfrm>
            <a:off x="640080" y="4206240"/>
            <a:ext cx="173736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Live hostel map</a:t>
            </a:r>
            <a:endParaRPr lang="en-US" sz="1300" dirty="0"/>
          </a:p>
        </p:txBody>
      </p:sp>
      <p:sp>
        <p:nvSpPr>
          <p:cNvPr id="28" name="Shape 26"/>
          <p:cNvSpPr/>
          <p:nvPr/>
        </p:nvSpPr>
        <p:spPr>
          <a:xfrm>
            <a:off x="2478024" y="4297680"/>
            <a:ext cx="301752" cy="0"/>
          </a:xfrm>
          <a:prstGeom prst="line">
            <a:avLst/>
          </a:prstGeom>
          <a:noFill/>
          <a:ln w="15875">
            <a:solidFill>
              <a:srgbClr val="5F6672"/>
            </a:solidFill>
            <a:prstDash val="solid"/>
            <a:tailEnd type="triangle"/>
          </a:ln>
        </p:spPr>
      </p:sp>
      <p:sp>
        <p:nvSpPr>
          <p:cNvPr id="29" name="Shape 27"/>
          <p:cNvSpPr/>
          <p:nvPr/>
        </p:nvSpPr>
        <p:spPr>
          <a:xfrm>
            <a:off x="2788920" y="3749040"/>
            <a:ext cx="1920240" cy="1097280"/>
          </a:xfrm>
          <a:prstGeom prst="rect">
            <a:avLst/>
          </a:prstGeom>
          <a:solidFill>
            <a:srgbClr val="2B6CB0"/>
          </a:solidFill>
          <a:ln/>
        </p:spPr>
      </p:sp>
      <p:sp>
        <p:nvSpPr>
          <p:cNvPr id="30" name="Text 28"/>
          <p:cNvSpPr txBox="1"/>
          <p:nvPr/>
        </p:nvSpPr>
        <p:spPr>
          <a:xfrm>
            <a:off x="2898648" y="3822192"/>
            <a:ext cx="457200" cy="365760"/>
          </a:xfrm>
          <a:prstGeom prst="rect">
            <a:avLst/>
          </a:prstGeom>
          <a:noFill/>
          <a:ln/>
        </p:spPr>
        <p:txBody>
          <a:bodyPr wrap="square" lIns="0" tIns="0" rIns="0" bIns="0" rtlCol="0" anchor="t"/>
          <a:lstStyle/>
          <a:p>
            <a:pPr marL="0" indent="0">
              <a:buNone/>
            </a:pPr>
            <a:r>
              <a:rPr lang="en-US" sz="1800" b="1" dirty="0">
                <a:solidFill>
                  <a:srgbClr val="BFD9DC"/>
                </a:solidFill>
                <a:latin typeface="Calibri" pitchFamily="34" charset="0"/>
                <a:ea typeface="Calibri" pitchFamily="34" charset="-122"/>
                <a:cs typeface="Calibri" pitchFamily="34" charset="-120"/>
              </a:rPr>
              <a:t>7</a:t>
            </a:r>
            <a:endParaRPr lang="en-US" sz="1800" dirty="0"/>
          </a:p>
        </p:txBody>
      </p:sp>
      <p:sp>
        <p:nvSpPr>
          <p:cNvPr id="31" name="Text 29"/>
          <p:cNvSpPr txBox="1"/>
          <p:nvPr/>
        </p:nvSpPr>
        <p:spPr>
          <a:xfrm>
            <a:off x="2880360" y="4206240"/>
            <a:ext cx="173736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Seat selection</a:t>
            </a:r>
            <a:endParaRPr lang="en-US" sz="1300" dirty="0"/>
          </a:p>
        </p:txBody>
      </p:sp>
      <p:sp>
        <p:nvSpPr>
          <p:cNvPr id="32" name="Shape 30"/>
          <p:cNvSpPr/>
          <p:nvPr/>
        </p:nvSpPr>
        <p:spPr>
          <a:xfrm>
            <a:off x="4718304" y="4297680"/>
            <a:ext cx="301752" cy="0"/>
          </a:xfrm>
          <a:prstGeom prst="line">
            <a:avLst/>
          </a:prstGeom>
          <a:noFill/>
          <a:ln w="15875">
            <a:solidFill>
              <a:srgbClr val="5F6672"/>
            </a:solidFill>
            <a:prstDash val="solid"/>
            <a:tailEnd type="triangle"/>
          </a:ln>
        </p:spPr>
      </p:sp>
      <p:sp>
        <p:nvSpPr>
          <p:cNvPr id="33" name="Shape 31"/>
          <p:cNvSpPr/>
          <p:nvPr/>
        </p:nvSpPr>
        <p:spPr>
          <a:xfrm>
            <a:off x="5029200" y="3749040"/>
            <a:ext cx="1920240" cy="1097280"/>
          </a:xfrm>
          <a:prstGeom prst="rect">
            <a:avLst/>
          </a:prstGeom>
          <a:solidFill>
            <a:srgbClr val="2A7F86"/>
          </a:solidFill>
          <a:ln/>
        </p:spPr>
      </p:sp>
      <p:sp>
        <p:nvSpPr>
          <p:cNvPr id="34" name="Text 32"/>
          <p:cNvSpPr txBox="1"/>
          <p:nvPr/>
        </p:nvSpPr>
        <p:spPr>
          <a:xfrm>
            <a:off x="5138928" y="3822192"/>
            <a:ext cx="457200" cy="365760"/>
          </a:xfrm>
          <a:prstGeom prst="rect">
            <a:avLst/>
          </a:prstGeom>
          <a:noFill/>
          <a:ln/>
        </p:spPr>
        <p:txBody>
          <a:bodyPr wrap="square" lIns="0" tIns="0" rIns="0" bIns="0" rtlCol="0" anchor="t"/>
          <a:lstStyle/>
          <a:p>
            <a:pPr marL="0" indent="0">
              <a:buNone/>
            </a:pPr>
            <a:r>
              <a:rPr lang="en-US" sz="1800" b="1" dirty="0">
                <a:solidFill>
                  <a:srgbClr val="BFD9DC"/>
                </a:solidFill>
                <a:latin typeface="Calibri" pitchFamily="34" charset="0"/>
                <a:ea typeface="Calibri" pitchFamily="34" charset="-122"/>
                <a:cs typeface="Calibri" pitchFamily="34" charset="-120"/>
              </a:rPr>
              <a:t>8</a:t>
            </a:r>
            <a:endParaRPr lang="en-US" sz="1800" dirty="0"/>
          </a:p>
        </p:txBody>
      </p:sp>
      <p:sp>
        <p:nvSpPr>
          <p:cNvPr id="35" name="Text 33"/>
          <p:cNvSpPr txBox="1"/>
          <p:nvPr/>
        </p:nvSpPr>
        <p:spPr>
          <a:xfrm>
            <a:off x="5120640" y="4206240"/>
            <a:ext cx="173736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Confirmation (atomic)</a:t>
            </a:r>
            <a:endParaRPr lang="en-US" sz="1300" dirty="0"/>
          </a:p>
        </p:txBody>
      </p:sp>
      <p:sp>
        <p:nvSpPr>
          <p:cNvPr id="36" name="Shape 34"/>
          <p:cNvSpPr/>
          <p:nvPr/>
        </p:nvSpPr>
        <p:spPr>
          <a:xfrm>
            <a:off x="6958584" y="4297680"/>
            <a:ext cx="301752" cy="0"/>
          </a:xfrm>
          <a:prstGeom prst="line">
            <a:avLst/>
          </a:prstGeom>
          <a:noFill/>
          <a:ln w="15875">
            <a:solidFill>
              <a:srgbClr val="5F6672"/>
            </a:solidFill>
            <a:prstDash val="solid"/>
            <a:tailEnd type="triangle"/>
          </a:ln>
        </p:spPr>
      </p:sp>
      <p:sp>
        <p:nvSpPr>
          <p:cNvPr id="37" name="Shape 35"/>
          <p:cNvSpPr/>
          <p:nvPr/>
        </p:nvSpPr>
        <p:spPr>
          <a:xfrm>
            <a:off x="7269480" y="3749040"/>
            <a:ext cx="1920240" cy="1097280"/>
          </a:xfrm>
          <a:prstGeom prst="rect">
            <a:avLst/>
          </a:prstGeom>
          <a:solidFill>
            <a:srgbClr val="2A7F86"/>
          </a:solidFill>
          <a:ln/>
        </p:spPr>
      </p:sp>
      <p:sp>
        <p:nvSpPr>
          <p:cNvPr id="38" name="Text 36"/>
          <p:cNvSpPr txBox="1"/>
          <p:nvPr/>
        </p:nvSpPr>
        <p:spPr>
          <a:xfrm>
            <a:off x="7379208" y="3822192"/>
            <a:ext cx="457200" cy="365760"/>
          </a:xfrm>
          <a:prstGeom prst="rect">
            <a:avLst/>
          </a:prstGeom>
          <a:noFill/>
          <a:ln/>
        </p:spPr>
        <p:txBody>
          <a:bodyPr wrap="square" lIns="0" tIns="0" rIns="0" bIns="0" rtlCol="0" anchor="t"/>
          <a:lstStyle/>
          <a:p>
            <a:pPr marL="0" indent="0">
              <a:buNone/>
            </a:pPr>
            <a:r>
              <a:rPr lang="en-US" sz="1800" b="1" dirty="0">
                <a:solidFill>
                  <a:srgbClr val="BFD9DC"/>
                </a:solidFill>
                <a:latin typeface="Calibri" pitchFamily="34" charset="0"/>
                <a:ea typeface="Calibri" pitchFamily="34" charset="-122"/>
                <a:cs typeface="Calibri" pitchFamily="34" charset="-120"/>
              </a:rPr>
              <a:t>9</a:t>
            </a:r>
            <a:endParaRPr lang="en-US" sz="1800" dirty="0"/>
          </a:p>
        </p:txBody>
      </p:sp>
      <p:sp>
        <p:nvSpPr>
          <p:cNvPr id="39" name="Text 37"/>
          <p:cNvSpPr txBox="1"/>
          <p:nvPr/>
        </p:nvSpPr>
        <p:spPr>
          <a:xfrm>
            <a:off x="7360920" y="4206240"/>
            <a:ext cx="173736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Allocation record</a:t>
            </a:r>
            <a:endParaRPr lang="en-US" sz="1300" dirty="0"/>
          </a:p>
        </p:txBody>
      </p:sp>
      <p:sp>
        <p:nvSpPr>
          <p:cNvPr id="40" name="Shape 38"/>
          <p:cNvSpPr/>
          <p:nvPr/>
        </p:nvSpPr>
        <p:spPr>
          <a:xfrm>
            <a:off x="9198864" y="4297680"/>
            <a:ext cx="301752" cy="0"/>
          </a:xfrm>
          <a:prstGeom prst="line">
            <a:avLst/>
          </a:prstGeom>
          <a:noFill/>
          <a:ln w="15875">
            <a:solidFill>
              <a:srgbClr val="5F6672"/>
            </a:solidFill>
            <a:prstDash val="solid"/>
            <a:tailEnd type="triangle"/>
          </a:ln>
        </p:spPr>
      </p:sp>
      <p:sp>
        <p:nvSpPr>
          <p:cNvPr id="41" name="Shape 39"/>
          <p:cNvSpPr/>
          <p:nvPr/>
        </p:nvSpPr>
        <p:spPr>
          <a:xfrm>
            <a:off x="9509760" y="3749040"/>
            <a:ext cx="1920240" cy="1097280"/>
          </a:xfrm>
          <a:prstGeom prst="rect">
            <a:avLst/>
          </a:prstGeom>
          <a:solidFill>
            <a:srgbClr val="2A7F86"/>
          </a:solidFill>
          <a:ln/>
        </p:spPr>
      </p:sp>
      <p:sp>
        <p:nvSpPr>
          <p:cNvPr id="42" name="Text 40"/>
          <p:cNvSpPr txBox="1"/>
          <p:nvPr/>
        </p:nvSpPr>
        <p:spPr>
          <a:xfrm>
            <a:off x="9619488" y="3822192"/>
            <a:ext cx="457200" cy="365760"/>
          </a:xfrm>
          <a:prstGeom prst="rect">
            <a:avLst/>
          </a:prstGeom>
          <a:noFill/>
          <a:ln/>
        </p:spPr>
        <p:txBody>
          <a:bodyPr wrap="square" lIns="0" tIns="0" rIns="0" bIns="0" rtlCol="0" anchor="t"/>
          <a:lstStyle/>
          <a:p>
            <a:pPr marL="0" indent="0">
              <a:buNone/>
            </a:pPr>
            <a:r>
              <a:rPr lang="en-US" sz="1800" b="1" dirty="0">
                <a:solidFill>
                  <a:srgbClr val="BFD9DC"/>
                </a:solidFill>
                <a:latin typeface="Calibri" pitchFamily="34" charset="0"/>
                <a:ea typeface="Calibri" pitchFamily="34" charset="-122"/>
                <a:cs typeface="Calibri" pitchFamily="34" charset="-120"/>
              </a:rPr>
              <a:t>10</a:t>
            </a:r>
            <a:endParaRPr lang="en-US" sz="1800" dirty="0"/>
          </a:p>
        </p:txBody>
      </p:sp>
      <p:sp>
        <p:nvSpPr>
          <p:cNvPr id="43" name="Text 41"/>
          <p:cNvSpPr txBox="1"/>
          <p:nvPr/>
        </p:nvSpPr>
        <p:spPr>
          <a:xfrm>
            <a:off x="9601200" y="4206240"/>
            <a:ext cx="1737360" cy="5943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Publication + notifications</a:t>
            </a:r>
            <a:endParaRPr lang="en-US" sz="1300" dirty="0"/>
          </a:p>
        </p:txBody>
      </p:sp>
      <p:sp>
        <p:nvSpPr>
          <p:cNvPr id="44" name="Shape 42"/>
          <p:cNvSpPr/>
          <p:nvPr/>
        </p:nvSpPr>
        <p:spPr>
          <a:xfrm>
            <a:off x="548640" y="5486400"/>
            <a:ext cx="274320" cy="274320"/>
          </a:xfrm>
          <a:prstGeom prst="rect">
            <a:avLst/>
          </a:prstGeom>
          <a:solidFill>
            <a:srgbClr val="14263F"/>
          </a:solidFill>
          <a:ln/>
        </p:spPr>
      </p:sp>
      <p:sp>
        <p:nvSpPr>
          <p:cNvPr id="45" name="Text 43"/>
          <p:cNvSpPr txBox="1"/>
          <p:nvPr/>
        </p:nvSpPr>
        <p:spPr>
          <a:xfrm>
            <a:off x="914400" y="5486400"/>
            <a:ext cx="1828800" cy="274320"/>
          </a:xfrm>
          <a:prstGeom prst="rect">
            <a:avLst/>
          </a:prstGeom>
          <a:noFill/>
          <a:ln/>
        </p:spPr>
        <p:txBody>
          <a:bodyPr wrap="square" lIns="0" tIns="0" rIns="0" bIns="0" rtlCol="0" anchor="ctr"/>
          <a:lstStyle/>
          <a:p>
            <a:pPr marL="0" indent="0">
              <a:buNone/>
            </a:pPr>
            <a:r>
              <a:rPr lang="en-US" sz="1200" dirty="0">
                <a:solidFill>
                  <a:srgbClr val="1F2328"/>
                </a:solidFill>
                <a:latin typeface="Calibri" pitchFamily="34" charset="0"/>
                <a:ea typeface="Calibri" pitchFamily="34" charset="-122"/>
                <a:cs typeface="Calibri" pitchFamily="34" charset="-120"/>
              </a:rPr>
              <a:t>Staff action</a:t>
            </a:r>
            <a:endParaRPr lang="en-US" sz="1200" dirty="0"/>
          </a:p>
        </p:txBody>
      </p:sp>
      <p:sp>
        <p:nvSpPr>
          <p:cNvPr id="46" name="Shape 44"/>
          <p:cNvSpPr/>
          <p:nvPr/>
        </p:nvSpPr>
        <p:spPr>
          <a:xfrm>
            <a:off x="2926080" y="5486400"/>
            <a:ext cx="274320" cy="274320"/>
          </a:xfrm>
          <a:prstGeom prst="rect">
            <a:avLst/>
          </a:prstGeom>
          <a:solidFill>
            <a:srgbClr val="2B6CB0"/>
          </a:solidFill>
          <a:ln/>
        </p:spPr>
      </p:sp>
      <p:sp>
        <p:nvSpPr>
          <p:cNvPr id="47" name="Text 45"/>
          <p:cNvSpPr txBox="1"/>
          <p:nvPr/>
        </p:nvSpPr>
        <p:spPr>
          <a:xfrm>
            <a:off x="3291840" y="5486400"/>
            <a:ext cx="1828800" cy="274320"/>
          </a:xfrm>
          <a:prstGeom prst="rect">
            <a:avLst/>
          </a:prstGeom>
          <a:noFill/>
          <a:ln/>
        </p:spPr>
        <p:txBody>
          <a:bodyPr wrap="square" lIns="0" tIns="0" rIns="0" bIns="0" rtlCol="0" anchor="ctr"/>
          <a:lstStyle/>
          <a:p>
            <a:pPr marL="0" indent="0">
              <a:buNone/>
            </a:pPr>
            <a:r>
              <a:rPr lang="en-US" sz="1200" dirty="0">
                <a:solidFill>
                  <a:srgbClr val="1F2328"/>
                </a:solidFill>
                <a:latin typeface="Calibri" pitchFamily="34" charset="0"/>
                <a:ea typeface="Calibri" pitchFamily="34" charset="-122"/>
                <a:cs typeface="Calibri" pitchFamily="34" charset="-120"/>
              </a:rPr>
              <a:t>Student action</a:t>
            </a:r>
            <a:endParaRPr lang="en-US" sz="1200" dirty="0"/>
          </a:p>
        </p:txBody>
      </p:sp>
      <p:sp>
        <p:nvSpPr>
          <p:cNvPr id="48" name="Shape 46"/>
          <p:cNvSpPr/>
          <p:nvPr/>
        </p:nvSpPr>
        <p:spPr>
          <a:xfrm>
            <a:off x="5303520" y="5486400"/>
            <a:ext cx="274320" cy="274320"/>
          </a:xfrm>
          <a:prstGeom prst="rect">
            <a:avLst/>
          </a:prstGeom>
          <a:solidFill>
            <a:srgbClr val="2A7F86"/>
          </a:solidFill>
          <a:ln/>
        </p:spPr>
      </p:sp>
      <p:sp>
        <p:nvSpPr>
          <p:cNvPr id="49" name="Text 47"/>
          <p:cNvSpPr txBox="1"/>
          <p:nvPr/>
        </p:nvSpPr>
        <p:spPr>
          <a:xfrm>
            <a:off x="5669280" y="5486400"/>
            <a:ext cx="1828800" cy="274320"/>
          </a:xfrm>
          <a:prstGeom prst="rect">
            <a:avLst/>
          </a:prstGeom>
          <a:noFill/>
          <a:ln/>
        </p:spPr>
        <p:txBody>
          <a:bodyPr wrap="square" lIns="0" tIns="0" rIns="0" bIns="0" rtlCol="0" anchor="ctr"/>
          <a:lstStyle/>
          <a:p>
            <a:pPr marL="0" indent="0">
              <a:buNone/>
            </a:pPr>
            <a:r>
              <a:rPr lang="en-US" sz="1200" dirty="0">
                <a:solidFill>
                  <a:srgbClr val="1F2328"/>
                </a:solidFill>
                <a:latin typeface="Calibri" pitchFamily="34" charset="0"/>
                <a:ea typeface="Calibri" pitchFamily="34" charset="-122"/>
                <a:cs typeface="Calibri" pitchFamily="34" charset="-120"/>
              </a:rPr>
              <a:t>Backend-enforced</a:t>
            </a:r>
            <a:endParaRPr lang="en-US" sz="1200" dirty="0"/>
          </a:p>
        </p:txBody>
      </p:sp>
      <p:sp>
        <p:nvSpPr>
          <p:cNvPr id="50" name="Text 48"/>
          <p:cNvSpPr txBox="1"/>
          <p:nvPr/>
        </p:nvSpPr>
        <p:spPr>
          <a:xfrm>
            <a:off x="548640" y="5852160"/>
            <a:ext cx="10972800" cy="274320"/>
          </a:xfrm>
          <a:prstGeom prst="rect">
            <a:avLst/>
          </a:prstGeom>
          <a:noFill/>
          <a:ln/>
        </p:spPr>
        <p:txBody>
          <a:bodyPr wrap="square" lIns="0" tIns="0" rIns="0" bIns="0" rtlCol="0" anchor="t"/>
          <a:lstStyle/>
          <a:p>
            <a:pPr marL="0" indent="0">
              <a:buNone/>
            </a:pPr>
            <a:r>
              <a:rPr lang="en-US" sz="1200" i="1" dirty="0">
                <a:solidFill>
                  <a:srgbClr val="5F6672"/>
                </a:solidFill>
                <a:latin typeface="Calibri" pitchFamily="34" charset="0"/>
                <a:ea typeface="Calibri" pitchFamily="34" charset="-122"/>
                <a:cs typeface="Calibri" pitchFamily="34" charset="-120"/>
              </a:rPr>
              <a:t>The backend — not the browser — decides eligibility, priority, timing and availability.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100" b="1" kern="0" spc="300" dirty="0">
                <a:solidFill>
                  <a:srgbClr val="2A7F86"/>
                </a:solidFill>
                <a:latin typeface="Calibri" pitchFamily="34" charset="0"/>
                <a:ea typeface="Calibri" pitchFamily="34" charset="-122"/>
                <a:cs typeface="Calibri" pitchFamily="34" charset="-120"/>
              </a:rPr>
              <a:t>SYSTEM FEATURES AND VISUAL WALKTHROUGH</a:t>
            </a:r>
            <a:endParaRPr lang="en-US" sz="1100" dirty="0"/>
          </a:p>
        </p:txBody>
      </p:sp>
      <p:sp>
        <p:nvSpPr>
          <p:cNvPr id="3" name="Text 1"/>
          <p:cNvSpPr txBox="1"/>
          <p:nvPr/>
        </p:nvSpPr>
        <p:spPr>
          <a:xfrm>
            <a:off x="548640" y="640080"/>
            <a:ext cx="11064240" cy="548640"/>
          </a:xfrm>
          <a:prstGeom prst="rect">
            <a:avLst/>
          </a:prstGeom>
          <a:noFill/>
          <a:ln/>
        </p:spPr>
        <p:txBody>
          <a:bodyPr wrap="square" lIns="0" tIns="0" rIns="0" bIns="0" rtlCol="0" anchor="t"/>
          <a:lstStyle/>
          <a:p>
            <a:pPr marL="0" indent="0">
              <a:buNone/>
            </a:pPr>
            <a:r>
              <a:rPr lang="en-US" sz="2700" b="1" dirty="0">
                <a:solidFill>
                  <a:srgbClr val="14263F"/>
                </a:solidFill>
                <a:latin typeface="Calibri" pitchFamily="34" charset="0"/>
                <a:ea typeface="Calibri" pitchFamily="34" charset="-122"/>
                <a:cs typeface="Calibri" pitchFamily="34" charset="-120"/>
              </a:rPr>
              <a:t>What Users Would See</a:t>
            </a:r>
            <a:endParaRPr lang="en-US" sz="2700" dirty="0"/>
          </a:p>
        </p:txBody>
      </p:sp>
      <p:sp>
        <p:nvSpPr>
          <p:cNvPr id="4" name="Text 2"/>
          <p:cNvSpPr txBox="1"/>
          <p:nvPr/>
        </p:nvSpPr>
        <p:spPr>
          <a:xfrm>
            <a:off x="548640" y="1234440"/>
            <a:ext cx="11064240" cy="320040"/>
          </a:xfrm>
          <a:prstGeom prst="rect">
            <a:avLst/>
          </a:prstGeom>
          <a:noFill/>
          <a:ln/>
        </p:spPr>
        <p:txBody>
          <a:bodyPr wrap="square" lIns="0" tIns="0" rIns="0" bIns="0" rtlCol="0" anchor="t"/>
          <a:lstStyle/>
          <a:p>
            <a:pPr marL="0" indent="0">
              <a:buNone/>
            </a:pPr>
            <a:r>
              <a:rPr lang="en-US" sz="1400" dirty="0">
                <a:solidFill>
                  <a:srgbClr val="5F6672"/>
                </a:solidFill>
                <a:latin typeface="Calibri" pitchFamily="34" charset="0"/>
                <a:ea typeface="Calibri" pitchFamily="34" charset="-122"/>
                <a:cs typeface="Calibri" pitchFamily="34" charset="-120"/>
              </a:rPr>
              <a:t>All screens are conceptual and not from a working application.</a:t>
            </a:r>
            <a:endParaRPr lang="en-US" sz="1400" dirty="0"/>
          </a:p>
        </p:txBody>
      </p:sp>
      <p:sp>
        <p:nvSpPr>
          <p:cNvPr id="5" name="Text 3"/>
          <p:cNvSpPr txBox="1"/>
          <p:nvPr/>
        </p:nvSpPr>
        <p:spPr>
          <a:xfrm>
            <a:off x="548640" y="6492240"/>
            <a:ext cx="7315200" cy="228600"/>
          </a:xfrm>
          <a:prstGeom prst="rect">
            <a:avLst/>
          </a:prstGeom>
          <a:noFill/>
          <a:ln/>
        </p:spPr>
        <p:txBody>
          <a:bodyPr wrap="square" lIns="0" tIns="0" rIns="0" bIns="0" rtlCol="0" anchor="t"/>
          <a:lstStyle/>
          <a:p>
            <a:pPr marL="0" indent="0">
              <a:buNone/>
            </a:pPr>
            <a:r>
              <a:rPr lang="en-US" sz="900" dirty="0">
                <a:solidFill>
                  <a:srgbClr val="5F6672"/>
                </a:solidFill>
                <a:latin typeface="Calibri" pitchFamily="34" charset="0"/>
                <a:ea typeface="Calibri" pitchFamily="34" charset="-122"/>
                <a:cs typeface="Calibri" pitchFamily="34" charset="-120"/>
              </a:rPr>
              <a:t>SIT Tumakuru · Dept. of CSE · Community Project Phase-I, 2026–27</a:t>
            </a:r>
            <a:endParaRPr lang="en-US" sz="900" dirty="0"/>
          </a:p>
        </p:txBody>
      </p:sp>
      <p:sp>
        <p:nvSpPr>
          <p:cNvPr id="6" name="Text 4"/>
          <p:cNvSpPr txBox="1"/>
          <p:nvPr/>
        </p:nvSpPr>
        <p:spPr>
          <a:xfrm>
            <a:off x="11155680" y="6492240"/>
            <a:ext cx="457200" cy="228600"/>
          </a:xfrm>
          <a:prstGeom prst="rect">
            <a:avLst/>
          </a:prstGeom>
          <a:noFill/>
          <a:ln/>
        </p:spPr>
        <p:txBody>
          <a:bodyPr wrap="square" lIns="0" tIns="0" rIns="0" bIns="0" rtlCol="0" anchor="t"/>
          <a:lstStyle/>
          <a:p>
            <a:pPr marL="0" indent="0" algn="r">
              <a:buNone/>
            </a:pPr>
            <a:r>
              <a:rPr lang="en-US" sz="900" dirty="0">
                <a:solidFill>
                  <a:srgbClr val="5F6672"/>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548640" y="1691640"/>
            <a:ext cx="3566160" cy="2103120"/>
          </a:xfrm>
          <a:prstGeom prst="rect">
            <a:avLst/>
          </a:prstGeom>
          <a:solidFill>
            <a:srgbClr val="FFFFFF"/>
          </a:solidFill>
          <a:ln w="12700">
            <a:solidFill>
              <a:srgbClr val="D9D6CE"/>
            </a:solidFill>
            <a:prstDash val="solid"/>
          </a:ln>
        </p:spPr>
      </p:sp>
      <p:sp>
        <p:nvSpPr>
          <p:cNvPr id="8" name="Shape 6"/>
          <p:cNvSpPr/>
          <p:nvPr/>
        </p:nvSpPr>
        <p:spPr>
          <a:xfrm>
            <a:off x="548640" y="1691640"/>
            <a:ext cx="3566160" cy="292608"/>
          </a:xfrm>
          <a:prstGeom prst="rect">
            <a:avLst/>
          </a:prstGeom>
          <a:solidFill>
            <a:srgbClr val="F0EEE8"/>
          </a:solidFill>
          <a:ln w="12700">
            <a:solidFill>
              <a:srgbClr val="D9D6CE"/>
            </a:solidFill>
            <a:prstDash val="solid"/>
          </a:ln>
        </p:spPr>
      </p:sp>
      <p:sp>
        <p:nvSpPr>
          <p:cNvPr id="9" name="Text 7"/>
          <p:cNvSpPr txBox="1"/>
          <p:nvPr/>
        </p:nvSpPr>
        <p:spPr>
          <a:xfrm>
            <a:off x="658368" y="1691640"/>
            <a:ext cx="3383280" cy="292608"/>
          </a:xfrm>
          <a:prstGeom prst="rect">
            <a:avLst/>
          </a:prstGeom>
          <a:noFill/>
          <a:ln/>
        </p:spPr>
        <p:txBody>
          <a:bodyPr wrap="square" lIns="0" tIns="0" rIns="0" bIns="0" rtlCol="0" anchor="ctr"/>
          <a:lstStyle/>
          <a:p>
            <a:pPr marL="0" indent="0">
              <a:buNone/>
            </a:pPr>
            <a:r>
              <a:rPr lang="en-US" sz="1000" b="1" dirty="0">
                <a:solidFill>
                  <a:srgbClr val="5F6672"/>
                </a:solidFill>
                <a:latin typeface="Calibri" pitchFamily="34" charset="0"/>
                <a:ea typeface="Calibri" pitchFamily="34" charset="-122"/>
                <a:cs typeface="Calibri" pitchFamily="34" charset="-120"/>
              </a:rPr>
              <a:t>STUDENT DASHBOARD</a:t>
            </a:r>
            <a:endParaRPr lang="en-US" sz="1000" dirty="0"/>
          </a:p>
        </p:txBody>
      </p:sp>
      <p:sp>
        <p:nvSpPr>
          <p:cNvPr id="10" name="Text 8"/>
          <p:cNvSpPr txBox="1"/>
          <p:nvPr/>
        </p:nvSpPr>
        <p:spPr>
          <a:xfrm>
            <a:off x="1920240" y="2002536"/>
            <a:ext cx="2103120" cy="182880"/>
          </a:xfrm>
          <a:prstGeom prst="rect">
            <a:avLst/>
          </a:prstGeom>
          <a:noFill/>
          <a:ln/>
        </p:spPr>
        <p:txBody>
          <a:bodyPr wrap="square" lIns="0" tIns="0" rIns="0" bIns="0" rtlCol="0" anchor="t"/>
          <a:lstStyle/>
          <a:p>
            <a:pPr marL="0" indent="0" algn="r">
              <a:buNone/>
            </a:pPr>
            <a:r>
              <a:rPr lang="en-US" sz="800" i="1" dirty="0">
                <a:solidFill>
                  <a:srgbClr val="5F6672"/>
                </a:solidFill>
                <a:latin typeface="Calibri" pitchFamily="34" charset="0"/>
                <a:ea typeface="Calibri" pitchFamily="34" charset="-122"/>
                <a:cs typeface="Calibri" pitchFamily="34" charset="-120"/>
              </a:rPr>
              <a:t>Conceptual UI Mockup</a:t>
            </a:r>
            <a:endParaRPr lang="en-US" sz="800" dirty="0"/>
          </a:p>
        </p:txBody>
      </p:sp>
      <p:sp>
        <p:nvSpPr>
          <p:cNvPr id="11" name="Text 9"/>
          <p:cNvSpPr txBox="1"/>
          <p:nvPr/>
        </p:nvSpPr>
        <p:spPr>
          <a:xfrm>
            <a:off x="731520" y="2240280"/>
            <a:ext cx="1188720" cy="365760"/>
          </a:xfrm>
          <a:prstGeom prst="rect">
            <a:avLst/>
          </a:prstGeom>
          <a:noFill/>
          <a:ln/>
        </p:spPr>
        <p:txBody>
          <a:bodyPr wrap="square" lIns="0" tIns="0" rIns="0" bIns="0" rtlCol="0" anchor="ctr"/>
          <a:lstStyle/>
          <a:p>
            <a:pPr marL="0" indent="0">
              <a:buNone/>
            </a:pPr>
            <a:r>
              <a:rPr lang="en-US" sz="1200" dirty="0">
                <a:solidFill>
                  <a:srgbClr val="5F6672"/>
                </a:solidFill>
                <a:latin typeface="Calibri" pitchFamily="34" charset="0"/>
                <a:ea typeface="Calibri" pitchFamily="34" charset="-122"/>
                <a:cs typeface="Calibri" pitchFamily="34" charset="-120"/>
              </a:rPr>
              <a:t>Priority</a:t>
            </a:r>
            <a:endParaRPr lang="en-US" sz="1200" dirty="0"/>
          </a:p>
        </p:txBody>
      </p:sp>
      <p:sp>
        <p:nvSpPr>
          <p:cNvPr id="12" name="Shape 10"/>
          <p:cNvSpPr/>
          <p:nvPr/>
        </p:nvSpPr>
        <p:spPr>
          <a:xfrm>
            <a:off x="1920240" y="2258568"/>
            <a:ext cx="2011680" cy="347472"/>
          </a:xfrm>
          <a:prstGeom prst="rect">
            <a:avLst/>
          </a:prstGeom>
          <a:solidFill>
            <a:srgbClr val="F0EEE8"/>
          </a:solidFill>
          <a:ln/>
        </p:spPr>
      </p:sp>
      <p:sp>
        <p:nvSpPr>
          <p:cNvPr id="13" name="Text 11"/>
          <p:cNvSpPr txBox="1"/>
          <p:nvPr/>
        </p:nvSpPr>
        <p:spPr>
          <a:xfrm>
            <a:off x="1965960" y="2258568"/>
            <a:ext cx="1920240" cy="347472"/>
          </a:xfrm>
          <a:prstGeom prst="rect">
            <a:avLst/>
          </a:prstGeom>
          <a:noFill/>
          <a:ln/>
        </p:spPr>
        <p:txBody>
          <a:bodyPr wrap="square" lIns="0" tIns="0" rIns="0" bIns="0" rtlCol="0" anchor="ctr"/>
          <a:lstStyle/>
          <a:p>
            <a:pPr marL="0" indent="0" algn="ctr">
              <a:buNone/>
            </a:pPr>
            <a:r>
              <a:rPr lang="en-US" sz="1100" dirty="0">
                <a:solidFill>
                  <a:srgbClr val="1F2328"/>
                </a:solidFill>
                <a:latin typeface="Calibri" pitchFamily="34" charset="0"/>
                <a:ea typeface="Calibri" pitchFamily="34" charset="-122"/>
                <a:cs typeface="Calibri" pitchFamily="34" charset="-120"/>
              </a:rPr>
              <a:t>assigned by staff</a:t>
            </a:r>
            <a:endParaRPr lang="en-US" sz="1100" dirty="0"/>
          </a:p>
        </p:txBody>
      </p:sp>
      <p:sp>
        <p:nvSpPr>
          <p:cNvPr id="14" name="Text 12"/>
          <p:cNvSpPr txBox="1"/>
          <p:nvPr/>
        </p:nvSpPr>
        <p:spPr>
          <a:xfrm>
            <a:off x="731520" y="2697480"/>
            <a:ext cx="1188720" cy="365760"/>
          </a:xfrm>
          <a:prstGeom prst="rect">
            <a:avLst/>
          </a:prstGeom>
          <a:noFill/>
          <a:ln/>
        </p:spPr>
        <p:txBody>
          <a:bodyPr wrap="square" lIns="0" tIns="0" rIns="0" bIns="0" rtlCol="0" anchor="ctr"/>
          <a:lstStyle/>
          <a:p>
            <a:pPr marL="0" indent="0">
              <a:buNone/>
            </a:pPr>
            <a:r>
              <a:rPr lang="en-US" sz="1200" dirty="0">
                <a:solidFill>
                  <a:srgbClr val="5F6672"/>
                </a:solidFill>
                <a:latin typeface="Calibri" pitchFamily="34" charset="0"/>
                <a:ea typeface="Calibri" pitchFamily="34" charset="-122"/>
                <a:cs typeface="Calibri" pitchFamily="34" charset="-120"/>
              </a:rPr>
              <a:t>Eligibility</a:t>
            </a:r>
            <a:endParaRPr lang="en-US" sz="1200" dirty="0"/>
          </a:p>
        </p:txBody>
      </p:sp>
      <p:sp>
        <p:nvSpPr>
          <p:cNvPr id="15" name="Shape 13"/>
          <p:cNvSpPr/>
          <p:nvPr/>
        </p:nvSpPr>
        <p:spPr>
          <a:xfrm>
            <a:off x="1920240" y="2715768"/>
            <a:ext cx="2011680" cy="347472"/>
          </a:xfrm>
          <a:prstGeom prst="rect">
            <a:avLst/>
          </a:prstGeom>
          <a:solidFill>
            <a:srgbClr val="F0EEE8"/>
          </a:solidFill>
          <a:ln/>
        </p:spPr>
      </p:sp>
      <p:sp>
        <p:nvSpPr>
          <p:cNvPr id="16" name="Text 14"/>
          <p:cNvSpPr txBox="1"/>
          <p:nvPr/>
        </p:nvSpPr>
        <p:spPr>
          <a:xfrm>
            <a:off x="1965960" y="2715768"/>
            <a:ext cx="1920240" cy="347472"/>
          </a:xfrm>
          <a:prstGeom prst="rect">
            <a:avLst/>
          </a:prstGeom>
          <a:noFill/>
          <a:ln/>
        </p:spPr>
        <p:txBody>
          <a:bodyPr wrap="square" lIns="0" tIns="0" rIns="0" bIns="0" rtlCol="0" anchor="ctr"/>
          <a:lstStyle/>
          <a:p>
            <a:pPr marL="0" indent="0" algn="ctr">
              <a:buNone/>
            </a:pPr>
            <a:r>
              <a:rPr lang="en-US" sz="1100" dirty="0">
                <a:solidFill>
                  <a:srgbClr val="1F2328"/>
                </a:solidFill>
                <a:latin typeface="Calibri" pitchFamily="34" charset="0"/>
                <a:ea typeface="Calibri" pitchFamily="34" charset="-122"/>
                <a:cs typeface="Calibri" pitchFamily="34" charset="-120"/>
              </a:rPr>
              <a:t>Verified</a:t>
            </a:r>
            <a:endParaRPr lang="en-US" sz="1100" dirty="0"/>
          </a:p>
        </p:txBody>
      </p:sp>
      <p:sp>
        <p:nvSpPr>
          <p:cNvPr id="17" name="Text 15"/>
          <p:cNvSpPr txBox="1"/>
          <p:nvPr/>
        </p:nvSpPr>
        <p:spPr>
          <a:xfrm>
            <a:off x="731520" y="3154680"/>
            <a:ext cx="1188720" cy="365760"/>
          </a:xfrm>
          <a:prstGeom prst="rect">
            <a:avLst/>
          </a:prstGeom>
          <a:noFill/>
          <a:ln/>
        </p:spPr>
        <p:txBody>
          <a:bodyPr wrap="square" lIns="0" tIns="0" rIns="0" bIns="0" rtlCol="0" anchor="ctr"/>
          <a:lstStyle/>
          <a:p>
            <a:pPr marL="0" indent="0">
              <a:buNone/>
            </a:pPr>
            <a:r>
              <a:rPr lang="en-US" sz="1200" dirty="0">
                <a:solidFill>
                  <a:srgbClr val="5F6672"/>
                </a:solidFill>
                <a:latin typeface="Calibri" pitchFamily="34" charset="0"/>
                <a:ea typeface="Calibri" pitchFamily="34" charset="-122"/>
                <a:cs typeface="Calibri" pitchFamily="34" charset="-120"/>
              </a:rPr>
              <a:t>Allocation</a:t>
            </a:r>
            <a:endParaRPr lang="en-US" sz="1200" dirty="0"/>
          </a:p>
        </p:txBody>
      </p:sp>
      <p:sp>
        <p:nvSpPr>
          <p:cNvPr id="18" name="Shape 16"/>
          <p:cNvSpPr/>
          <p:nvPr/>
        </p:nvSpPr>
        <p:spPr>
          <a:xfrm>
            <a:off x="1920240" y="3172968"/>
            <a:ext cx="2011680" cy="347472"/>
          </a:xfrm>
          <a:prstGeom prst="rect">
            <a:avLst/>
          </a:prstGeom>
          <a:solidFill>
            <a:srgbClr val="F0EEE8"/>
          </a:solidFill>
          <a:ln/>
        </p:spPr>
      </p:sp>
      <p:sp>
        <p:nvSpPr>
          <p:cNvPr id="19" name="Text 17"/>
          <p:cNvSpPr txBox="1"/>
          <p:nvPr/>
        </p:nvSpPr>
        <p:spPr>
          <a:xfrm>
            <a:off x="1965960" y="3172968"/>
            <a:ext cx="1920240" cy="347472"/>
          </a:xfrm>
          <a:prstGeom prst="rect">
            <a:avLst/>
          </a:prstGeom>
          <a:noFill/>
          <a:ln/>
        </p:spPr>
        <p:txBody>
          <a:bodyPr wrap="square" lIns="0" tIns="0" rIns="0" bIns="0" rtlCol="0" anchor="ctr"/>
          <a:lstStyle/>
          <a:p>
            <a:pPr marL="0" indent="0" algn="ctr">
              <a:buNone/>
            </a:pPr>
            <a:r>
              <a:rPr lang="en-US" sz="1100" dirty="0">
                <a:solidFill>
                  <a:srgbClr val="1F2328"/>
                </a:solidFill>
                <a:latin typeface="Calibri" pitchFamily="34" charset="0"/>
                <a:ea typeface="Calibri" pitchFamily="34" charset="-122"/>
                <a:cs typeface="Calibri" pitchFamily="34" charset="-120"/>
              </a:rPr>
              <a:t>Not yet allocated</a:t>
            </a:r>
            <a:endParaRPr lang="en-US" sz="1100" dirty="0"/>
          </a:p>
        </p:txBody>
      </p:sp>
      <p:sp>
        <p:nvSpPr>
          <p:cNvPr id="20" name="Shape 18"/>
          <p:cNvSpPr/>
          <p:nvPr/>
        </p:nvSpPr>
        <p:spPr>
          <a:xfrm>
            <a:off x="4297680" y="1691640"/>
            <a:ext cx="3566160" cy="2103120"/>
          </a:xfrm>
          <a:prstGeom prst="rect">
            <a:avLst/>
          </a:prstGeom>
          <a:solidFill>
            <a:srgbClr val="FFFFFF"/>
          </a:solidFill>
          <a:ln w="12700">
            <a:solidFill>
              <a:srgbClr val="D9D6CE"/>
            </a:solidFill>
            <a:prstDash val="solid"/>
          </a:ln>
        </p:spPr>
      </p:sp>
      <p:sp>
        <p:nvSpPr>
          <p:cNvPr id="21" name="Shape 19"/>
          <p:cNvSpPr/>
          <p:nvPr/>
        </p:nvSpPr>
        <p:spPr>
          <a:xfrm>
            <a:off x="4297680" y="1691640"/>
            <a:ext cx="3566160" cy="292608"/>
          </a:xfrm>
          <a:prstGeom prst="rect">
            <a:avLst/>
          </a:prstGeom>
          <a:solidFill>
            <a:srgbClr val="F0EEE8"/>
          </a:solidFill>
          <a:ln w="12700">
            <a:solidFill>
              <a:srgbClr val="D9D6CE"/>
            </a:solidFill>
            <a:prstDash val="solid"/>
          </a:ln>
        </p:spPr>
      </p:sp>
      <p:sp>
        <p:nvSpPr>
          <p:cNvPr id="22" name="Text 20"/>
          <p:cNvSpPr txBox="1"/>
          <p:nvPr/>
        </p:nvSpPr>
        <p:spPr>
          <a:xfrm>
            <a:off x="4407408" y="1691640"/>
            <a:ext cx="3383280" cy="292608"/>
          </a:xfrm>
          <a:prstGeom prst="rect">
            <a:avLst/>
          </a:prstGeom>
          <a:noFill/>
          <a:ln/>
        </p:spPr>
        <p:txBody>
          <a:bodyPr wrap="square" lIns="0" tIns="0" rIns="0" bIns="0" rtlCol="0" anchor="ctr"/>
          <a:lstStyle/>
          <a:p>
            <a:pPr marL="0" indent="0">
              <a:buNone/>
            </a:pPr>
            <a:r>
              <a:rPr lang="en-US" sz="1000" b="1" dirty="0">
                <a:solidFill>
                  <a:srgbClr val="5F6672"/>
                </a:solidFill>
                <a:latin typeface="Calibri" pitchFamily="34" charset="0"/>
                <a:ea typeface="Calibri" pitchFamily="34" charset="-122"/>
                <a:cs typeface="Calibri" pitchFamily="34" charset="-120"/>
              </a:rPr>
              <a:t>WAITING ROOM · QUEUE</a:t>
            </a:r>
            <a:endParaRPr lang="en-US" sz="1000" dirty="0"/>
          </a:p>
        </p:txBody>
      </p:sp>
      <p:sp>
        <p:nvSpPr>
          <p:cNvPr id="23" name="Text 21"/>
          <p:cNvSpPr txBox="1"/>
          <p:nvPr/>
        </p:nvSpPr>
        <p:spPr>
          <a:xfrm>
            <a:off x="5669280" y="2002536"/>
            <a:ext cx="2103120" cy="182880"/>
          </a:xfrm>
          <a:prstGeom prst="rect">
            <a:avLst/>
          </a:prstGeom>
          <a:noFill/>
          <a:ln/>
        </p:spPr>
        <p:txBody>
          <a:bodyPr wrap="square" lIns="0" tIns="0" rIns="0" bIns="0" rtlCol="0" anchor="t"/>
          <a:lstStyle/>
          <a:p>
            <a:pPr marL="0" indent="0" algn="r">
              <a:buNone/>
            </a:pPr>
            <a:r>
              <a:rPr lang="en-US" sz="800" i="1" dirty="0">
                <a:solidFill>
                  <a:srgbClr val="5F6672"/>
                </a:solidFill>
                <a:latin typeface="Calibri" pitchFamily="34" charset="0"/>
                <a:ea typeface="Calibri" pitchFamily="34" charset="-122"/>
                <a:cs typeface="Calibri" pitchFamily="34" charset="-120"/>
              </a:rPr>
              <a:t>Conceptual UI Mockup</a:t>
            </a:r>
            <a:endParaRPr lang="en-US" sz="800" dirty="0"/>
          </a:p>
        </p:txBody>
      </p:sp>
      <p:sp>
        <p:nvSpPr>
          <p:cNvPr id="24" name="Shape 22"/>
          <p:cNvSpPr/>
          <p:nvPr/>
        </p:nvSpPr>
        <p:spPr>
          <a:xfrm>
            <a:off x="4480560" y="2377440"/>
            <a:ext cx="548640" cy="457200"/>
          </a:xfrm>
          <a:prstGeom prst="rect">
            <a:avLst/>
          </a:prstGeom>
          <a:solidFill>
            <a:srgbClr val="2B6CB0"/>
          </a:solidFill>
          <a:ln w="12700">
            <a:solidFill>
              <a:srgbClr val="2B6CB0"/>
            </a:solidFill>
            <a:prstDash val="solid"/>
          </a:ln>
        </p:spPr>
      </p:sp>
      <p:sp>
        <p:nvSpPr>
          <p:cNvPr id="25" name="Text 23"/>
          <p:cNvSpPr txBox="1"/>
          <p:nvPr/>
        </p:nvSpPr>
        <p:spPr>
          <a:xfrm>
            <a:off x="4526280" y="23774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6" name="Shape 24"/>
          <p:cNvSpPr/>
          <p:nvPr/>
        </p:nvSpPr>
        <p:spPr>
          <a:xfrm>
            <a:off x="5120640" y="2377440"/>
            <a:ext cx="548640" cy="457200"/>
          </a:xfrm>
          <a:prstGeom prst="rect">
            <a:avLst/>
          </a:prstGeom>
          <a:solidFill>
            <a:srgbClr val="FFFFFF"/>
          </a:solidFill>
          <a:ln w="12700">
            <a:solidFill>
              <a:srgbClr val="D9D6CE"/>
            </a:solidFill>
            <a:prstDash val="solid"/>
          </a:ln>
        </p:spPr>
      </p:sp>
      <p:sp>
        <p:nvSpPr>
          <p:cNvPr id="27" name="Text 25"/>
          <p:cNvSpPr txBox="1"/>
          <p:nvPr/>
        </p:nvSpPr>
        <p:spPr>
          <a:xfrm>
            <a:off x="5166360" y="2377440"/>
            <a:ext cx="457200" cy="457200"/>
          </a:xfrm>
          <a:prstGeom prst="rect">
            <a:avLst/>
          </a:prstGeom>
          <a:noFill/>
          <a:ln/>
        </p:spPr>
        <p:txBody>
          <a:bodyPr wrap="square" lIns="0" tIns="0" rIns="0" bIns="0" rtlCol="0" anchor="ctr"/>
          <a:lstStyle/>
          <a:p>
            <a:pPr marL="0" indent="0" algn="ctr">
              <a:buNone/>
            </a:pPr>
            <a:r>
              <a:rPr lang="en-US" sz="1200" b="1" dirty="0">
                <a:solidFill>
                  <a:srgbClr val="14263F"/>
                </a:solidFill>
                <a:latin typeface="Calibri" pitchFamily="34" charset="0"/>
                <a:ea typeface="Calibri" pitchFamily="34" charset="-122"/>
                <a:cs typeface="Calibri" pitchFamily="34" charset="-120"/>
              </a:rPr>
              <a:t>8</a:t>
            </a:r>
            <a:endParaRPr lang="en-US" sz="1200" dirty="0"/>
          </a:p>
        </p:txBody>
      </p:sp>
      <p:sp>
        <p:nvSpPr>
          <p:cNvPr id="28" name="Shape 26"/>
          <p:cNvSpPr/>
          <p:nvPr/>
        </p:nvSpPr>
        <p:spPr>
          <a:xfrm>
            <a:off x="5760720" y="2377440"/>
            <a:ext cx="548640" cy="457200"/>
          </a:xfrm>
          <a:prstGeom prst="rect">
            <a:avLst/>
          </a:prstGeom>
          <a:solidFill>
            <a:srgbClr val="FFFFFF"/>
          </a:solidFill>
          <a:ln w="12700">
            <a:solidFill>
              <a:srgbClr val="D9D6CE"/>
            </a:solidFill>
            <a:prstDash val="solid"/>
          </a:ln>
        </p:spPr>
      </p:sp>
      <p:sp>
        <p:nvSpPr>
          <p:cNvPr id="29" name="Text 27"/>
          <p:cNvSpPr txBox="1"/>
          <p:nvPr/>
        </p:nvSpPr>
        <p:spPr>
          <a:xfrm>
            <a:off x="5806440" y="2377440"/>
            <a:ext cx="457200" cy="457200"/>
          </a:xfrm>
          <a:prstGeom prst="rect">
            <a:avLst/>
          </a:prstGeom>
          <a:noFill/>
          <a:ln/>
        </p:spPr>
        <p:txBody>
          <a:bodyPr wrap="square" lIns="0" tIns="0" rIns="0" bIns="0" rtlCol="0" anchor="ctr"/>
          <a:lstStyle/>
          <a:p>
            <a:pPr marL="0" indent="0" algn="ctr">
              <a:buNone/>
            </a:pPr>
            <a:r>
              <a:rPr lang="en-US" sz="1200" b="1" dirty="0">
                <a:solidFill>
                  <a:srgbClr val="14263F"/>
                </a:solidFill>
                <a:latin typeface="Calibri" pitchFamily="34" charset="0"/>
                <a:ea typeface="Calibri" pitchFamily="34" charset="-122"/>
                <a:cs typeface="Calibri" pitchFamily="34" charset="-120"/>
              </a:rPr>
              <a:t>9</a:t>
            </a:r>
            <a:endParaRPr lang="en-US" sz="1200" dirty="0"/>
          </a:p>
        </p:txBody>
      </p:sp>
      <p:sp>
        <p:nvSpPr>
          <p:cNvPr id="30" name="Shape 28"/>
          <p:cNvSpPr/>
          <p:nvPr/>
        </p:nvSpPr>
        <p:spPr>
          <a:xfrm>
            <a:off x="6400800" y="2377440"/>
            <a:ext cx="548640" cy="457200"/>
          </a:xfrm>
          <a:prstGeom prst="rect">
            <a:avLst/>
          </a:prstGeom>
          <a:solidFill>
            <a:srgbClr val="FFFFFF"/>
          </a:solidFill>
          <a:ln w="12700">
            <a:solidFill>
              <a:srgbClr val="D9D6CE"/>
            </a:solidFill>
            <a:prstDash val="solid"/>
          </a:ln>
        </p:spPr>
      </p:sp>
      <p:sp>
        <p:nvSpPr>
          <p:cNvPr id="31" name="Text 29"/>
          <p:cNvSpPr txBox="1"/>
          <p:nvPr/>
        </p:nvSpPr>
        <p:spPr>
          <a:xfrm>
            <a:off x="6446520" y="2377440"/>
            <a:ext cx="457200" cy="457200"/>
          </a:xfrm>
          <a:prstGeom prst="rect">
            <a:avLst/>
          </a:prstGeom>
          <a:noFill/>
          <a:ln/>
        </p:spPr>
        <p:txBody>
          <a:bodyPr wrap="square" lIns="0" tIns="0" rIns="0" bIns="0" rtlCol="0" anchor="ctr"/>
          <a:lstStyle/>
          <a:p>
            <a:pPr marL="0" indent="0" algn="ctr">
              <a:buNone/>
            </a:pPr>
            <a:r>
              <a:rPr lang="en-US" sz="1200" b="1" dirty="0">
                <a:solidFill>
                  <a:srgbClr val="14263F"/>
                </a:solidFill>
                <a:latin typeface="Calibri" pitchFamily="34" charset="0"/>
                <a:ea typeface="Calibri" pitchFamily="34" charset="-122"/>
                <a:cs typeface="Calibri" pitchFamily="34" charset="-120"/>
              </a:rPr>
              <a:t>10</a:t>
            </a:r>
            <a:endParaRPr lang="en-US" sz="1200" dirty="0"/>
          </a:p>
        </p:txBody>
      </p:sp>
      <p:sp>
        <p:nvSpPr>
          <p:cNvPr id="32" name="Shape 30"/>
          <p:cNvSpPr/>
          <p:nvPr/>
        </p:nvSpPr>
        <p:spPr>
          <a:xfrm>
            <a:off x="7040880" y="2377440"/>
            <a:ext cx="548640" cy="457200"/>
          </a:xfrm>
          <a:prstGeom prst="rect">
            <a:avLst/>
          </a:prstGeom>
          <a:solidFill>
            <a:srgbClr val="FFFFFF"/>
          </a:solidFill>
          <a:ln w="12700">
            <a:solidFill>
              <a:srgbClr val="D9D6CE"/>
            </a:solidFill>
            <a:prstDash val="solid"/>
          </a:ln>
        </p:spPr>
      </p:sp>
      <p:sp>
        <p:nvSpPr>
          <p:cNvPr id="33" name="Text 31"/>
          <p:cNvSpPr txBox="1"/>
          <p:nvPr/>
        </p:nvSpPr>
        <p:spPr>
          <a:xfrm>
            <a:off x="7086600" y="2377440"/>
            <a:ext cx="457200" cy="457200"/>
          </a:xfrm>
          <a:prstGeom prst="rect">
            <a:avLst/>
          </a:prstGeom>
          <a:noFill/>
          <a:ln/>
        </p:spPr>
        <p:txBody>
          <a:bodyPr wrap="square" lIns="0" tIns="0" rIns="0" bIns="0" rtlCol="0" anchor="ctr"/>
          <a:lstStyle/>
          <a:p>
            <a:pPr marL="0" indent="0" algn="ctr">
              <a:buNone/>
            </a:pPr>
            <a:r>
              <a:rPr lang="en-US" sz="1200" b="1" dirty="0">
                <a:solidFill>
                  <a:srgbClr val="14263F"/>
                </a:solidFill>
                <a:latin typeface="Calibri" pitchFamily="34" charset="0"/>
                <a:ea typeface="Calibri" pitchFamily="34" charset="-122"/>
                <a:cs typeface="Calibri" pitchFamily="34" charset="-120"/>
              </a:rPr>
              <a:t>11</a:t>
            </a:r>
            <a:endParaRPr lang="en-US" sz="1200" dirty="0"/>
          </a:p>
        </p:txBody>
      </p:sp>
      <p:sp>
        <p:nvSpPr>
          <p:cNvPr id="34" name="Text 32"/>
          <p:cNvSpPr txBox="1"/>
          <p:nvPr/>
        </p:nvSpPr>
        <p:spPr>
          <a:xfrm>
            <a:off x="4480560" y="3017520"/>
            <a:ext cx="3200400" cy="548640"/>
          </a:xfrm>
          <a:prstGeom prst="rect">
            <a:avLst/>
          </a:prstGeom>
          <a:noFill/>
          <a:ln/>
        </p:spPr>
        <p:txBody>
          <a:bodyPr wrap="square" lIns="0" tIns="0" rIns="0" bIns="0" rtlCol="0" anchor="t"/>
          <a:lstStyle/>
          <a:p>
            <a:pPr marL="0" indent="0">
              <a:buNone/>
            </a:pPr>
            <a:r>
              <a:rPr lang="en-US" sz="1100" dirty="0">
                <a:solidFill>
                  <a:srgbClr val="5F6672"/>
                </a:solidFill>
                <a:latin typeface="Calibri" pitchFamily="34" charset="0"/>
                <a:ea typeface="Calibri" pitchFamily="34" charset="-122"/>
                <a:cs typeface="Calibri" pitchFamily="34" charset="-120"/>
              </a:rPr>
              <a:t>Active turn — countdown shown by UI, enforced by server</a:t>
            </a:r>
            <a:endParaRPr lang="en-US" sz="1100" dirty="0"/>
          </a:p>
        </p:txBody>
      </p:sp>
      <p:sp>
        <p:nvSpPr>
          <p:cNvPr id="35" name="Shape 33"/>
          <p:cNvSpPr/>
          <p:nvPr/>
        </p:nvSpPr>
        <p:spPr>
          <a:xfrm>
            <a:off x="8046720" y="1691640"/>
            <a:ext cx="3566160" cy="2103120"/>
          </a:xfrm>
          <a:prstGeom prst="rect">
            <a:avLst/>
          </a:prstGeom>
          <a:solidFill>
            <a:srgbClr val="FFFFFF"/>
          </a:solidFill>
          <a:ln w="12700">
            <a:solidFill>
              <a:srgbClr val="D9D6CE"/>
            </a:solidFill>
            <a:prstDash val="solid"/>
          </a:ln>
        </p:spPr>
      </p:sp>
      <p:sp>
        <p:nvSpPr>
          <p:cNvPr id="36" name="Shape 34"/>
          <p:cNvSpPr/>
          <p:nvPr/>
        </p:nvSpPr>
        <p:spPr>
          <a:xfrm>
            <a:off x="8046720" y="1691640"/>
            <a:ext cx="3566160" cy="292608"/>
          </a:xfrm>
          <a:prstGeom prst="rect">
            <a:avLst/>
          </a:prstGeom>
          <a:solidFill>
            <a:srgbClr val="F0EEE8"/>
          </a:solidFill>
          <a:ln w="12700">
            <a:solidFill>
              <a:srgbClr val="D9D6CE"/>
            </a:solidFill>
            <a:prstDash val="solid"/>
          </a:ln>
        </p:spPr>
      </p:sp>
      <p:sp>
        <p:nvSpPr>
          <p:cNvPr id="37" name="Text 35"/>
          <p:cNvSpPr txBox="1"/>
          <p:nvPr/>
        </p:nvSpPr>
        <p:spPr>
          <a:xfrm>
            <a:off x="8156448" y="1691640"/>
            <a:ext cx="3383280" cy="292608"/>
          </a:xfrm>
          <a:prstGeom prst="rect">
            <a:avLst/>
          </a:prstGeom>
          <a:noFill/>
          <a:ln/>
        </p:spPr>
        <p:txBody>
          <a:bodyPr wrap="square" lIns="0" tIns="0" rIns="0" bIns="0" rtlCol="0" anchor="ctr"/>
          <a:lstStyle/>
          <a:p>
            <a:pPr marL="0" indent="0">
              <a:buNone/>
            </a:pPr>
            <a:r>
              <a:rPr lang="en-US" sz="1000" b="1" dirty="0">
                <a:solidFill>
                  <a:srgbClr val="5F6672"/>
                </a:solidFill>
                <a:latin typeface="Calibri" pitchFamily="34" charset="0"/>
                <a:ea typeface="Calibri" pitchFamily="34" charset="-122"/>
                <a:cs typeface="Calibri" pitchFamily="34" charset="-120"/>
              </a:rPr>
              <a:t>HOSTEL MAP · FLOOR 3</a:t>
            </a:r>
            <a:endParaRPr lang="en-US" sz="1000" dirty="0"/>
          </a:p>
        </p:txBody>
      </p:sp>
      <p:sp>
        <p:nvSpPr>
          <p:cNvPr id="38" name="Text 36"/>
          <p:cNvSpPr txBox="1"/>
          <p:nvPr/>
        </p:nvSpPr>
        <p:spPr>
          <a:xfrm>
            <a:off x="9418320" y="2002536"/>
            <a:ext cx="2103120" cy="182880"/>
          </a:xfrm>
          <a:prstGeom prst="rect">
            <a:avLst/>
          </a:prstGeom>
          <a:noFill/>
          <a:ln/>
        </p:spPr>
        <p:txBody>
          <a:bodyPr wrap="square" lIns="0" tIns="0" rIns="0" bIns="0" rtlCol="0" anchor="t"/>
          <a:lstStyle/>
          <a:p>
            <a:pPr marL="0" indent="0" algn="r">
              <a:buNone/>
            </a:pPr>
            <a:r>
              <a:rPr lang="en-US" sz="800" i="1" dirty="0">
                <a:solidFill>
                  <a:srgbClr val="5F6672"/>
                </a:solidFill>
                <a:latin typeface="Calibri" pitchFamily="34" charset="0"/>
                <a:ea typeface="Calibri" pitchFamily="34" charset="-122"/>
                <a:cs typeface="Calibri" pitchFamily="34" charset="-120"/>
              </a:rPr>
              <a:t>Conceptual UI Mockup</a:t>
            </a:r>
            <a:endParaRPr lang="en-US" sz="800" dirty="0"/>
          </a:p>
        </p:txBody>
      </p:sp>
      <p:sp>
        <p:nvSpPr>
          <p:cNvPr id="39" name="Shape 37"/>
          <p:cNvSpPr/>
          <p:nvPr/>
        </p:nvSpPr>
        <p:spPr>
          <a:xfrm>
            <a:off x="8229600" y="2286000"/>
            <a:ext cx="1005840" cy="1005840"/>
          </a:xfrm>
          <a:prstGeom prst="rect">
            <a:avLst/>
          </a:prstGeom>
          <a:solidFill>
            <a:srgbClr val="FBFAF7"/>
          </a:solidFill>
          <a:ln w="19050">
            <a:solidFill>
              <a:srgbClr val="14263F"/>
            </a:solidFill>
            <a:prstDash val="solid"/>
          </a:ln>
        </p:spPr>
      </p:sp>
      <p:sp>
        <p:nvSpPr>
          <p:cNvPr id="40" name="Text 38"/>
          <p:cNvSpPr txBox="1"/>
          <p:nvPr/>
        </p:nvSpPr>
        <p:spPr>
          <a:xfrm>
            <a:off x="8275320" y="2313432"/>
            <a:ext cx="731520" cy="182880"/>
          </a:xfrm>
          <a:prstGeom prst="rect">
            <a:avLst/>
          </a:prstGeom>
          <a:noFill/>
          <a:ln/>
        </p:spPr>
        <p:txBody>
          <a:bodyPr wrap="square" lIns="0" tIns="0" rIns="0" bIns="0" rtlCol="0" anchor="t"/>
          <a:lstStyle/>
          <a:p>
            <a:pPr marL="0" indent="0">
              <a:buNone/>
            </a:pPr>
            <a:r>
              <a:rPr lang="en-US" sz="800" b="1" dirty="0">
                <a:solidFill>
                  <a:srgbClr val="5F6672"/>
                </a:solidFill>
                <a:latin typeface="Calibri" pitchFamily="34" charset="0"/>
                <a:ea typeface="Calibri" pitchFamily="34" charset="-122"/>
                <a:cs typeface="Calibri" pitchFamily="34" charset="-120"/>
              </a:rPr>
              <a:t>301</a:t>
            </a:r>
            <a:endParaRPr lang="en-US" sz="800" dirty="0"/>
          </a:p>
        </p:txBody>
      </p:sp>
      <p:sp>
        <p:nvSpPr>
          <p:cNvPr id="41" name="Shape 39"/>
          <p:cNvSpPr/>
          <p:nvPr/>
        </p:nvSpPr>
        <p:spPr>
          <a:xfrm>
            <a:off x="8293608" y="2880360"/>
            <a:ext cx="274320" cy="274320"/>
          </a:xfrm>
          <a:prstGeom prst="rect">
            <a:avLst/>
          </a:prstGeom>
          <a:solidFill>
            <a:srgbClr val="F4DADA"/>
          </a:solidFill>
          <a:ln w="12700">
            <a:solidFill>
              <a:srgbClr val="B03A3A"/>
            </a:solidFill>
            <a:prstDash val="solid"/>
          </a:ln>
        </p:spPr>
      </p:sp>
      <p:sp>
        <p:nvSpPr>
          <p:cNvPr id="42" name="Text 40"/>
          <p:cNvSpPr txBox="1"/>
          <p:nvPr/>
        </p:nvSpPr>
        <p:spPr>
          <a:xfrm>
            <a:off x="8293608" y="2880360"/>
            <a:ext cx="274320" cy="274320"/>
          </a:xfrm>
          <a:prstGeom prst="rect">
            <a:avLst/>
          </a:prstGeom>
          <a:noFill/>
          <a:ln/>
        </p:spPr>
        <p:txBody>
          <a:bodyPr wrap="square" lIns="0" tIns="0" rIns="0" bIns="0" rtlCol="0" anchor="ctr"/>
          <a:lstStyle/>
          <a:p>
            <a:pPr marL="0" indent="0" algn="ctr">
              <a:buNone/>
            </a:pPr>
            <a:r>
              <a:rPr lang="en-US" sz="780" b="1" dirty="0">
                <a:solidFill>
                  <a:srgbClr val="B03A3A"/>
                </a:solidFill>
                <a:latin typeface="Calibri" pitchFamily="34" charset="0"/>
                <a:ea typeface="Calibri" pitchFamily="34" charset="-122"/>
                <a:cs typeface="Calibri" pitchFamily="34" charset="-120"/>
              </a:rPr>
              <a:t>A</a:t>
            </a:r>
            <a:endParaRPr lang="en-US" sz="780" dirty="0"/>
          </a:p>
        </p:txBody>
      </p:sp>
      <p:sp>
        <p:nvSpPr>
          <p:cNvPr id="43" name="Shape 41"/>
          <p:cNvSpPr/>
          <p:nvPr/>
        </p:nvSpPr>
        <p:spPr>
          <a:xfrm>
            <a:off x="8595360" y="2880360"/>
            <a:ext cx="274320" cy="274320"/>
          </a:xfrm>
          <a:prstGeom prst="rect">
            <a:avLst/>
          </a:prstGeom>
          <a:solidFill>
            <a:srgbClr val="E3F1E8"/>
          </a:solidFill>
          <a:ln w="12700">
            <a:solidFill>
              <a:srgbClr val="2F7D4F"/>
            </a:solidFill>
            <a:prstDash val="solid"/>
          </a:ln>
        </p:spPr>
      </p:sp>
      <p:sp>
        <p:nvSpPr>
          <p:cNvPr id="44" name="Text 42"/>
          <p:cNvSpPr txBox="1"/>
          <p:nvPr/>
        </p:nvSpPr>
        <p:spPr>
          <a:xfrm>
            <a:off x="8595360" y="2880360"/>
            <a:ext cx="274320" cy="274320"/>
          </a:xfrm>
          <a:prstGeom prst="rect">
            <a:avLst/>
          </a:prstGeom>
          <a:noFill/>
          <a:ln/>
        </p:spPr>
        <p:txBody>
          <a:bodyPr wrap="square" lIns="0" tIns="0" rIns="0" bIns="0" rtlCol="0" anchor="ctr"/>
          <a:lstStyle/>
          <a:p>
            <a:pPr marL="0" indent="0" algn="ctr">
              <a:buNone/>
            </a:pPr>
            <a:r>
              <a:rPr lang="en-US" sz="780" b="1" dirty="0">
                <a:solidFill>
                  <a:srgbClr val="2F7D4F"/>
                </a:solidFill>
                <a:latin typeface="Calibri" pitchFamily="34" charset="0"/>
                <a:ea typeface="Calibri" pitchFamily="34" charset="-122"/>
                <a:cs typeface="Calibri" pitchFamily="34" charset="-120"/>
              </a:rPr>
              <a:t>B</a:t>
            </a:r>
            <a:endParaRPr lang="en-US" sz="780" dirty="0"/>
          </a:p>
        </p:txBody>
      </p:sp>
      <p:sp>
        <p:nvSpPr>
          <p:cNvPr id="45" name="Shape 43"/>
          <p:cNvSpPr/>
          <p:nvPr/>
        </p:nvSpPr>
        <p:spPr>
          <a:xfrm>
            <a:off x="8897112" y="2880360"/>
            <a:ext cx="274320" cy="274320"/>
          </a:xfrm>
          <a:prstGeom prst="rect">
            <a:avLst/>
          </a:prstGeom>
          <a:solidFill>
            <a:srgbClr val="F4DADA"/>
          </a:solidFill>
          <a:ln w="12700">
            <a:solidFill>
              <a:srgbClr val="B03A3A"/>
            </a:solidFill>
            <a:prstDash val="solid"/>
          </a:ln>
        </p:spPr>
      </p:sp>
      <p:sp>
        <p:nvSpPr>
          <p:cNvPr id="46" name="Text 44"/>
          <p:cNvSpPr txBox="1"/>
          <p:nvPr/>
        </p:nvSpPr>
        <p:spPr>
          <a:xfrm>
            <a:off x="8897112" y="2880360"/>
            <a:ext cx="274320" cy="274320"/>
          </a:xfrm>
          <a:prstGeom prst="rect">
            <a:avLst/>
          </a:prstGeom>
          <a:noFill/>
          <a:ln/>
        </p:spPr>
        <p:txBody>
          <a:bodyPr wrap="square" lIns="0" tIns="0" rIns="0" bIns="0" rtlCol="0" anchor="ctr"/>
          <a:lstStyle/>
          <a:p>
            <a:pPr marL="0" indent="0" algn="ctr">
              <a:buNone/>
            </a:pPr>
            <a:r>
              <a:rPr lang="en-US" sz="780" b="1" dirty="0">
                <a:solidFill>
                  <a:srgbClr val="B03A3A"/>
                </a:solidFill>
                <a:latin typeface="Calibri" pitchFamily="34" charset="0"/>
                <a:ea typeface="Calibri" pitchFamily="34" charset="-122"/>
                <a:cs typeface="Calibri" pitchFamily="34" charset="-120"/>
              </a:rPr>
              <a:t>C</a:t>
            </a:r>
            <a:endParaRPr lang="en-US" sz="780" dirty="0"/>
          </a:p>
        </p:txBody>
      </p:sp>
      <p:sp>
        <p:nvSpPr>
          <p:cNvPr id="47" name="Shape 45"/>
          <p:cNvSpPr/>
          <p:nvPr/>
        </p:nvSpPr>
        <p:spPr>
          <a:xfrm>
            <a:off x="9372600" y="2286000"/>
            <a:ext cx="1005840" cy="1005840"/>
          </a:xfrm>
          <a:prstGeom prst="rect">
            <a:avLst/>
          </a:prstGeom>
          <a:solidFill>
            <a:srgbClr val="FBFAF7"/>
          </a:solidFill>
          <a:ln w="19050">
            <a:solidFill>
              <a:srgbClr val="14263F"/>
            </a:solidFill>
            <a:prstDash val="solid"/>
          </a:ln>
        </p:spPr>
      </p:sp>
      <p:sp>
        <p:nvSpPr>
          <p:cNvPr id="48" name="Text 46"/>
          <p:cNvSpPr txBox="1"/>
          <p:nvPr/>
        </p:nvSpPr>
        <p:spPr>
          <a:xfrm>
            <a:off x="9418320" y="2313432"/>
            <a:ext cx="731520" cy="182880"/>
          </a:xfrm>
          <a:prstGeom prst="rect">
            <a:avLst/>
          </a:prstGeom>
          <a:noFill/>
          <a:ln/>
        </p:spPr>
        <p:txBody>
          <a:bodyPr wrap="square" lIns="0" tIns="0" rIns="0" bIns="0" rtlCol="0" anchor="t"/>
          <a:lstStyle/>
          <a:p>
            <a:pPr marL="0" indent="0">
              <a:buNone/>
            </a:pPr>
            <a:r>
              <a:rPr lang="en-US" sz="800" b="1" dirty="0">
                <a:solidFill>
                  <a:srgbClr val="5F6672"/>
                </a:solidFill>
                <a:latin typeface="Calibri" pitchFamily="34" charset="0"/>
                <a:ea typeface="Calibri" pitchFamily="34" charset="-122"/>
                <a:cs typeface="Calibri" pitchFamily="34" charset="-120"/>
              </a:rPr>
              <a:t>302</a:t>
            </a:r>
            <a:endParaRPr lang="en-US" sz="800" dirty="0"/>
          </a:p>
        </p:txBody>
      </p:sp>
      <p:sp>
        <p:nvSpPr>
          <p:cNvPr id="49" name="Shape 47"/>
          <p:cNvSpPr/>
          <p:nvPr/>
        </p:nvSpPr>
        <p:spPr>
          <a:xfrm>
            <a:off x="9436608" y="2880360"/>
            <a:ext cx="274320" cy="274320"/>
          </a:xfrm>
          <a:prstGeom prst="rect">
            <a:avLst/>
          </a:prstGeom>
          <a:solidFill>
            <a:srgbClr val="F4DADA"/>
          </a:solidFill>
          <a:ln w="12700">
            <a:solidFill>
              <a:srgbClr val="B03A3A"/>
            </a:solidFill>
            <a:prstDash val="solid"/>
          </a:ln>
        </p:spPr>
      </p:sp>
      <p:sp>
        <p:nvSpPr>
          <p:cNvPr id="50" name="Text 48"/>
          <p:cNvSpPr txBox="1"/>
          <p:nvPr/>
        </p:nvSpPr>
        <p:spPr>
          <a:xfrm>
            <a:off x="9436608" y="2880360"/>
            <a:ext cx="274320" cy="274320"/>
          </a:xfrm>
          <a:prstGeom prst="rect">
            <a:avLst/>
          </a:prstGeom>
          <a:noFill/>
          <a:ln/>
        </p:spPr>
        <p:txBody>
          <a:bodyPr wrap="square" lIns="0" tIns="0" rIns="0" bIns="0" rtlCol="0" anchor="ctr"/>
          <a:lstStyle/>
          <a:p>
            <a:pPr marL="0" indent="0" algn="ctr">
              <a:buNone/>
            </a:pPr>
            <a:r>
              <a:rPr lang="en-US" sz="780" b="1" dirty="0">
                <a:solidFill>
                  <a:srgbClr val="B03A3A"/>
                </a:solidFill>
                <a:latin typeface="Calibri" pitchFamily="34" charset="0"/>
                <a:ea typeface="Calibri" pitchFamily="34" charset="-122"/>
                <a:cs typeface="Calibri" pitchFamily="34" charset="-120"/>
              </a:rPr>
              <a:t>A</a:t>
            </a:r>
            <a:endParaRPr lang="en-US" sz="780" dirty="0"/>
          </a:p>
        </p:txBody>
      </p:sp>
      <p:sp>
        <p:nvSpPr>
          <p:cNvPr id="51" name="Shape 49"/>
          <p:cNvSpPr/>
          <p:nvPr/>
        </p:nvSpPr>
        <p:spPr>
          <a:xfrm>
            <a:off x="9738360" y="2880360"/>
            <a:ext cx="274320" cy="274320"/>
          </a:xfrm>
          <a:prstGeom prst="rect">
            <a:avLst/>
          </a:prstGeom>
          <a:solidFill>
            <a:srgbClr val="2B6CB0"/>
          </a:solidFill>
          <a:ln w="12700">
            <a:solidFill>
              <a:srgbClr val="2B6CB0"/>
            </a:solidFill>
            <a:prstDash val="solid"/>
          </a:ln>
        </p:spPr>
      </p:sp>
      <p:sp>
        <p:nvSpPr>
          <p:cNvPr id="52" name="Text 50"/>
          <p:cNvSpPr txBox="1"/>
          <p:nvPr/>
        </p:nvSpPr>
        <p:spPr>
          <a:xfrm>
            <a:off x="9738360" y="2880360"/>
            <a:ext cx="274320" cy="274320"/>
          </a:xfrm>
          <a:prstGeom prst="rect">
            <a:avLst/>
          </a:prstGeom>
          <a:noFill/>
          <a:ln/>
        </p:spPr>
        <p:txBody>
          <a:bodyPr wrap="square" lIns="0" tIns="0" rIns="0" bIns="0" rtlCol="0" anchor="ctr"/>
          <a:lstStyle/>
          <a:p>
            <a:pPr marL="0" indent="0" algn="ctr">
              <a:buNone/>
            </a:pPr>
            <a:r>
              <a:rPr lang="en-US" sz="780" b="1" dirty="0">
                <a:solidFill>
                  <a:srgbClr val="FFFFFF"/>
                </a:solidFill>
                <a:latin typeface="Calibri" pitchFamily="34" charset="0"/>
                <a:ea typeface="Calibri" pitchFamily="34" charset="-122"/>
                <a:cs typeface="Calibri" pitchFamily="34" charset="-120"/>
              </a:rPr>
              <a:t>B</a:t>
            </a:r>
            <a:endParaRPr lang="en-US" sz="780" dirty="0"/>
          </a:p>
        </p:txBody>
      </p:sp>
      <p:sp>
        <p:nvSpPr>
          <p:cNvPr id="53" name="Shape 51"/>
          <p:cNvSpPr/>
          <p:nvPr/>
        </p:nvSpPr>
        <p:spPr>
          <a:xfrm>
            <a:off x="10040112" y="2880360"/>
            <a:ext cx="274320" cy="274320"/>
          </a:xfrm>
          <a:prstGeom prst="rect">
            <a:avLst/>
          </a:prstGeom>
          <a:solidFill>
            <a:srgbClr val="E3F1E8"/>
          </a:solidFill>
          <a:ln w="12700">
            <a:solidFill>
              <a:srgbClr val="2F7D4F"/>
            </a:solidFill>
            <a:prstDash val="solid"/>
          </a:ln>
        </p:spPr>
      </p:sp>
      <p:sp>
        <p:nvSpPr>
          <p:cNvPr id="54" name="Text 52"/>
          <p:cNvSpPr txBox="1"/>
          <p:nvPr/>
        </p:nvSpPr>
        <p:spPr>
          <a:xfrm>
            <a:off x="10040112" y="2880360"/>
            <a:ext cx="274320" cy="274320"/>
          </a:xfrm>
          <a:prstGeom prst="rect">
            <a:avLst/>
          </a:prstGeom>
          <a:noFill/>
          <a:ln/>
        </p:spPr>
        <p:txBody>
          <a:bodyPr wrap="square" lIns="0" tIns="0" rIns="0" bIns="0" rtlCol="0" anchor="ctr"/>
          <a:lstStyle/>
          <a:p>
            <a:pPr marL="0" indent="0" algn="ctr">
              <a:buNone/>
            </a:pPr>
            <a:r>
              <a:rPr lang="en-US" sz="780" b="1" dirty="0">
                <a:solidFill>
                  <a:srgbClr val="2F7D4F"/>
                </a:solidFill>
                <a:latin typeface="Calibri" pitchFamily="34" charset="0"/>
                <a:ea typeface="Calibri" pitchFamily="34" charset="-122"/>
                <a:cs typeface="Calibri" pitchFamily="34" charset="-120"/>
              </a:rPr>
              <a:t>C</a:t>
            </a:r>
            <a:endParaRPr lang="en-US" sz="780" dirty="0"/>
          </a:p>
        </p:txBody>
      </p:sp>
      <p:sp>
        <p:nvSpPr>
          <p:cNvPr id="55" name="Shape 53"/>
          <p:cNvSpPr/>
          <p:nvPr/>
        </p:nvSpPr>
        <p:spPr>
          <a:xfrm>
            <a:off x="10515600" y="2286000"/>
            <a:ext cx="1005840" cy="1005840"/>
          </a:xfrm>
          <a:prstGeom prst="rect">
            <a:avLst/>
          </a:prstGeom>
          <a:solidFill>
            <a:srgbClr val="FBFAF7"/>
          </a:solidFill>
          <a:ln w="19050">
            <a:solidFill>
              <a:srgbClr val="14263F"/>
            </a:solidFill>
            <a:prstDash val="solid"/>
          </a:ln>
        </p:spPr>
      </p:sp>
      <p:sp>
        <p:nvSpPr>
          <p:cNvPr id="56" name="Text 54"/>
          <p:cNvSpPr txBox="1"/>
          <p:nvPr/>
        </p:nvSpPr>
        <p:spPr>
          <a:xfrm>
            <a:off x="10561320" y="2313432"/>
            <a:ext cx="731520" cy="182880"/>
          </a:xfrm>
          <a:prstGeom prst="rect">
            <a:avLst/>
          </a:prstGeom>
          <a:noFill/>
          <a:ln/>
        </p:spPr>
        <p:txBody>
          <a:bodyPr wrap="square" lIns="0" tIns="0" rIns="0" bIns="0" rtlCol="0" anchor="t"/>
          <a:lstStyle/>
          <a:p>
            <a:pPr marL="0" indent="0">
              <a:buNone/>
            </a:pPr>
            <a:r>
              <a:rPr lang="en-US" sz="800" b="1" dirty="0">
                <a:solidFill>
                  <a:srgbClr val="5F6672"/>
                </a:solidFill>
                <a:latin typeface="Calibri" pitchFamily="34" charset="0"/>
                <a:ea typeface="Calibri" pitchFamily="34" charset="-122"/>
                <a:cs typeface="Calibri" pitchFamily="34" charset="-120"/>
              </a:rPr>
              <a:t>303</a:t>
            </a:r>
            <a:endParaRPr lang="en-US" sz="800" dirty="0"/>
          </a:p>
        </p:txBody>
      </p:sp>
      <p:sp>
        <p:nvSpPr>
          <p:cNvPr id="57" name="Shape 55"/>
          <p:cNvSpPr/>
          <p:nvPr/>
        </p:nvSpPr>
        <p:spPr>
          <a:xfrm>
            <a:off x="10579608" y="2880360"/>
            <a:ext cx="274320" cy="274320"/>
          </a:xfrm>
          <a:prstGeom prst="rect">
            <a:avLst/>
          </a:prstGeom>
          <a:solidFill>
            <a:srgbClr val="E3F1E8"/>
          </a:solidFill>
          <a:ln w="12700">
            <a:solidFill>
              <a:srgbClr val="2F7D4F"/>
            </a:solidFill>
            <a:prstDash val="solid"/>
          </a:ln>
        </p:spPr>
      </p:sp>
      <p:sp>
        <p:nvSpPr>
          <p:cNvPr id="58" name="Text 56"/>
          <p:cNvSpPr txBox="1"/>
          <p:nvPr/>
        </p:nvSpPr>
        <p:spPr>
          <a:xfrm>
            <a:off x="10579608" y="2880360"/>
            <a:ext cx="274320" cy="274320"/>
          </a:xfrm>
          <a:prstGeom prst="rect">
            <a:avLst/>
          </a:prstGeom>
          <a:noFill/>
          <a:ln/>
        </p:spPr>
        <p:txBody>
          <a:bodyPr wrap="square" lIns="0" tIns="0" rIns="0" bIns="0" rtlCol="0" anchor="ctr"/>
          <a:lstStyle/>
          <a:p>
            <a:pPr marL="0" indent="0" algn="ctr">
              <a:buNone/>
            </a:pPr>
            <a:r>
              <a:rPr lang="en-US" sz="780" b="1" dirty="0">
                <a:solidFill>
                  <a:srgbClr val="2F7D4F"/>
                </a:solidFill>
                <a:latin typeface="Calibri" pitchFamily="34" charset="0"/>
                <a:ea typeface="Calibri" pitchFamily="34" charset="-122"/>
                <a:cs typeface="Calibri" pitchFamily="34" charset="-120"/>
              </a:rPr>
              <a:t>A</a:t>
            </a:r>
            <a:endParaRPr lang="en-US" sz="780" dirty="0"/>
          </a:p>
        </p:txBody>
      </p:sp>
      <p:sp>
        <p:nvSpPr>
          <p:cNvPr id="59" name="Shape 57"/>
          <p:cNvSpPr/>
          <p:nvPr/>
        </p:nvSpPr>
        <p:spPr>
          <a:xfrm>
            <a:off x="10881360" y="2880360"/>
            <a:ext cx="274320" cy="274320"/>
          </a:xfrm>
          <a:prstGeom prst="rect">
            <a:avLst/>
          </a:prstGeom>
          <a:solidFill>
            <a:srgbClr val="E4E5E8"/>
          </a:solidFill>
          <a:ln w="12700">
            <a:solidFill>
              <a:srgbClr val="9AA0A8"/>
            </a:solidFill>
            <a:prstDash val="solid"/>
          </a:ln>
        </p:spPr>
      </p:sp>
      <p:sp>
        <p:nvSpPr>
          <p:cNvPr id="60" name="Text 58"/>
          <p:cNvSpPr txBox="1"/>
          <p:nvPr/>
        </p:nvSpPr>
        <p:spPr>
          <a:xfrm>
            <a:off x="10881360" y="2880360"/>
            <a:ext cx="274320" cy="274320"/>
          </a:xfrm>
          <a:prstGeom prst="rect">
            <a:avLst/>
          </a:prstGeom>
          <a:noFill/>
          <a:ln/>
        </p:spPr>
        <p:txBody>
          <a:bodyPr wrap="square" lIns="0" tIns="0" rIns="0" bIns="0" rtlCol="0" anchor="ctr"/>
          <a:lstStyle/>
          <a:p>
            <a:pPr marL="0" indent="0" algn="ctr">
              <a:buNone/>
            </a:pPr>
            <a:r>
              <a:rPr lang="en-US" sz="780" b="1" dirty="0">
                <a:solidFill>
                  <a:srgbClr val="6B7280"/>
                </a:solidFill>
                <a:latin typeface="Calibri" pitchFamily="34" charset="0"/>
                <a:ea typeface="Calibri" pitchFamily="34" charset="-122"/>
                <a:cs typeface="Calibri" pitchFamily="34" charset="-120"/>
              </a:rPr>
              <a:t>B</a:t>
            </a:r>
            <a:endParaRPr lang="en-US" sz="780" dirty="0"/>
          </a:p>
        </p:txBody>
      </p:sp>
      <p:sp>
        <p:nvSpPr>
          <p:cNvPr id="61" name="Text 59"/>
          <p:cNvSpPr txBox="1"/>
          <p:nvPr/>
        </p:nvSpPr>
        <p:spPr>
          <a:xfrm>
            <a:off x="8229600" y="3383280"/>
            <a:ext cx="3200400" cy="274320"/>
          </a:xfrm>
          <a:prstGeom prst="rect">
            <a:avLst/>
          </a:prstGeom>
          <a:noFill/>
          <a:ln/>
        </p:spPr>
        <p:txBody>
          <a:bodyPr wrap="square" lIns="0" tIns="0" rIns="0" bIns="0" rtlCol="0" anchor="t"/>
          <a:lstStyle/>
          <a:p>
            <a:pPr marL="0" indent="0">
              <a:buNone/>
            </a:pPr>
            <a:r>
              <a:rPr lang="en-US" sz="1000" dirty="0">
                <a:solidFill>
                  <a:srgbClr val="5F6672"/>
                </a:solidFill>
                <a:latin typeface="Calibri" pitchFamily="34" charset="0"/>
                <a:ea typeface="Calibri" pitchFamily="34" charset="-122"/>
                <a:cs typeface="Calibri" pitchFamily="34" charset="-120"/>
              </a:rPr>
              <a:t>free · taken · mine · not eligible</a:t>
            </a:r>
            <a:endParaRPr lang="en-US" sz="1000" dirty="0"/>
          </a:p>
        </p:txBody>
      </p:sp>
      <p:sp>
        <p:nvSpPr>
          <p:cNvPr id="62" name="Shape 60"/>
          <p:cNvSpPr/>
          <p:nvPr/>
        </p:nvSpPr>
        <p:spPr>
          <a:xfrm>
            <a:off x="548640" y="3931920"/>
            <a:ext cx="3566160" cy="2103120"/>
          </a:xfrm>
          <a:prstGeom prst="rect">
            <a:avLst/>
          </a:prstGeom>
          <a:solidFill>
            <a:srgbClr val="FFFFFF"/>
          </a:solidFill>
          <a:ln w="12700">
            <a:solidFill>
              <a:srgbClr val="D9D6CE"/>
            </a:solidFill>
            <a:prstDash val="solid"/>
          </a:ln>
        </p:spPr>
      </p:sp>
      <p:sp>
        <p:nvSpPr>
          <p:cNvPr id="63" name="Shape 61"/>
          <p:cNvSpPr/>
          <p:nvPr/>
        </p:nvSpPr>
        <p:spPr>
          <a:xfrm>
            <a:off x="548640" y="3931920"/>
            <a:ext cx="3566160" cy="292608"/>
          </a:xfrm>
          <a:prstGeom prst="rect">
            <a:avLst/>
          </a:prstGeom>
          <a:solidFill>
            <a:srgbClr val="F0EEE8"/>
          </a:solidFill>
          <a:ln w="12700">
            <a:solidFill>
              <a:srgbClr val="D9D6CE"/>
            </a:solidFill>
            <a:prstDash val="solid"/>
          </a:ln>
        </p:spPr>
      </p:sp>
      <p:sp>
        <p:nvSpPr>
          <p:cNvPr id="64" name="Text 62"/>
          <p:cNvSpPr txBox="1"/>
          <p:nvPr/>
        </p:nvSpPr>
        <p:spPr>
          <a:xfrm>
            <a:off x="658368" y="3931920"/>
            <a:ext cx="3383280" cy="292608"/>
          </a:xfrm>
          <a:prstGeom prst="rect">
            <a:avLst/>
          </a:prstGeom>
          <a:noFill/>
          <a:ln/>
        </p:spPr>
        <p:txBody>
          <a:bodyPr wrap="square" lIns="0" tIns="0" rIns="0" bIns="0" rtlCol="0" anchor="ctr"/>
          <a:lstStyle/>
          <a:p>
            <a:pPr marL="0" indent="0">
              <a:buNone/>
            </a:pPr>
            <a:r>
              <a:rPr lang="en-US" sz="1000" b="1" dirty="0">
                <a:solidFill>
                  <a:srgbClr val="5F6672"/>
                </a:solidFill>
                <a:latin typeface="Calibri" pitchFamily="34" charset="0"/>
                <a:ea typeface="Calibri" pitchFamily="34" charset="-122"/>
                <a:cs typeface="Calibri" pitchFamily="34" charset="-120"/>
              </a:rPr>
              <a:t>SEAT CONFIRMATION</a:t>
            </a:r>
            <a:endParaRPr lang="en-US" sz="1000" dirty="0"/>
          </a:p>
        </p:txBody>
      </p:sp>
      <p:sp>
        <p:nvSpPr>
          <p:cNvPr id="65" name="Text 63"/>
          <p:cNvSpPr txBox="1"/>
          <p:nvPr/>
        </p:nvSpPr>
        <p:spPr>
          <a:xfrm>
            <a:off x="1920240" y="4242816"/>
            <a:ext cx="2103120" cy="182880"/>
          </a:xfrm>
          <a:prstGeom prst="rect">
            <a:avLst/>
          </a:prstGeom>
          <a:noFill/>
          <a:ln/>
        </p:spPr>
        <p:txBody>
          <a:bodyPr wrap="square" lIns="0" tIns="0" rIns="0" bIns="0" rtlCol="0" anchor="t"/>
          <a:lstStyle/>
          <a:p>
            <a:pPr marL="0" indent="0" algn="r">
              <a:buNone/>
            </a:pPr>
            <a:r>
              <a:rPr lang="en-US" sz="800" i="1" dirty="0">
                <a:solidFill>
                  <a:srgbClr val="5F6672"/>
                </a:solidFill>
                <a:latin typeface="Calibri" pitchFamily="34" charset="0"/>
                <a:ea typeface="Calibri" pitchFamily="34" charset="-122"/>
                <a:cs typeface="Calibri" pitchFamily="34" charset="-120"/>
              </a:rPr>
              <a:t>Conceptual UI Mockup</a:t>
            </a:r>
            <a:endParaRPr lang="en-US" sz="800" dirty="0"/>
          </a:p>
        </p:txBody>
      </p:sp>
      <p:sp>
        <p:nvSpPr>
          <p:cNvPr id="66" name="Text 64"/>
          <p:cNvSpPr txBox="1"/>
          <p:nvPr/>
        </p:nvSpPr>
        <p:spPr>
          <a:xfrm>
            <a:off x="731520" y="4526280"/>
            <a:ext cx="3200400" cy="365760"/>
          </a:xfrm>
          <a:prstGeom prst="rect">
            <a:avLst/>
          </a:prstGeom>
          <a:noFill/>
          <a:ln/>
        </p:spPr>
        <p:txBody>
          <a:bodyPr wrap="square" lIns="0" tIns="0" rIns="0" bIns="0" rtlCol="0" anchor="t"/>
          <a:lstStyle/>
          <a:p>
            <a:pPr marL="0" indent="0">
              <a:buNone/>
            </a:pPr>
            <a:r>
              <a:rPr lang="en-US" sz="1400" b="1" dirty="0">
                <a:solidFill>
                  <a:srgbClr val="14263F"/>
                </a:solidFill>
                <a:latin typeface="Calibri" pitchFamily="34" charset="0"/>
                <a:ea typeface="Calibri" pitchFamily="34" charset="-122"/>
                <a:cs typeface="Calibri" pitchFamily="34" charset="-120"/>
              </a:rPr>
              <a:t>Room 301 · Seat B · Floor 3</a:t>
            </a:r>
            <a:endParaRPr lang="en-US" sz="1400" dirty="0"/>
          </a:p>
        </p:txBody>
      </p:sp>
      <p:sp>
        <p:nvSpPr>
          <p:cNvPr id="67" name="Shape 65"/>
          <p:cNvSpPr/>
          <p:nvPr/>
        </p:nvSpPr>
        <p:spPr>
          <a:xfrm>
            <a:off x="731520" y="5120640"/>
            <a:ext cx="1554480" cy="457200"/>
          </a:xfrm>
          <a:prstGeom prst="rect">
            <a:avLst/>
          </a:prstGeom>
          <a:solidFill>
            <a:srgbClr val="14263F"/>
          </a:solidFill>
          <a:ln w="12700">
            <a:solidFill>
              <a:srgbClr val="14263F"/>
            </a:solidFill>
            <a:prstDash val="solid"/>
          </a:ln>
        </p:spPr>
      </p:sp>
      <p:sp>
        <p:nvSpPr>
          <p:cNvPr id="68" name="Text 66"/>
          <p:cNvSpPr txBox="1"/>
          <p:nvPr/>
        </p:nvSpPr>
        <p:spPr>
          <a:xfrm>
            <a:off x="777240" y="5120640"/>
            <a:ext cx="14630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Confirm seat</a:t>
            </a:r>
            <a:endParaRPr lang="en-US" sz="1200" dirty="0"/>
          </a:p>
        </p:txBody>
      </p:sp>
      <p:sp>
        <p:nvSpPr>
          <p:cNvPr id="69" name="Shape 67"/>
          <p:cNvSpPr/>
          <p:nvPr/>
        </p:nvSpPr>
        <p:spPr>
          <a:xfrm>
            <a:off x="2377440" y="5120640"/>
            <a:ext cx="1097280" cy="457200"/>
          </a:xfrm>
          <a:prstGeom prst="rect">
            <a:avLst/>
          </a:prstGeom>
          <a:solidFill>
            <a:srgbClr val="FFFFFF"/>
          </a:solidFill>
          <a:ln w="12700">
            <a:solidFill>
              <a:srgbClr val="D9D6CE"/>
            </a:solidFill>
            <a:prstDash val="solid"/>
          </a:ln>
        </p:spPr>
      </p:sp>
      <p:sp>
        <p:nvSpPr>
          <p:cNvPr id="70" name="Text 68"/>
          <p:cNvSpPr txBox="1"/>
          <p:nvPr/>
        </p:nvSpPr>
        <p:spPr>
          <a:xfrm>
            <a:off x="2423160" y="5120640"/>
            <a:ext cx="1005840" cy="457200"/>
          </a:xfrm>
          <a:prstGeom prst="rect">
            <a:avLst/>
          </a:prstGeom>
          <a:noFill/>
          <a:ln/>
        </p:spPr>
        <p:txBody>
          <a:bodyPr wrap="square" lIns="0" tIns="0" rIns="0" bIns="0" rtlCol="0" anchor="ctr"/>
          <a:lstStyle/>
          <a:p>
            <a:pPr marL="0" indent="0" algn="ctr">
              <a:buNone/>
            </a:pPr>
            <a:r>
              <a:rPr lang="en-US" sz="1200" dirty="0">
                <a:solidFill>
                  <a:srgbClr val="1F2328"/>
                </a:solidFill>
                <a:latin typeface="Calibri" pitchFamily="34" charset="0"/>
                <a:ea typeface="Calibri" pitchFamily="34" charset="-122"/>
                <a:cs typeface="Calibri" pitchFamily="34" charset="-120"/>
              </a:rPr>
              <a:t>Cancel</a:t>
            </a:r>
            <a:endParaRPr lang="en-US" sz="1200" dirty="0"/>
          </a:p>
        </p:txBody>
      </p:sp>
      <p:sp>
        <p:nvSpPr>
          <p:cNvPr id="71" name="Text 69"/>
          <p:cNvSpPr txBox="1"/>
          <p:nvPr/>
        </p:nvSpPr>
        <p:spPr>
          <a:xfrm>
            <a:off x="731520" y="5669280"/>
            <a:ext cx="3200400" cy="274320"/>
          </a:xfrm>
          <a:prstGeom prst="rect">
            <a:avLst/>
          </a:prstGeom>
          <a:noFill/>
          <a:ln/>
        </p:spPr>
        <p:txBody>
          <a:bodyPr wrap="square" lIns="0" tIns="0" rIns="0" bIns="0" rtlCol="0" anchor="t"/>
          <a:lstStyle/>
          <a:p>
            <a:pPr marL="0" indent="0">
              <a:buNone/>
            </a:pPr>
            <a:r>
              <a:rPr lang="en-US" sz="1000" dirty="0">
                <a:solidFill>
                  <a:srgbClr val="5F6672"/>
                </a:solidFill>
                <a:latin typeface="Calibri" pitchFamily="34" charset="0"/>
                <a:ea typeface="Calibri" pitchFamily="34" charset="-122"/>
                <a:cs typeface="Calibri" pitchFamily="34" charset="-120"/>
              </a:rPr>
              <a:t>Server re-checks turn, eligibility and availability.</a:t>
            </a:r>
            <a:endParaRPr lang="en-US" sz="1000" dirty="0"/>
          </a:p>
        </p:txBody>
      </p:sp>
      <p:sp>
        <p:nvSpPr>
          <p:cNvPr id="72" name="Shape 70"/>
          <p:cNvSpPr/>
          <p:nvPr/>
        </p:nvSpPr>
        <p:spPr>
          <a:xfrm>
            <a:off x="4297680" y="3931920"/>
            <a:ext cx="3566160" cy="2103120"/>
          </a:xfrm>
          <a:prstGeom prst="rect">
            <a:avLst/>
          </a:prstGeom>
          <a:solidFill>
            <a:srgbClr val="FFFFFF"/>
          </a:solidFill>
          <a:ln w="12700">
            <a:solidFill>
              <a:srgbClr val="D9D6CE"/>
            </a:solidFill>
            <a:prstDash val="solid"/>
          </a:ln>
        </p:spPr>
      </p:sp>
      <p:sp>
        <p:nvSpPr>
          <p:cNvPr id="73" name="Shape 71"/>
          <p:cNvSpPr/>
          <p:nvPr/>
        </p:nvSpPr>
        <p:spPr>
          <a:xfrm>
            <a:off x="4297680" y="3931920"/>
            <a:ext cx="3566160" cy="292608"/>
          </a:xfrm>
          <a:prstGeom prst="rect">
            <a:avLst/>
          </a:prstGeom>
          <a:solidFill>
            <a:srgbClr val="F0EEE8"/>
          </a:solidFill>
          <a:ln w="12700">
            <a:solidFill>
              <a:srgbClr val="D9D6CE"/>
            </a:solidFill>
            <a:prstDash val="solid"/>
          </a:ln>
        </p:spPr>
      </p:sp>
      <p:sp>
        <p:nvSpPr>
          <p:cNvPr id="74" name="Text 72"/>
          <p:cNvSpPr txBox="1"/>
          <p:nvPr/>
        </p:nvSpPr>
        <p:spPr>
          <a:xfrm>
            <a:off x="4407408" y="3931920"/>
            <a:ext cx="3383280" cy="292608"/>
          </a:xfrm>
          <a:prstGeom prst="rect">
            <a:avLst/>
          </a:prstGeom>
          <a:noFill/>
          <a:ln/>
        </p:spPr>
        <p:txBody>
          <a:bodyPr wrap="square" lIns="0" tIns="0" rIns="0" bIns="0" rtlCol="0" anchor="ctr"/>
          <a:lstStyle/>
          <a:p>
            <a:pPr marL="0" indent="0">
              <a:buNone/>
            </a:pPr>
            <a:r>
              <a:rPr lang="en-US" sz="1000" b="1" dirty="0">
                <a:solidFill>
                  <a:srgbClr val="5F6672"/>
                </a:solidFill>
                <a:latin typeface="Calibri" pitchFamily="34" charset="0"/>
                <a:ea typeface="Calibri" pitchFamily="34" charset="-122"/>
                <a:cs typeface="Calibri" pitchFamily="34" charset="-120"/>
              </a:rPr>
              <a:t>ADMIN · OCCUPANCY</a:t>
            </a:r>
            <a:endParaRPr lang="en-US" sz="1000" dirty="0"/>
          </a:p>
        </p:txBody>
      </p:sp>
      <p:sp>
        <p:nvSpPr>
          <p:cNvPr id="75" name="Text 73"/>
          <p:cNvSpPr txBox="1"/>
          <p:nvPr/>
        </p:nvSpPr>
        <p:spPr>
          <a:xfrm>
            <a:off x="5669280" y="4242816"/>
            <a:ext cx="2103120" cy="182880"/>
          </a:xfrm>
          <a:prstGeom prst="rect">
            <a:avLst/>
          </a:prstGeom>
          <a:noFill/>
          <a:ln/>
        </p:spPr>
        <p:txBody>
          <a:bodyPr wrap="square" lIns="0" tIns="0" rIns="0" bIns="0" rtlCol="0" anchor="t"/>
          <a:lstStyle/>
          <a:p>
            <a:pPr marL="0" indent="0" algn="r">
              <a:buNone/>
            </a:pPr>
            <a:r>
              <a:rPr lang="en-US" sz="800" i="1" dirty="0">
                <a:solidFill>
                  <a:srgbClr val="5F6672"/>
                </a:solidFill>
                <a:latin typeface="Calibri" pitchFamily="34" charset="0"/>
                <a:ea typeface="Calibri" pitchFamily="34" charset="-122"/>
                <a:cs typeface="Calibri" pitchFamily="34" charset="-120"/>
              </a:rPr>
              <a:t>Conceptual UI Mockup</a:t>
            </a:r>
            <a:endParaRPr lang="en-US" sz="800" dirty="0"/>
          </a:p>
        </p:txBody>
      </p:sp>
      <p:sp>
        <p:nvSpPr>
          <p:cNvPr id="76" name="Text 74"/>
          <p:cNvSpPr txBox="1"/>
          <p:nvPr/>
        </p:nvSpPr>
        <p:spPr>
          <a:xfrm>
            <a:off x="4480560" y="4498848"/>
            <a:ext cx="1005840" cy="274320"/>
          </a:xfrm>
          <a:prstGeom prst="rect">
            <a:avLst/>
          </a:prstGeom>
          <a:noFill/>
          <a:ln/>
        </p:spPr>
        <p:txBody>
          <a:bodyPr wrap="square" lIns="0" tIns="0" rIns="0" bIns="0" rtlCol="0" anchor="ctr"/>
          <a:lstStyle/>
          <a:p>
            <a:pPr marL="0" indent="0">
              <a:buNone/>
            </a:pPr>
            <a:r>
              <a:rPr lang="en-US" sz="1000" dirty="0">
                <a:solidFill>
                  <a:srgbClr val="5F6672"/>
                </a:solidFill>
                <a:latin typeface="Calibri" pitchFamily="34" charset="0"/>
                <a:ea typeface="Calibri" pitchFamily="34" charset="-122"/>
                <a:cs typeface="Calibri" pitchFamily="34" charset="-120"/>
              </a:rPr>
              <a:t>Building A</a:t>
            </a:r>
            <a:endParaRPr lang="en-US" sz="1000" dirty="0"/>
          </a:p>
        </p:txBody>
      </p:sp>
      <p:sp>
        <p:nvSpPr>
          <p:cNvPr id="77" name="Shape 75"/>
          <p:cNvSpPr/>
          <p:nvPr/>
        </p:nvSpPr>
        <p:spPr>
          <a:xfrm>
            <a:off x="5532120" y="4544568"/>
            <a:ext cx="2103120" cy="182880"/>
          </a:xfrm>
          <a:prstGeom prst="rect">
            <a:avLst/>
          </a:prstGeom>
          <a:solidFill>
            <a:srgbClr val="E3F1E8"/>
          </a:solidFill>
          <a:ln/>
        </p:spPr>
      </p:sp>
      <p:sp>
        <p:nvSpPr>
          <p:cNvPr id="78" name="Shape 76"/>
          <p:cNvSpPr/>
          <p:nvPr/>
        </p:nvSpPr>
        <p:spPr>
          <a:xfrm>
            <a:off x="5532120" y="4544568"/>
            <a:ext cx="1005840" cy="182880"/>
          </a:xfrm>
          <a:prstGeom prst="rect">
            <a:avLst/>
          </a:prstGeom>
          <a:solidFill>
            <a:srgbClr val="B03A3A"/>
          </a:solidFill>
          <a:ln/>
        </p:spPr>
      </p:sp>
      <p:sp>
        <p:nvSpPr>
          <p:cNvPr id="79" name="Text 77"/>
          <p:cNvSpPr txBox="1"/>
          <p:nvPr/>
        </p:nvSpPr>
        <p:spPr>
          <a:xfrm>
            <a:off x="4480560" y="4846320"/>
            <a:ext cx="1005840" cy="274320"/>
          </a:xfrm>
          <a:prstGeom prst="rect">
            <a:avLst/>
          </a:prstGeom>
          <a:noFill/>
          <a:ln/>
        </p:spPr>
        <p:txBody>
          <a:bodyPr wrap="square" lIns="0" tIns="0" rIns="0" bIns="0" rtlCol="0" anchor="ctr"/>
          <a:lstStyle/>
          <a:p>
            <a:pPr marL="0" indent="0">
              <a:buNone/>
            </a:pPr>
            <a:r>
              <a:rPr lang="en-US" sz="1000" dirty="0">
                <a:solidFill>
                  <a:srgbClr val="5F6672"/>
                </a:solidFill>
                <a:latin typeface="Calibri" pitchFamily="34" charset="0"/>
                <a:ea typeface="Calibri" pitchFamily="34" charset="-122"/>
                <a:cs typeface="Calibri" pitchFamily="34" charset="-120"/>
              </a:rPr>
              <a:t>Building B</a:t>
            </a:r>
            <a:endParaRPr lang="en-US" sz="1000" dirty="0"/>
          </a:p>
        </p:txBody>
      </p:sp>
      <p:sp>
        <p:nvSpPr>
          <p:cNvPr id="80" name="Shape 78"/>
          <p:cNvSpPr/>
          <p:nvPr/>
        </p:nvSpPr>
        <p:spPr>
          <a:xfrm>
            <a:off x="5532120" y="4892040"/>
            <a:ext cx="2103120" cy="182880"/>
          </a:xfrm>
          <a:prstGeom prst="rect">
            <a:avLst/>
          </a:prstGeom>
          <a:solidFill>
            <a:srgbClr val="E3F1E8"/>
          </a:solidFill>
          <a:ln/>
        </p:spPr>
      </p:sp>
      <p:sp>
        <p:nvSpPr>
          <p:cNvPr id="81" name="Shape 79"/>
          <p:cNvSpPr/>
          <p:nvPr/>
        </p:nvSpPr>
        <p:spPr>
          <a:xfrm>
            <a:off x="5532120" y="4892040"/>
            <a:ext cx="731520" cy="182880"/>
          </a:xfrm>
          <a:prstGeom prst="rect">
            <a:avLst/>
          </a:prstGeom>
          <a:solidFill>
            <a:srgbClr val="B03A3A"/>
          </a:solidFill>
          <a:ln/>
        </p:spPr>
      </p:sp>
      <p:sp>
        <p:nvSpPr>
          <p:cNvPr id="82" name="Text 80"/>
          <p:cNvSpPr txBox="1"/>
          <p:nvPr/>
        </p:nvSpPr>
        <p:spPr>
          <a:xfrm>
            <a:off x="4480560" y="5193792"/>
            <a:ext cx="1005840" cy="274320"/>
          </a:xfrm>
          <a:prstGeom prst="rect">
            <a:avLst/>
          </a:prstGeom>
          <a:noFill/>
          <a:ln/>
        </p:spPr>
        <p:txBody>
          <a:bodyPr wrap="square" lIns="0" tIns="0" rIns="0" bIns="0" rtlCol="0" anchor="ctr"/>
          <a:lstStyle/>
          <a:p>
            <a:pPr marL="0" indent="0">
              <a:buNone/>
            </a:pPr>
            <a:r>
              <a:rPr lang="en-US" sz="1000" dirty="0">
                <a:solidFill>
                  <a:srgbClr val="5F6672"/>
                </a:solidFill>
                <a:latin typeface="Calibri" pitchFamily="34" charset="0"/>
                <a:ea typeface="Calibri" pitchFamily="34" charset="-122"/>
                <a:cs typeface="Calibri" pitchFamily="34" charset="-120"/>
              </a:rPr>
              <a:t>Building C</a:t>
            </a:r>
            <a:endParaRPr lang="en-US" sz="1000" dirty="0"/>
          </a:p>
        </p:txBody>
      </p:sp>
      <p:sp>
        <p:nvSpPr>
          <p:cNvPr id="83" name="Shape 81"/>
          <p:cNvSpPr/>
          <p:nvPr/>
        </p:nvSpPr>
        <p:spPr>
          <a:xfrm>
            <a:off x="5532120" y="5239512"/>
            <a:ext cx="2103120" cy="182880"/>
          </a:xfrm>
          <a:prstGeom prst="rect">
            <a:avLst/>
          </a:prstGeom>
          <a:solidFill>
            <a:srgbClr val="E3F1E8"/>
          </a:solidFill>
          <a:ln/>
        </p:spPr>
      </p:sp>
      <p:sp>
        <p:nvSpPr>
          <p:cNvPr id="84" name="Shape 82"/>
          <p:cNvSpPr/>
          <p:nvPr/>
        </p:nvSpPr>
        <p:spPr>
          <a:xfrm>
            <a:off x="5532120" y="5239512"/>
            <a:ext cx="1371600" cy="182880"/>
          </a:xfrm>
          <a:prstGeom prst="rect">
            <a:avLst/>
          </a:prstGeom>
          <a:solidFill>
            <a:srgbClr val="B03A3A"/>
          </a:solidFill>
          <a:ln/>
        </p:spPr>
      </p:sp>
      <p:sp>
        <p:nvSpPr>
          <p:cNvPr id="85" name="Text 83"/>
          <p:cNvSpPr txBox="1"/>
          <p:nvPr/>
        </p:nvSpPr>
        <p:spPr>
          <a:xfrm>
            <a:off x="4480560" y="5541264"/>
            <a:ext cx="1005840" cy="274320"/>
          </a:xfrm>
          <a:prstGeom prst="rect">
            <a:avLst/>
          </a:prstGeom>
          <a:noFill/>
          <a:ln/>
        </p:spPr>
        <p:txBody>
          <a:bodyPr wrap="square" lIns="0" tIns="0" rIns="0" bIns="0" rtlCol="0" anchor="ctr"/>
          <a:lstStyle/>
          <a:p>
            <a:pPr marL="0" indent="0">
              <a:buNone/>
            </a:pPr>
            <a:r>
              <a:rPr lang="en-US" sz="1000" dirty="0">
                <a:solidFill>
                  <a:srgbClr val="5F6672"/>
                </a:solidFill>
                <a:latin typeface="Calibri" pitchFamily="34" charset="0"/>
                <a:ea typeface="Calibri" pitchFamily="34" charset="-122"/>
                <a:cs typeface="Calibri" pitchFamily="34" charset="-120"/>
              </a:rPr>
              <a:t>Building D</a:t>
            </a:r>
            <a:endParaRPr lang="en-US" sz="1000" dirty="0"/>
          </a:p>
        </p:txBody>
      </p:sp>
      <p:sp>
        <p:nvSpPr>
          <p:cNvPr id="86" name="Shape 84"/>
          <p:cNvSpPr/>
          <p:nvPr/>
        </p:nvSpPr>
        <p:spPr>
          <a:xfrm>
            <a:off x="5532120" y="5586984"/>
            <a:ext cx="2103120" cy="182880"/>
          </a:xfrm>
          <a:prstGeom prst="rect">
            <a:avLst/>
          </a:prstGeom>
          <a:solidFill>
            <a:srgbClr val="E3F1E8"/>
          </a:solidFill>
          <a:ln/>
        </p:spPr>
      </p:sp>
      <p:sp>
        <p:nvSpPr>
          <p:cNvPr id="87" name="Shape 85"/>
          <p:cNvSpPr/>
          <p:nvPr/>
        </p:nvSpPr>
        <p:spPr>
          <a:xfrm>
            <a:off x="5532120" y="5586984"/>
            <a:ext cx="548640" cy="182880"/>
          </a:xfrm>
          <a:prstGeom prst="rect">
            <a:avLst/>
          </a:prstGeom>
          <a:solidFill>
            <a:srgbClr val="B03A3A"/>
          </a:solidFill>
          <a:ln/>
        </p:spPr>
      </p:sp>
      <p:sp>
        <p:nvSpPr>
          <p:cNvPr id="88" name="Text 86"/>
          <p:cNvSpPr txBox="1"/>
          <p:nvPr/>
        </p:nvSpPr>
        <p:spPr>
          <a:xfrm>
            <a:off x="4480560" y="5760720"/>
            <a:ext cx="3200400" cy="228600"/>
          </a:xfrm>
          <a:prstGeom prst="rect">
            <a:avLst/>
          </a:prstGeom>
          <a:noFill/>
          <a:ln/>
        </p:spPr>
        <p:txBody>
          <a:bodyPr wrap="square" lIns="0" tIns="0" rIns="0" bIns="0" rtlCol="0" anchor="t"/>
          <a:lstStyle/>
          <a:p>
            <a:pPr marL="0" indent="0">
              <a:buNone/>
            </a:pPr>
            <a:r>
              <a:rPr lang="en-US" sz="900" i="1" dirty="0">
                <a:solidFill>
                  <a:srgbClr val="5F6672"/>
                </a:solidFill>
                <a:latin typeface="Calibri" pitchFamily="34" charset="0"/>
                <a:ea typeface="Calibri" pitchFamily="34" charset="-122"/>
                <a:cs typeface="Calibri" pitchFamily="34" charset="-120"/>
              </a:rPr>
              <a:t>Occupied vs available (illustrative, not real data)</a:t>
            </a:r>
            <a:endParaRPr lang="en-US" sz="900" dirty="0"/>
          </a:p>
        </p:txBody>
      </p:sp>
      <p:sp>
        <p:nvSpPr>
          <p:cNvPr id="89" name="Shape 87"/>
          <p:cNvSpPr/>
          <p:nvPr/>
        </p:nvSpPr>
        <p:spPr>
          <a:xfrm>
            <a:off x="8046720" y="3931920"/>
            <a:ext cx="3566160" cy="2103120"/>
          </a:xfrm>
          <a:prstGeom prst="rect">
            <a:avLst/>
          </a:prstGeom>
          <a:solidFill>
            <a:srgbClr val="FFFFFF"/>
          </a:solidFill>
          <a:ln w="12700">
            <a:solidFill>
              <a:srgbClr val="D9D6CE"/>
            </a:solidFill>
            <a:prstDash val="solid"/>
          </a:ln>
        </p:spPr>
      </p:sp>
      <p:sp>
        <p:nvSpPr>
          <p:cNvPr id="90" name="Shape 88"/>
          <p:cNvSpPr/>
          <p:nvPr/>
        </p:nvSpPr>
        <p:spPr>
          <a:xfrm>
            <a:off x="8046720" y="3931920"/>
            <a:ext cx="3566160" cy="292608"/>
          </a:xfrm>
          <a:prstGeom prst="rect">
            <a:avLst/>
          </a:prstGeom>
          <a:solidFill>
            <a:srgbClr val="F0EEE8"/>
          </a:solidFill>
          <a:ln w="12700">
            <a:solidFill>
              <a:srgbClr val="D9D6CE"/>
            </a:solidFill>
            <a:prstDash val="solid"/>
          </a:ln>
        </p:spPr>
      </p:sp>
      <p:sp>
        <p:nvSpPr>
          <p:cNvPr id="91" name="Text 89"/>
          <p:cNvSpPr txBox="1"/>
          <p:nvPr/>
        </p:nvSpPr>
        <p:spPr>
          <a:xfrm>
            <a:off x="8156448" y="3931920"/>
            <a:ext cx="3383280" cy="292608"/>
          </a:xfrm>
          <a:prstGeom prst="rect">
            <a:avLst/>
          </a:prstGeom>
          <a:noFill/>
          <a:ln/>
        </p:spPr>
        <p:txBody>
          <a:bodyPr wrap="square" lIns="0" tIns="0" rIns="0" bIns="0" rtlCol="0" anchor="ctr"/>
          <a:lstStyle/>
          <a:p>
            <a:pPr marL="0" indent="0">
              <a:buNone/>
            </a:pPr>
            <a:r>
              <a:rPr lang="en-US" sz="1000" b="1" dirty="0">
                <a:solidFill>
                  <a:srgbClr val="5F6672"/>
                </a:solidFill>
                <a:latin typeface="Calibri" pitchFamily="34" charset="0"/>
                <a:ea typeface="Calibri" pitchFamily="34" charset="-122"/>
                <a:cs typeface="Calibri" pitchFamily="34" charset="-120"/>
              </a:rPr>
              <a:t>SEAT-LEVEL ALLOCATION</a:t>
            </a:r>
            <a:endParaRPr lang="en-US" sz="1000" dirty="0"/>
          </a:p>
        </p:txBody>
      </p:sp>
      <p:sp>
        <p:nvSpPr>
          <p:cNvPr id="92" name="Shape 90"/>
          <p:cNvSpPr/>
          <p:nvPr/>
        </p:nvSpPr>
        <p:spPr>
          <a:xfrm>
            <a:off x="8321040" y="4480560"/>
            <a:ext cx="3017520" cy="868680"/>
          </a:xfrm>
          <a:prstGeom prst="rect">
            <a:avLst/>
          </a:prstGeom>
          <a:solidFill>
            <a:srgbClr val="FBFAF7"/>
          </a:solidFill>
          <a:ln w="19050">
            <a:solidFill>
              <a:srgbClr val="14263F"/>
            </a:solidFill>
            <a:prstDash val="solid"/>
          </a:ln>
        </p:spPr>
      </p:sp>
      <p:sp>
        <p:nvSpPr>
          <p:cNvPr id="93" name="Shape 91"/>
          <p:cNvSpPr/>
          <p:nvPr/>
        </p:nvSpPr>
        <p:spPr>
          <a:xfrm>
            <a:off x="8595360" y="4645152"/>
            <a:ext cx="548640" cy="548640"/>
          </a:xfrm>
          <a:prstGeom prst="rect">
            <a:avLst/>
          </a:prstGeom>
          <a:solidFill>
            <a:srgbClr val="F4DADA"/>
          </a:solidFill>
          <a:ln w="12700">
            <a:solidFill>
              <a:srgbClr val="B03A3A"/>
            </a:solidFill>
            <a:prstDash val="solid"/>
          </a:ln>
        </p:spPr>
      </p:sp>
      <p:sp>
        <p:nvSpPr>
          <p:cNvPr id="94" name="Text 92"/>
          <p:cNvSpPr txBox="1"/>
          <p:nvPr/>
        </p:nvSpPr>
        <p:spPr>
          <a:xfrm>
            <a:off x="8595360" y="4645152"/>
            <a:ext cx="548640" cy="548640"/>
          </a:xfrm>
          <a:prstGeom prst="rect">
            <a:avLst/>
          </a:prstGeom>
          <a:noFill/>
          <a:ln/>
        </p:spPr>
        <p:txBody>
          <a:bodyPr wrap="square" lIns="0" tIns="0" rIns="0" bIns="0" rtlCol="0" anchor="ctr"/>
          <a:lstStyle/>
          <a:p>
            <a:pPr marL="0" indent="0" algn="ctr">
              <a:buNone/>
            </a:pPr>
            <a:r>
              <a:rPr lang="en-US" sz="1100" b="1" dirty="0">
                <a:solidFill>
                  <a:srgbClr val="B03A3A"/>
                </a:solidFill>
                <a:latin typeface="Calibri" pitchFamily="34" charset="0"/>
                <a:ea typeface="Calibri" pitchFamily="34" charset="-122"/>
                <a:cs typeface="Calibri" pitchFamily="34" charset="-120"/>
              </a:rPr>
              <a:t>A</a:t>
            </a:r>
            <a:endParaRPr lang="en-US" sz="1100" dirty="0"/>
          </a:p>
        </p:txBody>
      </p:sp>
      <p:sp>
        <p:nvSpPr>
          <p:cNvPr id="95" name="Shape 93"/>
          <p:cNvSpPr/>
          <p:nvPr/>
        </p:nvSpPr>
        <p:spPr>
          <a:xfrm>
            <a:off x="9509760" y="4645152"/>
            <a:ext cx="548640" cy="548640"/>
          </a:xfrm>
          <a:prstGeom prst="rect">
            <a:avLst/>
          </a:prstGeom>
          <a:solidFill>
            <a:srgbClr val="E3F1E8"/>
          </a:solidFill>
          <a:ln w="12700">
            <a:solidFill>
              <a:srgbClr val="2F7D4F"/>
            </a:solidFill>
            <a:prstDash val="solid"/>
          </a:ln>
        </p:spPr>
      </p:sp>
      <p:sp>
        <p:nvSpPr>
          <p:cNvPr id="96" name="Text 94"/>
          <p:cNvSpPr txBox="1"/>
          <p:nvPr/>
        </p:nvSpPr>
        <p:spPr>
          <a:xfrm>
            <a:off x="9509760" y="4645152"/>
            <a:ext cx="548640" cy="548640"/>
          </a:xfrm>
          <a:prstGeom prst="rect">
            <a:avLst/>
          </a:prstGeom>
          <a:noFill/>
          <a:ln/>
        </p:spPr>
        <p:txBody>
          <a:bodyPr wrap="square" lIns="0" tIns="0" rIns="0" bIns="0" rtlCol="0" anchor="ctr"/>
          <a:lstStyle/>
          <a:p>
            <a:pPr marL="0" indent="0" algn="ctr">
              <a:buNone/>
            </a:pPr>
            <a:r>
              <a:rPr lang="en-US" sz="1100" b="1" dirty="0">
                <a:solidFill>
                  <a:srgbClr val="2F7D4F"/>
                </a:solidFill>
                <a:latin typeface="Calibri" pitchFamily="34" charset="0"/>
                <a:ea typeface="Calibri" pitchFamily="34" charset="-122"/>
                <a:cs typeface="Calibri" pitchFamily="34" charset="-120"/>
              </a:rPr>
              <a:t>B</a:t>
            </a:r>
            <a:endParaRPr lang="en-US" sz="1100" dirty="0"/>
          </a:p>
        </p:txBody>
      </p:sp>
      <p:sp>
        <p:nvSpPr>
          <p:cNvPr id="97" name="Shape 95"/>
          <p:cNvSpPr/>
          <p:nvPr/>
        </p:nvSpPr>
        <p:spPr>
          <a:xfrm>
            <a:off x="10424160" y="4645152"/>
            <a:ext cx="548640" cy="548640"/>
          </a:xfrm>
          <a:prstGeom prst="rect">
            <a:avLst/>
          </a:prstGeom>
          <a:solidFill>
            <a:srgbClr val="F4DADA"/>
          </a:solidFill>
          <a:ln w="12700">
            <a:solidFill>
              <a:srgbClr val="B03A3A"/>
            </a:solidFill>
            <a:prstDash val="solid"/>
          </a:ln>
        </p:spPr>
      </p:sp>
      <p:sp>
        <p:nvSpPr>
          <p:cNvPr id="98" name="Text 96"/>
          <p:cNvSpPr txBox="1"/>
          <p:nvPr/>
        </p:nvSpPr>
        <p:spPr>
          <a:xfrm>
            <a:off x="10424160" y="4645152"/>
            <a:ext cx="548640" cy="548640"/>
          </a:xfrm>
          <a:prstGeom prst="rect">
            <a:avLst/>
          </a:prstGeom>
          <a:noFill/>
          <a:ln/>
        </p:spPr>
        <p:txBody>
          <a:bodyPr wrap="square" lIns="0" tIns="0" rIns="0" bIns="0" rtlCol="0" anchor="ctr"/>
          <a:lstStyle/>
          <a:p>
            <a:pPr marL="0" indent="0" algn="ctr">
              <a:buNone/>
            </a:pPr>
            <a:r>
              <a:rPr lang="en-US" sz="1100" b="1" dirty="0">
                <a:solidFill>
                  <a:srgbClr val="B03A3A"/>
                </a:solidFill>
                <a:latin typeface="Calibri" pitchFamily="34" charset="0"/>
                <a:ea typeface="Calibri" pitchFamily="34" charset="-122"/>
                <a:cs typeface="Calibri" pitchFamily="34" charset="-120"/>
              </a:rPr>
              <a:t>C</a:t>
            </a:r>
            <a:endParaRPr lang="en-US" sz="1100" dirty="0"/>
          </a:p>
        </p:txBody>
      </p:sp>
      <p:sp>
        <p:nvSpPr>
          <p:cNvPr id="99" name="Text 97"/>
          <p:cNvSpPr txBox="1"/>
          <p:nvPr/>
        </p:nvSpPr>
        <p:spPr>
          <a:xfrm>
            <a:off x="8321040" y="5440680"/>
            <a:ext cx="3108960" cy="274320"/>
          </a:xfrm>
          <a:prstGeom prst="rect">
            <a:avLst/>
          </a:prstGeom>
          <a:noFill/>
          <a:ln/>
        </p:spPr>
        <p:txBody>
          <a:bodyPr wrap="square" lIns="0" tIns="0" rIns="0" bIns="0" rtlCol="0" anchor="t"/>
          <a:lstStyle/>
          <a:p>
            <a:pPr marL="0" indent="0">
              <a:buNone/>
            </a:pPr>
            <a:r>
              <a:rPr lang="en-US" sz="1100" b="1" dirty="0">
                <a:solidFill>
                  <a:srgbClr val="14263F"/>
                </a:solidFill>
                <a:latin typeface="Calibri" pitchFamily="34" charset="0"/>
                <a:ea typeface="Calibri" pitchFamily="34" charset="-122"/>
                <a:cs typeface="Calibri" pitchFamily="34" charset="-120"/>
              </a:rPr>
              <a:t>Capacity 3 · Occupied 2 · Available 1</a:t>
            </a:r>
            <a:endParaRPr lang="en-US" sz="1100" dirty="0"/>
          </a:p>
        </p:txBody>
      </p:sp>
      <p:sp>
        <p:nvSpPr>
          <p:cNvPr id="100" name="Text 98"/>
          <p:cNvSpPr txBox="1"/>
          <p:nvPr/>
        </p:nvSpPr>
        <p:spPr>
          <a:xfrm>
            <a:off x="8321040" y="5715000"/>
            <a:ext cx="3108960" cy="274320"/>
          </a:xfrm>
          <a:prstGeom prst="rect">
            <a:avLst/>
          </a:prstGeom>
          <a:noFill/>
          <a:ln/>
        </p:spPr>
        <p:txBody>
          <a:bodyPr wrap="square" lIns="0" tIns="0" rIns="0" bIns="0" rtlCol="0" anchor="t"/>
          <a:lstStyle/>
          <a:p>
            <a:pPr marL="0" indent="0">
              <a:buNone/>
            </a:pPr>
            <a:r>
              <a:rPr lang="en-US" sz="1000" dirty="0">
                <a:solidFill>
                  <a:srgbClr val="5F6672"/>
                </a:solidFill>
                <a:latin typeface="Calibri" pitchFamily="34" charset="0"/>
                <a:ea typeface="Calibri" pitchFamily="34" charset="-122"/>
                <a:cs typeface="Calibri" pitchFamily="34" charset="-120"/>
              </a:rPr>
              <a:t>A room need not be empty to allocate a seat.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100" b="1" kern="0" spc="300" dirty="0">
                <a:solidFill>
                  <a:srgbClr val="2A7F86"/>
                </a:solidFill>
                <a:latin typeface="Calibri" pitchFamily="34" charset="0"/>
                <a:ea typeface="Calibri" pitchFamily="34" charset="-122"/>
                <a:cs typeface="Calibri" pitchFamily="34" charset="-120"/>
              </a:rPr>
              <a:t>SOCIAL RELEVANCE AND APPLICATIONS</a:t>
            </a:r>
            <a:endParaRPr lang="en-US" sz="1100" dirty="0"/>
          </a:p>
        </p:txBody>
      </p:sp>
      <p:sp>
        <p:nvSpPr>
          <p:cNvPr id="3" name="Text 1"/>
          <p:cNvSpPr txBox="1"/>
          <p:nvPr/>
        </p:nvSpPr>
        <p:spPr>
          <a:xfrm>
            <a:off x="548640" y="640080"/>
            <a:ext cx="11064240" cy="548640"/>
          </a:xfrm>
          <a:prstGeom prst="rect">
            <a:avLst/>
          </a:prstGeom>
          <a:noFill/>
          <a:ln/>
        </p:spPr>
        <p:txBody>
          <a:bodyPr wrap="square" lIns="0" tIns="0" rIns="0" bIns="0" rtlCol="0" anchor="t"/>
          <a:lstStyle/>
          <a:p>
            <a:pPr marL="0" indent="0">
              <a:buNone/>
            </a:pPr>
            <a:r>
              <a:rPr lang="en-US" sz="2700" b="1" dirty="0">
                <a:solidFill>
                  <a:srgbClr val="14263F"/>
                </a:solidFill>
                <a:latin typeface="Calibri" pitchFamily="34" charset="0"/>
                <a:ea typeface="Calibri" pitchFamily="34" charset="-122"/>
                <a:cs typeface="Calibri" pitchFamily="34" charset="-120"/>
              </a:rPr>
              <a:t>Who Benefits, and How</a:t>
            </a:r>
            <a:endParaRPr lang="en-US" sz="2700" dirty="0"/>
          </a:p>
        </p:txBody>
      </p:sp>
      <p:sp>
        <p:nvSpPr>
          <p:cNvPr id="4" name="Text 2"/>
          <p:cNvSpPr txBox="1"/>
          <p:nvPr/>
        </p:nvSpPr>
        <p:spPr>
          <a:xfrm>
            <a:off x="548640" y="6492240"/>
            <a:ext cx="7315200" cy="228600"/>
          </a:xfrm>
          <a:prstGeom prst="rect">
            <a:avLst/>
          </a:prstGeom>
          <a:noFill/>
          <a:ln/>
        </p:spPr>
        <p:txBody>
          <a:bodyPr wrap="square" lIns="0" tIns="0" rIns="0" bIns="0" rtlCol="0" anchor="t"/>
          <a:lstStyle/>
          <a:p>
            <a:pPr marL="0" indent="0">
              <a:buNone/>
            </a:pPr>
            <a:r>
              <a:rPr lang="en-US" sz="900" dirty="0">
                <a:solidFill>
                  <a:srgbClr val="5F6672"/>
                </a:solidFill>
                <a:latin typeface="Calibri" pitchFamily="34" charset="0"/>
                <a:ea typeface="Calibri" pitchFamily="34" charset="-122"/>
                <a:cs typeface="Calibri" pitchFamily="34" charset="-120"/>
              </a:rPr>
              <a:t>SIT Tumakuru · Dept. of CSE · Community Project Phase-I, 2026–27</a:t>
            </a:r>
            <a:endParaRPr lang="en-US" sz="900" dirty="0"/>
          </a:p>
        </p:txBody>
      </p:sp>
      <p:sp>
        <p:nvSpPr>
          <p:cNvPr id="5" name="Text 3"/>
          <p:cNvSpPr txBox="1"/>
          <p:nvPr/>
        </p:nvSpPr>
        <p:spPr>
          <a:xfrm>
            <a:off x="11155680" y="6492240"/>
            <a:ext cx="457200" cy="228600"/>
          </a:xfrm>
          <a:prstGeom prst="rect">
            <a:avLst/>
          </a:prstGeom>
          <a:noFill/>
          <a:ln/>
        </p:spPr>
        <p:txBody>
          <a:bodyPr wrap="square" lIns="0" tIns="0" rIns="0" bIns="0" rtlCol="0" anchor="t"/>
          <a:lstStyle/>
          <a:p>
            <a:pPr marL="0" indent="0" algn="r">
              <a:buNone/>
            </a:pPr>
            <a:r>
              <a:rPr lang="en-US" sz="900" dirty="0">
                <a:solidFill>
                  <a:srgbClr val="5F6672"/>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7680960" y="411480"/>
            <a:ext cx="3931920" cy="256032"/>
          </a:xfrm>
          <a:prstGeom prst="rect">
            <a:avLst/>
          </a:prstGeom>
          <a:solidFill>
            <a:srgbClr val="FFFFFF"/>
          </a:solidFill>
          <a:ln w="12700">
            <a:solidFill>
              <a:srgbClr val="B7791F"/>
            </a:solidFill>
            <a:prstDash val="solid"/>
          </a:ln>
        </p:spPr>
      </p:sp>
      <p:sp>
        <p:nvSpPr>
          <p:cNvPr id="7" name="Text 5"/>
          <p:cNvSpPr txBox="1"/>
          <p:nvPr/>
        </p:nvSpPr>
        <p:spPr>
          <a:xfrm>
            <a:off x="7726680" y="411480"/>
            <a:ext cx="3840480" cy="256032"/>
          </a:xfrm>
          <a:prstGeom prst="rect">
            <a:avLst/>
          </a:prstGeom>
          <a:noFill/>
          <a:ln/>
        </p:spPr>
        <p:txBody>
          <a:bodyPr wrap="square" lIns="0" tIns="0" rIns="0" bIns="0" rtlCol="0" anchor="ctr"/>
          <a:lstStyle/>
          <a:p>
            <a:pPr marL="0" indent="0" algn="ctr">
              <a:buNone/>
            </a:pPr>
            <a:r>
              <a:rPr lang="en-US" sz="900" b="1" dirty="0">
                <a:solidFill>
                  <a:srgbClr val="B7791F"/>
                </a:solidFill>
                <a:latin typeface="Calibri" pitchFamily="34" charset="0"/>
                <a:ea typeface="Calibri" pitchFamily="34" charset="-122"/>
                <a:cs typeface="Calibri" pitchFamily="34" charset="-120"/>
              </a:rPr>
              <a:t>EXPECTED OUTCOMES — NOT MEASURED ACHIEVEMENTS</a:t>
            </a:r>
            <a:endParaRPr lang="en-US" sz="900" dirty="0"/>
          </a:p>
        </p:txBody>
      </p:sp>
      <p:sp>
        <p:nvSpPr>
          <p:cNvPr id="8" name="Shape 6"/>
          <p:cNvSpPr/>
          <p:nvPr/>
        </p:nvSpPr>
        <p:spPr>
          <a:xfrm>
            <a:off x="548640" y="1737360"/>
            <a:ext cx="2377440" cy="685800"/>
          </a:xfrm>
          <a:prstGeom prst="rect">
            <a:avLst/>
          </a:prstGeom>
          <a:solidFill>
            <a:srgbClr val="14263F"/>
          </a:solidFill>
          <a:ln w="12700">
            <a:solidFill>
              <a:srgbClr val="14263F"/>
            </a:solidFill>
            <a:prstDash val="solid"/>
          </a:ln>
        </p:spPr>
      </p:sp>
      <p:sp>
        <p:nvSpPr>
          <p:cNvPr id="9" name="Text 7"/>
          <p:cNvSpPr txBox="1"/>
          <p:nvPr/>
        </p:nvSpPr>
        <p:spPr>
          <a:xfrm>
            <a:off x="594360" y="1737360"/>
            <a:ext cx="228600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Students</a:t>
            </a:r>
            <a:endParaRPr lang="en-US" sz="1400" dirty="0"/>
          </a:p>
        </p:txBody>
      </p:sp>
      <p:sp>
        <p:nvSpPr>
          <p:cNvPr id="10" name="Shape 8"/>
          <p:cNvSpPr/>
          <p:nvPr/>
        </p:nvSpPr>
        <p:spPr>
          <a:xfrm>
            <a:off x="2971800" y="2075688"/>
            <a:ext cx="548640" cy="0"/>
          </a:xfrm>
          <a:prstGeom prst="line">
            <a:avLst/>
          </a:prstGeom>
          <a:noFill/>
          <a:ln w="15875">
            <a:solidFill>
              <a:srgbClr val="2A7F86"/>
            </a:solidFill>
            <a:prstDash val="solid"/>
            <a:tailEnd type="triangle"/>
          </a:ln>
        </p:spPr>
      </p:sp>
      <p:sp>
        <p:nvSpPr>
          <p:cNvPr id="11" name="Shape 9"/>
          <p:cNvSpPr/>
          <p:nvPr/>
        </p:nvSpPr>
        <p:spPr>
          <a:xfrm>
            <a:off x="3566160" y="1737360"/>
            <a:ext cx="4572000" cy="685800"/>
          </a:xfrm>
          <a:prstGeom prst="rect">
            <a:avLst/>
          </a:prstGeom>
          <a:solidFill>
            <a:srgbClr val="FFFFFF"/>
          </a:solidFill>
          <a:ln w="12700">
            <a:solidFill>
              <a:srgbClr val="2A7F86"/>
            </a:solidFill>
            <a:prstDash val="solid"/>
          </a:ln>
        </p:spPr>
      </p:sp>
      <p:sp>
        <p:nvSpPr>
          <p:cNvPr id="12" name="Text 10"/>
          <p:cNvSpPr txBox="1"/>
          <p:nvPr/>
        </p:nvSpPr>
        <p:spPr>
          <a:xfrm>
            <a:off x="3611880" y="1737360"/>
            <a:ext cx="4480560" cy="685800"/>
          </a:xfrm>
          <a:prstGeom prst="rect">
            <a:avLst/>
          </a:prstGeom>
          <a:noFill/>
          <a:ln/>
        </p:spPr>
        <p:txBody>
          <a:bodyPr wrap="square" lIns="0" tIns="0" rIns="0" bIns="0" rtlCol="0" anchor="ctr"/>
          <a:lstStyle/>
          <a:p>
            <a:pPr marL="0" indent="0" algn="l">
              <a:buNone/>
            </a:pPr>
            <a:r>
              <a:rPr lang="en-US" sz="1300" dirty="0">
                <a:solidFill>
                  <a:srgbClr val="1F2328"/>
                </a:solidFill>
                <a:latin typeface="Calibri" pitchFamily="34" charset="0"/>
                <a:ea typeface="Calibri" pitchFamily="34" charset="-122"/>
                <a:cs typeface="Calibri" pitchFamily="34" charset="-120"/>
              </a:rPr>
              <a:t>See seat availability and own status; fewer repeated enquiries</a:t>
            </a:r>
            <a:endParaRPr lang="en-US" sz="1300" dirty="0"/>
          </a:p>
        </p:txBody>
      </p:sp>
      <p:sp>
        <p:nvSpPr>
          <p:cNvPr id="13" name="Shape 11"/>
          <p:cNvSpPr/>
          <p:nvPr/>
        </p:nvSpPr>
        <p:spPr>
          <a:xfrm>
            <a:off x="548640" y="2606040"/>
            <a:ext cx="2377440" cy="685800"/>
          </a:xfrm>
          <a:prstGeom prst="rect">
            <a:avLst/>
          </a:prstGeom>
          <a:solidFill>
            <a:srgbClr val="14263F"/>
          </a:solidFill>
          <a:ln w="12700">
            <a:solidFill>
              <a:srgbClr val="14263F"/>
            </a:solidFill>
            <a:prstDash val="solid"/>
          </a:ln>
        </p:spPr>
      </p:sp>
      <p:sp>
        <p:nvSpPr>
          <p:cNvPr id="14" name="Text 12"/>
          <p:cNvSpPr txBox="1"/>
          <p:nvPr/>
        </p:nvSpPr>
        <p:spPr>
          <a:xfrm>
            <a:off x="594360" y="2606040"/>
            <a:ext cx="228600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Hostel-office staff</a:t>
            </a:r>
            <a:endParaRPr lang="en-US" sz="1400" dirty="0"/>
          </a:p>
        </p:txBody>
      </p:sp>
      <p:sp>
        <p:nvSpPr>
          <p:cNvPr id="15" name="Shape 13"/>
          <p:cNvSpPr/>
          <p:nvPr/>
        </p:nvSpPr>
        <p:spPr>
          <a:xfrm>
            <a:off x="2971800" y="2944368"/>
            <a:ext cx="548640" cy="0"/>
          </a:xfrm>
          <a:prstGeom prst="line">
            <a:avLst/>
          </a:prstGeom>
          <a:noFill/>
          <a:ln w="15875">
            <a:solidFill>
              <a:srgbClr val="2A7F86"/>
            </a:solidFill>
            <a:prstDash val="solid"/>
            <a:tailEnd type="triangle"/>
          </a:ln>
        </p:spPr>
      </p:sp>
      <p:sp>
        <p:nvSpPr>
          <p:cNvPr id="16" name="Shape 14"/>
          <p:cNvSpPr/>
          <p:nvPr/>
        </p:nvSpPr>
        <p:spPr>
          <a:xfrm>
            <a:off x="3566160" y="2606040"/>
            <a:ext cx="4572000" cy="685800"/>
          </a:xfrm>
          <a:prstGeom prst="rect">
            <a:avLst/>
          </a:prstGeom>
          <a:solidFill>
            <a:srgbClr val="FFFFFF"/>
          </a:solidFill>
          <a:ln w="12700">
            <a:solidFill>
              <a:srgbClr val="2A7F86"/>
            </a:solidFill>
            <a:prstDash val="solid"/>
          </a:ln>
        </p:spPr>
      </p:sp>
      <p:sp>
        <p:nvSpPr>
          <p:cNvPr id="17" name="Text 15"/>
          <p:cNvSpPr txBox="1"/>
          <p:nvPr/>
        </p:nvSpPr>
        <p:spPr>
          <a:xfrm>
            <a:off x="3611880" y="2606040"/>
            <a:ext cx="4480560" cy="685800"/>
          </a:xfrm>
          <a:prstGeom prst="rect">
            <a:avLst/>
          </a:prstGeom>
          <a:noFill/>
          <a:ln/>
        </p:spPr>
        <p:txBody>
          <a:bodyPr wrap="square" lIns="0" tIns="0" rIns="0" bIns="0" rtlCol="0" anchor="ctr"/>
          <a:lstStyle/>
          <a:p>
            <a:pPr marL="0" indent="0" algn="l">
              <a:buNone/>
            </a:pPr>
            <a:r>
              <a:rPr lang="en-US" sz="1300" dirty="0">
                <a:solidFill>
                  <a:srgbClr val="1F2328"/>
                </a:solidFill>
                <a:latin typeface="Calibri" pitchFamily="34" charset="0"/>
                <a:ea typeface="Calibri" pitchFamily="34" charset="-122"/>
                <a:cs typeface="Calibri" pitchFamily="34" charset="-120"/>
              </a:rPr>
              <a:t>Structured allocation; one shared record</a:t>
            </a:r>
            <a:endParaRPr lang="en-US" sz="1300" dirty="0"/>
          </a:p>
        </p:txBody>
      </p:sp>
      <p:sp>
        <p:nvSpPr>
          <p:cNvPr id="18" name="Shape 16"/>
          <p:cNvSpPr/>
          <p:nvPr/>
        </p:nvSpPr>
        <p:spPr>
          <a:xfrm>
            <a:off x="548640" y="3474720"/>
            <a:ext cx="2377440" cy="685800"/>
          </a:xfrm>
          <a:prstGeom prst="rect">
            <a:avLst/>
          </a:prstGeom>
          <a:solidFill>
            <a:srgbClr val="14263F"/>
          </a:solidFill>
          <a:ln w="12700">
            <a:solidFill>
              <a:srgbClr val="14263F"/>
            </a:solidFill>
            <a:prstDash val="solid"/>
          </a:ln>
        </p:spPr>
      </p:sp>
      <p:sp>
        <p:nvSpPr>
          <p:cNvPr id="19" name="Text 17"/>
          <p:cNvSpPr txBox="1"/>
          <p:nvPr/>
        </p:nvSpPr>
        <p:spPr>
          <a:xfrm>
            <a:off x="594360" y="3474720"/>
            <a:ext cx="228600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Wardens</a:t>
            </a:r>
            <a:endParaRPr lang="en-US" sz="1400" dirty="0"/>
          </a:p>
        </p:txBody>
      </p:sp>
      <p:sp>
        <p:nvSpPr>
          <p:cNvPr id="20" name="Shape 18"/>
          <p:cNvSpPr/>
          <p:nvPr/>
        </p:nvSpPr>
        <p:spPr>
          <a:xfrm>
            <a:off x="2971800" y="3813048"/>
            <a:ext cx="548640" cy="0"/>
          </a:xfrm>
          <a:prstGeom prst="line">
            <a:avLst/>
          </a:prstGeom>
          <a:noFill/>
          <a:ln w="15875">
            <a:solidFill>
              <a:srgbClr val="2A7F86"/>
            </a:solidFill>
            <a:prstDash val="solid"/>
            <a:tailEnd type="triangle"/>
          </a:ln>
        </p:spPr>
      </p:sp>
      <p:sp>
        <p:nvSpPr>
          <p:cNvPr id="21" name="Shape 19"/>
          <p:cNvSpPr/>
          <p:nvPr/>
        </p:nvSpPr>
        <p:spPr>
          <a:xfrm>
            <a:off x="3566160" y="3474720"/>
            <a:ext cx="4572000" cy="685800"/>
          </a:xfrm>
          <a:prstGeom prst="rect">
            <a:avLst/>
          </a:prstGeom>
          <a:solidFill>
            <a:srgbClr val="FFFFFF"/>
          </a:solidFill>
          <a:ln w="12700">
            <a:solidFill>
              <a:srgbClr val="2A7F86"/>
            </a:solidFill>
            <a:prstDash val="solid"/>
          </a:ln>
        </p:spPr>
      </p:sp>
      <p:sp>
        <p:nvSpPr>
          <p:cNvPr id="22" name="Text 20"/>
          <p:cNvSpPr txBox="1"/>
          <p:nvPr/>
        </p:nvSpPr>
        <p:spPr>
          <a:xfrm>
            <a:off x="3611880" y="3474720"/>
            <a:ext cx="4480560" cy="685800"/>
          </a:xfrm>
          <a:prstGeom prst="rect">
            <a:avLst/>
          </a:prstGeom>
          <a:noFill/>
          <a:ln/>
        </p:spPr>
        <p:txBody>
          <a:bodyPr wrap="square" lIns="0" tIns="0" rIns="0" bIns="0" rtlCol="0" anchor="ctr"/>
          <a:lstStyle/>
          <a:p>
            <a:pPr marL="0" indent="0" algn="l">
              <a:buNone/>
            </a:pPr>
            <a:r>
              <a:rPr lang="en-US" sz="1300" dirty="0">
                <a:solidFill>
                  <a:srgbClr val="1F2328"/>
                </a:solidFill>
                <a:latin typeface="Calibri" pitchFamily="34" charset="0"/>
                <a:ea typeface="Calibri" pitchFamily="34" charset="-122"/>
                <a:cs typeface="Calibri" pitchFamily="34" charset="-120"/>
              </a:rPr>
              <a:t>Track complaints and room changes within their scope</a:t>
            </a:r>
            <a:endParaRPr lang="en-US" sz="1300" dirty="0"/>
          </a:p>
        </p:txBody>
      </p:sp>
      <p:sp>
        <p:nvSpPr>
          <p:cNvPr id="23" name="Shape 21"/>
          <p:cNvSpPr/>
          <p:nvPr/>
        </p:nvSpPr>
        <p:spPr>
          <a:xfrm>
            <a:off x="548640" y="4343400"/>
            <a:ext cx="2377440" cy="685800"/>
          </a:xfrm>
          <a:prstGeom prst="rect">
            <a:avLst/>
          </a:prstGeom>
          <a:solidFill>
            <a:srgbClr val="14263F"/>
          </a:solidFill>
          <a:ln w="12700">
            <a:solidFill>
              <a:srgbClr val="14263F"/>
            </a:solidFill>
            <a:prstDash val="solid"/>
          </a:ln>
        </p:spPr>
      </p:sp>
      <p:sp>
        <p:nvSpPr>
          <p:cNvPr id="24" name="Text 22"/>
          <p:cNvSpPr txBox="1"/>
          <p:nvPr/>
        </p:nvSpPr>
        <p:spPr>
          <a:xfrm>
            <a:off x="594360" y="4343400"/>
            <a:ext cx="228600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Administrators</a:t>
            </a:r>
            <a:endParaRPr lang="en-US" sz="1400" dirty="0"/>
          </a:p>
        </p:txBody>
      </p:sp>
      <p:sp>
        <p:nvSpPr>
          <p:cNvPr id="25" name="Shape 23"/>
          <p:cNvSpPr/>
          <p:nvPr/>
        </p:nvSpPr>
        <p:spPr>
          <a:xfrm>
            <a:off x="2971800" y="4681728"/>
            <a:ext cx="548640" cy="0"/>
          </a:xfrm>
          <a:prstGeom prst="line">
            <a:avLst/>
          </a:prstGeom>
          <a:noFill/>
          <a:ln w="15875">
            <a:solidFill>
              <a:srgbClr val="2A7F86"/>
            </a:solidFill>
            <a:prstDash val="solid"/>
            <a:tailEnd type="triangle"/>
          </a:ln>
        </p:spPr>
      </p:sp>
      <p:sp>
        <p:nvSpPr>
          <p:cNvPr id="26" name="Shape 24"/>
          <p:cNvSpPr/>
          <p:nvPr/>
        </p:nvSpPr>
        <p:spPr>
          <a:xfrm>
            <a:off x="3566160" y="4343400"/>
            <a:ext cx="4572000" cy="685800"/>
          </a:xfrm>
          <a:prstGeom prst="rect">
            <a:avLst/>
          </a:prstGeom>
          <a:solidFill>
            <a:srgbClr val="FFFFFF"/>
          </a:solidFill>
          <a:ln w="12700">
            <a:solidFill>
              <a:srgbClr val="2A7F86"/>
            </a:solidFill>
            <a:prstDash val="solid"/>
          </a:ln>
        </p:spPr>
      </p:sp>
      <p:sp>
        <p:nvSpPr>
          <p:cNvPr id="27" name="Text 25"/>
          <p:cNvSpPr txBox="1"/>
          <p:nvPr/>
        </p:nvSpPr>
        <p:spPr>
          <a:xfrm>
            <a:off x="3611880" y="4343400"/>
            <a:ext cx="4480560" cy="685800"/>
          </a:xfrm>
          <a:prstGeom prst="rect">
            <a:avLst/>
          </a:prstGeom>
          <a:noFill/>
          <a:ln/>
        </p:spPr>
        <p:txBody>
          <a:bodyPr wrap="square" lIns="0" tIns="0" rIns="0" bIns="0" rtlCol="0" anchor="ctr"/>
          <a:lstStyle/>
          <a:p>
            <a:pPr marL="0" indent="0" algn="l">
              <a:buNone/>
            </a:pPr>
            <a:r>
              <a:rPr lang="en-US" sz="1300" dirty="0">
                <a:solidFill>
                  <a:srgbClr val="1F2328"/>
                </a:solidFill>
                <a:latin typeface="Calibri" pitchFamily="34" charset="0"/>
                <a:ea typeface="Calibri" pitchFamily="34" charset="-122"/>
                <a:cs typeface="Calibri" pitchFamily="34" charset="-120"/>
              </a:rPr>
              <a:t>Oversight through occupancy views and audit history</a:t>
            </a:r>
            <a:endParaRPr lang="en-US" sz="1300" dirty="0"/>
          </a:p>
        </p:txBody>
      </p:sp>
      <p:sp>
        <p:nvSpPr>
          <p:cNvPr id="28" name="Text 26"/>
          <p:cNvSpPr txBox="1"/>
          <p:nvPr/>
        </p:nvSpPr>
        <p:spPr>
          <a:xfrm>
            <a:off x="8595360" y="1737360"/>
            <a:ext cx="2743200" cy="274320"/>
          </a:xfrm>
          <a:prstGeom prst="rect">
            <a:avLst/>
          </a:prstGeom>
          <a:noFill/>
          <a:ln/>
        </p:spPr>
        <p:txBody>
          <a:bodyPr wrap="square" lIns="0" tIns="0" rIns="0" bIns="0" rtlCol="0" anchor="t"/>
          <a:lstStyle/>
          <a:p>
            <a:pPr marL="0" indent="0">
              <a:buNone/>
            </a:pPr>
            <a:r>
              <a:rPr lang="en-US" sz="1100" b="1" kern="0" spc="200" dirty="0">
                <a:solidFill>
                  <a:srgbClr val="5F6672"/>
                </a:solidFill>
                <a:latin typeface="Calibri" pitchFamily="34" charset="0"/>
                <a:ea typeface="Calibri" pitchFamily="34" charset="-122"/>
                <a:cs typeface="Calibri" pitchFamily="34" charset="-120"/>
              </a:rPr>
              <a:t>SUSTAINABILITY</a:t>
            </a:r>
            <a:endParaRPr lang="en-US" sz="1100" dirty="0"/>
          </a:p>
        </p:txBody>
      </p:sp>
      <p:sp>
        <p:nvSpPr>
          <p:cNvPr id="29" name="Shape 27"/>
          <p:cNvSpPr/>
          <p:nvPr/>
        </p:nvSpPr>
        <p:spPr>
          <a:xfrm>
            <a:off x="8595360" y="2103120"/>
            <a:ext cx="54864" cy="502920"/>
          </a:xfrm>
          <a:prstGeom prst="rect">
            <a:avLst/>
          </a:prstGeom>
          <a:solidFill>
            <a:srgbClr val="2A7F86"/>
          </a:solidFill>
          <a:ln/>
        </p:spPr>
      </p:sp>
      <p:sp>
        <p:nvSpPr>
          <p:cNvPr id="30" name="Text 28"/>
          <p:cNvSpPr txBox="1"/>
          <p:nvPr/>
        </p:nvSpPr>
        <p:spPr>
          <a:xfrm>
            <a:off x="8778240" y="2103120"/>
            <a:ext cx="2834640" cy="548640"/>
          </a:xfrm>
          <a:prstGeom prst="rect">
            <a:avLst/>
          </a:prstGeom>
          <a:noFill/>
          <a:ln/>
        </p:spPr>
        <p:txBody>
          <a:bodyPr wrap="square" lIns="0" tIns="0" rIns="0" bIns="0" rtlCol="0" anchor="ctr"/>
          <a:lstStyle/>
          <a:p>
            <a:pPr marL="0" indent="0">
              <a:buNone/>
            </a:pPr>
            <a:r>
              <a:rPr lang="en-US" sz="1300" dirty="0">
                <a:solidFill>
                  <a:srgbClr val="1F2328"/>
                </a:solidFill>
                <a:latin typeface="Calibri" pitchFamily="34" charset="0"/>
                <a:ea typeface="Calibri" pitchFamily="34" charset="-122"/>
                <a:cs typeface="Calibri" pitchFamily="34" charset="-120"/>
              </a:rPr>
              <a:t>Maintainable software</a:t>
            </a:r>
            <a:endParaRPr lang="en-US" sz="1300" dirty="0"/>
          </a:p>
        </p:txBody>
      </p:sp>
      <p:sp>
        <p:nvSpPr>
          <p:cNvPr id="31" name="Shape 29"/>
          <p:cNvSpPr/>
          <p:nvPr/>
        </p:nvSpPr>
        <p:spPr>
          <a:xfrm>
            <a:off x="8595360" y="2834640"/>
            <a:ext cx="54864" cy="502920"/>
          </a:xfrm>
          <a:prstGeom prst="rect">
            <a:avLst/>
          </a:prstGeom>
          <a:solidFill>
            <a:srgbClr val="2A7F86"/>
          </a:solidFill>
          <a:ln/>
        </p:spPr>
      </p:sp>
      <p:sp>
        <p:nvSpPr>
          <p:cNvPr id="32" name="Text 30"/>
          <p:cNvSpPr txBox="1"/>
          <p:nvPr/>
        </p:nvSpPr>
        <p:spPr>
          <a:xfrm>
            <a:off x="8778240" y="2834640"/>
            <a:ext cx="2834640" cy="548640"/>
          </a:xfrm>
          <a:prstGeom prst="rect">
            <a:avLst/>
          </a:prstGeom>
          <a:noFill/>
          <a:ln/>
        </p:spPr>
        <p:txBody>
          <a:bodyPr wrap="square" lIns="0" tIns="0" rIns="0" bIns="0" rtlCol="0" anchor="ctr"/>
          <a:lstStyle/>
          <a:p>
            <a:pPr marL="0" indent="0">
              <a:buNone/>
            </a:pPr>
            <a:r>
              <a:rPr lang="en-US" sz="1300" dirty="0">
                <a:solidFill>
                  <a:srgbClr val="1F2328"/>
                </a:solidFill>
                <a:latin typeface="Calibri" pitchFamily="34" charset="0"/>
                <a:ea typeface="Calibri" pitchFamily="34" charset="-122"/>
                <a:cs typeface="Calibri" pitchFamily="34" charset="-120"/>
              </a:rPr>
              <a:t>Reusable floor-plan data</a:t>
            </a:r>
            <a:endParaRPr lang="en-US" sz="1300" dirty="0"/>
          </a:p>
        </p:txBody>
      </p:sp>
      <p:sp>
        <p:nvSpPr>
          <p:cNvPr id="33" name="Shape 31"/>
          <p:cNvSpPr/>
          <p:nvPr/>
        </p:nvSpPr>
        <p:spPr>
          <a:xfrm>
            <a:off x="8595360" y="3566160"/>
            <a:ext cx="54864" cy="502920"/>
          </a:xfrm>
          <a:prstGeom prst="rect">
            <a:avLst/>
          </a:prstGeom>
          <a:solidFill>
            <a:srgbClr val="2A7F86"/>
          </a:solidFill>
          <a:ln/>
        </p:spPr>
      </p:sp>
      <p:sp>
        <p:nvSpPr>
          <p:cNvPr id="34" name="Text 32"/>
          <p:cNvSpPr txBox="1"/>
          <p:nvPr/>
        </p:nvSpPr>
        <p:spPr>
          <a:xfrm>
            <a:off x="8778240" y="3566160"/>
            <a:ext cx="2834640" cy="548640"/>
          </a:xfrm>
          <a:prstGeom prst="rect">
            <a:avLst/>
          </a:prstGeom>
          <a:noFill/>
          <a:ln/>
        </p:spPr>
        <p:txBody>
          <a:bodyPr wrap="square" lIns="0" tIns="0" rIns="0" bIns="0" rtlCol="0" anchor="ctr"/>
          <a:lstStyle/>
          <a:p>
            <a:pPr marL="0" indent="0">
              <a:buNone/>
            </a:pPr>
            <a:r>
              <a:rPr lang="en-US" sz="1300" dirty="0">
                <a:solidFill>
                  <a:srgbClr val="1F2328"/>
                </a:solidFill>
                <a:latin typeface="Calibri" pitchFamily="34" charset="0"/>
                <a:ea typeface="Calibri" pitchFamily="34" charset="-122"/>
                <a:cs typeface="Calibri" pitchFamily="34" charset="-120"/>
              </a:rPr>
              <a:t>Configurable rules</a:t>
            </a:r>
            <a:endParaRPr lang="en-US" sz="1300" dirty="0"/>
          </a:p>
        </p:txBody>
      </p:sp>
      <p:sp>
        <p:nvSpPr>
          <p:cNvPr id="35" name="Shape 33"/>
          <p:cNvSpPr/>
          <p:nvPr/>
        </p:nvSpPr>
        <p:spPr>
          <a:xfrm>
            <a:off x="8595360" y="4297680"/>
            <a:ext cx="54864" cy="502920"/>
          </a:xfrm>
          <a:prstGeom prst="rect">
            <a:avLst/>
          </a:prstGeom>
          <a:solidFill>
            <a:srgbClr val="2A7F86"/>
          </a:solidFill>
          <a:ln/>
        </p:spPr>
      </p:sp>
      <p:sp>
        <p:nvSpPr>
          <p:cNvPr id="36" name="Text 34"/>
          <p:cNvSpPr txBox="1"/>
          <p:nvPr/>
        </p:nvSpPr>
        <p:spPr>
          <a:xfrm>
            <a:off x="8778240" y="4297680"/>
            <a:ext cx="2834640" cy="548640"/>
          </a:xfrm>
          <a:prstGeom prst="rect">
            <a:avLst/>
          </a:prstGeom>
          <a:noFill/>
          <a:ln/>
        </p:spPr>
        <p:txBody>
          <a:bodyPr wrap="square" lIns="0" tIns="0" rIns="0" bIns="0" rtlCol="0" anchor="ctr"/>
          <a:lstStyle/>
          <a:p>
            <a:pPr marL="0" indent="0">
              <a:buNone/>
            </a:pPr>
            <a:r>
              <a:rPr lang="en-US" sz="1300" dirty="0">
                <a:solidFill>
                  <a:srgbClr val="1F2328"/>
                </a:solidFill>
                <a:latin typeface="Calibri" pitchFamily="34" charset="0"/>
                <a:ea typeface="Calibri" pitchFamily="34" charset="-122"/>
                <a:cs typeface="Calibri" pitchFamily="34" charset="-120"/>
              </a:rPr>
              <a:t>Possible extension to other student accommodation (to be assessed)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100" b="1" kern="0" spc="300" dirty="0">
                <a:solidFill>
                  <a:srgbClr val="2A7F86"/>
                </a:solidFill>
                <a:latin typeface="Calibri" pitchFamily="34" charset="0"/>
                <a:ea typeface="Calibri" pitchFamily="34" charset="-122"/>
                <a:cs typeface="Calibri" pitchFamily="34" charset="-120"/>
              </a:rPr>
              <a:t>PROJECT REQUIREMENTS</a:t>
            </a:r>
            <a:endParaRPr lang="en-US" sz="1100" dirty="0"/>
          </a:p>
        </p:txBody>
      </p:sp>
      <p:sp>
        <p:nvSpPr>
          <p:cNvPr id="3" name="Text 1"/>
          <p:cNvSpPr txBox="1"/>
          <p:nvPr/>
        </p:nvSpPr>
        <p:spPr>
          <a:xfrm>
            <a:off x="548640" y="640080"/>
            <a:ext cx="11064240" cy="548640"/>
          </a:xfrm>
          <a:prstGeom prst="rect">
            <a:avLst/>
          </a:prstGeom>
          <a:noFill/>
          <a:ln/>
        </p:spPr>
        <p:txBody>
          <a:bodyPr wrap="square" lIns="0" tIns="0" rIns="0" bIns="0" rtlCol="0" anchor="t"/>
          <a:lstStyle/>
          <a:p>
            <a:pPr marL="0" indent="0">
              <a:buNone/>
            </a:pPr>
            <a:r>
              <a:rPr lang="en-US" sz="2700" b="1" dirty="0">
                <a:solidFill>
                  <a:srgbClr val="14263F"/>
                </a:solidFill>
                <a:latin typeface="Calibri" pitchFamily="34" charset="0"/>
                <a:ea typeface="Calibri" pitchFamily="34" charset="-122"/>
                <a:cs typeface="Calibri" pitchFamily="34" charset="-120"/>
              </a:rPr>
              <a:t>What the Project Needs</a:t>
            </a:r>
            <a:endParaRPr lang="en-US" sz="2700" dirty="0"/>
          </a:p>
        </p:txBody>
      </p:sp>
      <p:sp>
        <p:nvSpPr>
          <p:cNvPr id="4" name="Text 2"/>
          <p:cNvSpPr txBox="1"/>
          <p:nvPr/>
        </p:nvSpPr>
        <p:spPr>
          <a:xfrm>
            <a:off x="548640" y="1234440"/>
            <a:ext cx="11064240" cy="320040"/>
          </a:xfrm>
          <a:prstGeom prst="rect">
            <a:avLst/>
          </a:prstGeom>
          <a:noFill/>
          <a:ln/>
        </p:spPr>
        <p:txBody>
          <a:bodyPr wrap="square" lIns="0" tIns="0" rIns="0" bIns="0" rtlCol="0" anchor="t"/>
          <a:lstStyle/>
          <a:p>
            <a:pPr marL="0" indent="0">
              <a:buNone/>
            </a:pPr>
            <a:r>
              <a:rPr lang="en-US" sz="1400" dirty="0">
                <a:solidFill>
                  <a:srgbClr val="5F6672"/>
                </a:solidFill>
                <a:latin typeface="Calibri" pitchFamily="34" charset="0"/>
                <a:ea typeface="Calibri" pitchFamily="34" charset="-122"/>
                <a:cs typeface="Calibri" pitchFamily="34" charset="-120"/>
              </a:rPr>
              <a:t>Technology choices are proposed, not finalized.</a:t>
            </a:r>
            <a:endParaRPr lang="en-US" sz="1400" dirty="0"/>
          </a:p>
        </p:txBody>
      </p:sp>
      <p:sp>
        <p:nvSpPr>
          <p:cNvPr id="5" name="Text 3"/>
          <p:cNvSpPr txBox="1"/>
          <p:nvPr/>
        </p:nvSpPr>
        <p:spPr>
          <a:xfrm>
            <a:off x="548640" y="6492240"/>
            <a:ext cx="7315200" cy="228600"/>
          </a:xfrm>
          <a:prstGeom prst="rect">
            <a:avLst/>
          </a:prstGeom>
          <a:noFill/>
          <a:ln/>
        </p:spPr>
        <p:txBody>
          <a:bodyPr wrap="square" lIns="0" tIns="0" rIns="0" bIns="0" rtlCol="0" anchor="t"/>
          <a:lstStyle/>
          <a:p>
            <a:pPr marL="0" indent="0">
              <a:buNone/>
            </a:pPr>
            <a:r>
              <a:rPr lang="en-US" sz="900" dirty="0">
                <a:solidFill>
                  <a:srgbClr val="5F6672"/>
                </a:solidFill>
                <a:latin typeface="Calibri" pitchFamily="34" charset="0"/>
                <a:ea typeface="Calibri" pitchFamily="34" charset="-122"/>
                <a:cs typeface="Calibri" pitchFamily="34" charset="-120"/>
              </a:rPr>
              <a:t>SIT Tumakuru · Dept. of CSE · Community Project Phase-I, 2026–27</a:t>
            </a:r>
            <a:endParaRPr lang="en-US" sz="900" dirty="0"/>
          </a:p>
        </p:txBody>
      </p:sp>
      <p:sp>
        <p:nvSpPr>
          <p:cNvPr id="6" name="Text 4"/>
          <p:cNvSpPr txBox="1"/>
          <p:nvPr/>
        </p:nvSpPr>
        <p:spPr>
          <a:xfrm>
            <a:off x="11155680" y="6492240"/>
            <a:ext cx="457200" cy="228600"/>
          </a:xfrm>
          <a:prstGeom prst="rect">
            <a:avLst/>
          </a:prstGeom>
          <a:noFill/>
          <a:ln/>
        </p:spPr>
        <p:txBody>
          <a:bodyPr wrap="square" lIns="0" tIns="0" rIns="0" bIns="0" rtlCol="0" anchor="t"/>
          <a:lstStyle/>
          <a:p>
            <a:pPr marL="0" indent="0" algn="r">
              <a:buNone/>
            </a:pPr>
            <a:r>
              <a:rPr lang="en-US" sz="900" dirty="0">
                <a:solidFill>
                  <a:srgbClr val="5F6672"/>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548640" y="1737360"/>
            <a:ext cx="5440680" cy="2011680"/>
          </a:xfrm>
          <a:prstGeom prst="rect">
            <a:avLst/>
          </a:prstGeom>
          <a:solidFill>
            <a:srgbClr val="FFFFFF"/>
          </a:solidFill>
          <a:ln w="12700">
            <a:solidFill>
              <a:srgbClr val="D9D6CE"/>
            </a:solidFill>
            <a:prstDash val="solid"/>
          </a:ln>
        </p:spPr>
      </p:sp>
      <p:sp>
        <p:nvSpPr>
          <p:cNvPr id="8" name="Shape 6"/>
          <p:cNvSpPr/>
          <p:nvPr/>
        </p:nvSpPr>
        <p:spPr>
          <a:xfrm>
            <a:off x="548640" y="1737360"/>
            <a:ext cx="5440680" cy="54864"/>
          </a:xfrm>
          <a:prstGeom prst="rect">
            <a:avLst/>
          </a:prstGeom>
          <a:solidFill>
            <a:srgbClr val="2A7F86"/>
          </a:solidFill>
          <a:ln/>
        </p:spPr>
      </p:sp>
      <p:sp>
        <p:nvSpPr>
          <p:cNvPr id="9" name="Text 7"/>
          <p:cNvSpPr txBox="1"/>
          <p:nvPr/>
        </p:nvSpPr>
        <p:spPr>
          <a:xfrm>
            <a:off x="777240" y="1920240"/>
            <a:ext cx="4572000" cy="274320"/>
          </a:xfrm>
          <a:prstGeom prst="rect">
            <a:avLst/>
          </a:prstGeom>
          <a:noFill/>
          <a:ln/>
        </p:spPr>
        <p:txBody>
          <a:bodyPr wrap="square" lIns="0" tIns="0" rIns="0" bIns="0" rtlCol="0" anchor="t"/>
          <a:lstStyle/>
          <a:p>
            <a:pPr marL="0" indent="0">
              <a:buNone/>
            </a:pPr>
            <a:r>
              <a:rPr lang="en-US" sz="1200" b="1" kern="0" spc="200" dirty="0">
                <a:solidFill>
                  <a:srgbClr val="2A7F86"/>
                </a:solidFill>
                <a:latin typeface="Calibri" pitchFamily="34" charset="0"/>
                <a:ea typeface="Calibri" pitchFamily="34" charset="-122"/>
                <a:cs typeface="Calibri" pitchFamily="34" charset="-120"/>
              </a:rPr>
              <a:t>SOFTWARE</a:t>
            </a:r>
            <a:endParaRPr lang="en-US" sz="1200" dirty="0"/>
          </a:p>
        </p:txBody>
      </p:sp>
      <p:sp>
        <p:nvSpPr>
          <p:cNvPr id="10" name="Text 8"/>
          <p:cNvSpPr txBox="1"/>
          <p:nvPr/>
        </p:nvSpPr>
        <p:spPr>
          <a:xfrm>
            <a:off x="777240" y="2331720"/>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Web application: frontend + backend</a:t>
            </a:r>
            <a:endParaRPr lang="en-US" sz="1300" dirty="0"/>
          </a:p>
        </p:txBody>
      </p:sp>
      <p:sp>
        <p:nvSpPr>
          <p:cNvPr id="11" name="Text 9"/>
          <p:cNvSpPr txBox="1"/>
          <p:nvPr/>
        </p:nvSpPr>
        <p:spPr>
          <a:xfrm>
            <a:off x="777240" y="2670048"/>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Relational database (e.g., PostgreSQL — proposed)</a:t>
            </a:r>
            <a:endParaRPr lang="en-US" sz="1300" dirty="0"/>
          </a:p>
        </p:txBody>
      </p:sp>
      <p:sp>
        <p:nvSpPr>
          <p:cNvPr id="12" name="Text 10"/>
          <p:cNvSpPr txBox="1"/>
          <p:nvPr/>
        </p:nvSpPr>
        <p:spPr>
          <a:xfrm>
            <a:off x="777240" y="3008376"/>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Authentication and role-based authorization</a:t>
            </a:r>
            <a:endParaRPr lang="en-US" sz="1300" dirty="0"/>
          </a:p>
        </p:txBody>
      </p:sp>
      <p:sp>
        <p:nvSpPr>
          <p:cNvPr id="13" name="Text 11"/>
          <p:cNvSpPr txBox="1"/>
          <p:nvPr/>
        </p:nvSpPr>
        <p:spPr>
          <a:xfrm>
            <a:off x="777240" y="3346704"/>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Hosting / deployment environment</a:t>
            </a:r>
            <a:endParaRPr lang="en-US" sz="1300" dirty="0"/>
          </a:p>
        </p:txBody>
      </p:sp>
      <p:sp>
        <p:nvSpPr>
          <p:cNvPr id="14" name="Shape 12"/>
          <p:cNvSpPr/>
          <p:nvPr/>
        </p:nvSpPr>
        <p:spPr>
          <a:xfrm>
            <a:off x="6172200" y="1737360"/>
            <a:ext cx="5440680" cy="2011680"/>
          </a:xfrm>
          <a:prstGeom prst="rect">
            <a:avLst/>
          </a:prstGeom>
          <a:solidFill>
            <a:srgbClr val="FFFFFF"/>
          </a:solidFill>
          <a:ln w="12700">
            <a:solidFill>
              <a:srgbClr val="D9D6CE"/>
            </a:solidFill>
            <a:prstDash val="solid"/>
          </a:ln>
        </p:spPr>
      </p:sp>
      <p:sp>
        <p:nvSpPr>
          <p:cNvPr id="15" name="Shape 13"/>
          <p:cNvSpPr/>
          <p:nvPr/>
        </p:nvSpPr>
        <p:spPr>
          <a:xfrm>
            <a:off x="6172200" y="1737360"/>
            <a:ext cx="5440680" cy="54864"/>
          </a:xfrm>
          <a:prstGeom prst="rect">
            <a:avLst/>
          </a:prstGeom>
          <a:solidFill>
            <a:srgbClr val="2A7F86"/>
          </a:solidFill>
          <a:ln/>
        </p:spPr>
      </p:sp>
      <p:sp>
        <p:nvSpPr>
          <p:cNvPr id="16" name="Text 14"/>
          <p:cNvSpPr txBox="1"/>
          <p:nvPr/>
        </p:nvSpPr>
        <p:spPr>
          <a:xfrm>
            <a:off x="6400800" y="1920240"/>
            <a:ext cx="4572000" cy="274320"/>
          </a:xfrm>
          <a:prstGeom prst="rect">
            <a:avLst/>
          </a:prstGeom>
          <a:noFill/>
          <a:ln/>
        </p:spPr>
        <p:txBody>
          <a:bodyPr wrap="square" lIns="0" tIns="0" rIns="0" bIns="0" rtlCol="0" anchor="t"/>
          <a:lstStyle/>
          <a:p>
            <a:pPr marL="0" indent="0">
              <a:buNone/>
            </a:pPr>
            <a:r>
              <a:rPr lang="en-US" sz="1200" b="1" kern="0" spc="200" dirty="0">
                <a:solidFill>
                  <a:srgbClr val="2A7F86"/>
                </a:solidFill>
                <a:latin typeface="Calibri" pitchFamily="34" charset="0"/>
                <a:ea typeface="Calibri" pitchFamily="34" charset="-122"/>
                <a:cs typeface="Calibri" pitchFamily="34" charset="-120"/>
              </a:rPr>
              <a:t>HARDWARE &amp; INFRASTRUCTURE</a:t>
            </a:r>
            <a:endParaRPr lang="en-US" sz="1200" dirty="0"/>
          </a:p>
        </p:txBody>
      </p:sp>
      <p:sp>
        <p:nvSpPr>
          <p:cNvPr id="17" name="Text 15"/>
          <p:cNvSpPr txBox="1"/>
          <p:nvPr/>
        </p:nvSpPr>
        <p:spPr>
          <a:xfrm>
            <a:off x="6400800" y="2331720"/>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Developer laptops</a:t>
            </a:r>
            <a:endParaRPr lang="en-US" sz="1300" dirty="0"/>
          </a:p>
        </p:txBody>
      </p:sp>
      <p:sp>
        <p:nvSpPr>
          <p:cNvPr id="18" name="Text 16"/>
          <p:cNvSpPr txBox="1"/>
          <p:nvPr/>
        </p:nvSpPr>
        <p:spPr>
          <a:xfrm>
            <a:off x="6400800" y="2670048"/>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Reliable network access</a:t>
            </a:r>
            <a:endParaRPr lang="en-US" sz="1300" dirty="0"/>
          </a:p>
        </p:txBody>
      </p:sp>
      <p:sp>
        <p:nvSpPr>
          <p:cNvPr id="19" name="Text 17"/>
          <p:cNvSpPr txBox="1"/>
          <p:nvPr/>
        </p:nvSpPr>
        <p:spPr>
          <a:xfrm>
            <a:off x="6400800" y="3008376"/>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Test server or hosting resources</a:t>
            </a:r>
            <a:endParaRPr lang="en-US" sz="1300" dirty="0"/>
          </a:p>
        </p:txBody>
      </p:sp>
      <p:sp>
        <p:nvSpPr>
          <p:cNvPr id="20" name="Text 18"/>
          <p:cNvSpPr txBox="1"/>
          <p:nvPr/>
        </p:nvSpPr>
        <p:spPr>
          <a:xfrm>
            <a:off x="6400800" y="3346704"/>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Partner computers, if applicable</a:t>
            </a:r>
            <a:endParaRPr lang="en-US" sz="1300" dirty="0"/>
          </a:p>
        </p:txBody>
      </p:sp>
      <p:sp>
        <p:nvSpPr>
          <p:cNvPr id="21" name="Shape 19"/>
          <p:cNvSpPr/>
          <p:nvPr/>
        </p:nvSpPr>
        <p:spPr>
          <a:xfrm>
            <a:off x="548640" y="3931920"/>
            <a:ext cx="5440680" cy="2011680"/>
          </a:xfrm>
          <a:prstGeom prst="rect">
            <a:avLst/>
          </a:prstGeom>
          <a:solidFill>
            <a:srgbClr val="FFFFFF"/>
          </a:solidFill>
          <a:ln w="12700">
            <a:solidFill>
              <a:srgbClr val="D9D6CE"/>
            </a:solidFill>
            <a:prstDash val="solid"/>
          </a:ln>
        </p:spPr>
      </p:sp>
      <p:sp>
        <p:nvSpPr>
          <p:cNvPr id="22" name="Shape 20"/>
          <p:cNvSpPr/>
          <p:nvPr/>
        </p:nvSpPr>
        <p:spPr>
          <a:xfrm>
            <a:off x="548640" y="3931920"/>
            <a:ext cx="5440680" cy="54864"/>
          </a:xfrm>
          <a:prstGeom prst="rect">
            <a:avLst/>
          </a:prstGeom>
          <a:solidFill>
            <a:srgbClr val="2A7F86"/>
          </a:solidFill>
          <a:ln/>
        </p:spPr>
      </p:sp>
      <p:sp>
        <p:nvSpPr>
          <p:cNvPr id="23" name="Text 21"/>
          <p:cNvSpPr txBox="1"/>
          <p:nvPr/>
        </p:nvSpPr>
        <p:spPr>
          <a:xfrm>
            <a:off x="777240" y="4114800"/>
            <a:ext cx="4572000" cy="274320"/>
          </a:xfrm>
          <a:prstGeom prst="rect">
            <a:avLst/>
          </a:prstGeom>
          <a:noFill/>
          <a:ln/>
        </p:spPr>
        <p:txBody>
          <a:bodyPr wrap="square" lIns="0" tIns="0" rIns="0" bIns="0" rtlCol="0" anchor="t"/>
          <a:lstStyle/>
          <a:p>
            <a:pPr marL="0" indent="0">
              <a:buNone/>
            </a:pPr>
            <a:r>
              <a:rPr lang="en-US" sz="1200" b="1" kern="0" spc="200" dirty="0">
                <a:solidFill>
                  <a:srgbClr val="2A7F86"/>
                </a:solidFill>
                <a:latin typeface="Calibri" pitchFamily="34" charset="0"/>
                <a:ea typeface="Calibri" pitchFamily="34" charset="-122"/>
                <a:cs typeface="Calibri" pitchFamily="34" charset="-120"/>
              </a:rPr>
              <a:t>HUMAN RESOURCES</a:t>
            </a:r>
            <a:endParaRPr lang="en-US" sz="1200" dirty="0"/>
          </a:p>
        </p:txBody>
      </p:sp>
      <p:sp>
        <p:nvSpPr>
          <p:cNvPr id="24" name="Text 22"/>
          <p:cNvSpPr txBox="1"/>
          <p:nvPr/>
        </p:nvSpPr>
        <p:spPr>
          <a:xfrm>
            <a:off x="777240" y="4526280"/>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Student development team</a:t>
            </a:r>
            <a:endParaRPr lang="en-US" sz="1300" dirty="0"/>
          </a:p>
        </p:txBody>
      </p:sp>
      <p:sp>
        <p:nvSpPr>
          <p:cNvPr id="25" name="Text 23"/>
          <p:cNvSpPr txBox="1"/>
          <p:nvPr/>
        </p:nvSpPr>
        <p:spPr>
          <a:xfrm>
            <a:off x="777240" y="4864608"/>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Faculty guide</a:t>
            </a:r>
            <a:endParaRPr lang="en-US" sz="1300" dirty="0"/>
          </a:p>
        </p:txBody>
      </p:sp>
      <p:sp>
        <p:nvSpPr>
          <p:cNvPr id="26" name="Text 24"/>
          <p:cNvSpPr txBox="1"/>
          <p:nvPr/>
        </p:nvSpPr>
        <p:spPr>
          <a:xfrm>
            <a:off x="777240" y="5202936"/>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Hostel staff / community representatives</a:t>
            </a:r>
            <a:endParaRPr lang="en-US" sz="1300" dirty="0"/>
          </a:p>
        </p:txBody>
      </p:sp>
      <p:sp>
        <p:nvSpPr>
          <p:cNvPr id="27" name="Text 25"/>
          <p:cNvSpPr txBox="1"/>
          <p:nvPr/>
        </p:nvSpPr>
        <p:spPr>
          <a:xfrm>
            <a:off x="777240" y="5541264"/>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Volunteer users for feedback and testing</a:t>
            </a:r>
            <a:endParaRPr lang="en-US" sz="1300" dirty="0"/>
          </a:p>
        </p:txBody>
      </p:sp>
      <p:sp>
        <p:nvSpPr>
          <p:cNvPr id="28" name="Shape 26"/>
          <p:cNvSpPr/>
          <p:nvPr/>
        </p:nvSpPr>
        <p:spPr>
          <a:xfrm>
            <a:off x="6172200" y="3931920"/>
            <a:ext cx="5440680" cy="2011680"/>
          </a:xfrm>
          <a:prstGeom prst="rect">
            <a:avLst/>
          </a:prstGeom>
          <a:solidFill>
            <a:srgbClr val="FFFFFF"/>
          </a:solidFill>
          <a:ln w="12700">
            <a:solidFill>
              <a:srgbClr val="D9D6CE"/>
            </a:solidFill>
            <a:prstDash val="solid"/>
          </a:ln>
        </p:spPr>
      </p:sp>
      <p:sp>
        <p:nvSpPr>
          <p:cNvPr id="29" name="Shape 27"/>
          <p:cNvSpPr/>
          <p:nvPr/>
        </p:nvSpPr>
        <p:spPr>
          <a:xfrm>
            <a:off x="6172200" y="3931920"/>
            <a:ext cx="5440680" cy="54864"/>
          </a:xfrm>
          <a:prstGeom prst="rect">
            <a:avLst/>
          </a:prstGeom>
          <a:solidFill>
            <a:srgbClr val="2A7F86"/>
          </a:solidFill>
          <a:ln/>
        </p:spPr>
      </p:sp>
      <p:sp>
        <p:nvSpPr>
          <p:cNvPr id="30" name="Text 28"/>
          <p:cNvSpPr txBox="1"/>
          <p:nvPr/>
        </p:nvSpPr>
        <p:spPr>
          <a:xfrm>
            <a:off x="6400800" y="4114800"/>
            <a:ext cx="4572000" cy="274320"/>
          </a:xfrm>
          <a:prstGeom prst="rect">
            <a:avLst/>
          </a:prstGeom>
          <a:noFill/>
          <a:ln/>
        </p:spPr>
        <p:txBody>
          <a:bodyPr wrap="square" lIns="0" tIns="0" rIns="0" bIns="0" rtlCol="0" anchor="t"/>
          <a:lstStyle/>
          <a:p>
            <a:pPr marL="0" indent="0">
              <a:buNone/>
            </a:pPr>
            <a:r>
              <a:rPr lang="en-US" sz="1200" b="1" kern="0" spc="200" dirty="0">
                <a:solidFill>
                  <a:srgbClr val="2A7F86"/>
                </a:solidFill>
                <a:latin typeface="Calibri" pitchFamily="34" charset="0"/>
                <a:ea typeface="Calibri" pitchFamily="34" charset="-122"/>
                <a:cs typeface="Calibri" pitchFamily="34" charset="-120"/>
              </a:rPr>
              <a:t>DATA &amp; PERMISSIONS</a:t>
            </a:r>
            <a:endParaRPr lang="en-US" sz="1200" dirty="0"/>
          </a:p>
        </p:txBody>
      </p:sp>
      <p:sp>
        <p:nvSpPr>
          <p:cNvPr id="31" name="Text 29"/>
          <p:cNvSpPr txBox="1"/>
          <p:nvPr/>
        </p:nvSpPr>
        <p:spPr>
          <a:xfrm>
            <a:off x="6400800" y="4526280"/>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Approved floor plans and seat capacities</a:t>
            </a:r>
            <a:endParaRPr lang="en-US" sz="1300" dirty="0"/>
          </a:p>
        </p:txBody>
      </p:sp>
      <p:sp>
        <p:nvSpPr>
          <p:cNvPr id="32" name="Text 30"/>
          <p:cNvSpPr txBox="1"/>
          <p:nvPr/>
        </p:nvSpPr>
        <p:spPr>
          <a:xfrm>
            <a:off x="6400800" y="4864608"/>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Operational rules from the hostel</a:t>
            </a:r>
            <a:endParaRPr lang="en-US" sz="1300" dirty="0"/>
          </a:p>
        </p:txBody>
      </p:sp>
      <p:sp>
        <p:nvSpPr>
          <p:cNvPr id="33" name="Text 31"/>
          <p:cNvSpPr txBox="1"/>
          <p:nvPr/>
        </p:nvSpPr>
        <p:spPr>
          <a:xfrm>
            <a:off x="6400800" y="5202936"/>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Permission for surveys / interviews</a:t>
            </a:r>
            <a:endParaRPr lang="en-US" sz="1300" dirty="0"/>
          </a:p>
        </p:txBody>
      </p:sp>
      <p:sp>
        <p:nvSpPr>
          <p:cNvPr id="34" name="Text 32"/>
          <p:cNvSpPr txBox="1"/>
          <p:nvPr/>
        </p:nvSpPr>
        <p:spPr>
          <a:xfrm>
            <a:off x="6400800" y="5541264"/>
            <a:ext cx="5029200" cy="320040"/>
          </a:xfrm>
          <a:prstGeom prst="rect">
            <a:avLst/>
          </a:prstGeom>
          <a:noFill/>
          <a:ln/>
        </p:spPr>
        <p:txBody>
          <a:bodyPr wrap="square" lIns="0" tIns="0" rIns="0" bIns="0" rtlCol="0" anchor="t"/>
          <a:lstStyle/>
          <a:p>
            <a:pPr marL="0" indent="0">
              <a:buNone/>
            </a:pPr>
            <a:r>
              <a:rPr lang="en-US" sz="1300" dirty="0">
                <a:solidFill>
                  <a:srgbClr val="1F2328"/>
                </a:solidFill>
                <a:latin typeface="Calibri" pitchFamily="34" charset="0"/>
                <a:ea typeface="Calibri" pitchFamily="34" charset="-122"/>
                <a:cs typeface="Calibri" pitchFamily="34" charset="-120"/>
              </a:rPr>
              <a:t>·  Consent and privacy safeguards</a:t>
            </a:r>
            <a:endParaRPr lang="en-US" sz="1300" dirty="0"/>
          </a:p>
        </p:txBody>
      </p:sp>
      <p:sp>
        <p:nvSpPr>
          <p:cNvPr id="35" name="Text 33"/>
          <p:cNvSpPr txBox="1"/>
          <p:nvPr/>
        </p:nvSpPr>
        <p:spPr>
          <a:xfrm>
            <a:off x="548640" y="6217920"/>
            <a:ext cx="11064240" cy="228600"/>
          </a:xfrm>
          <a:prstGeom prst="rect">
            <a:avLst/>
          </a:prstGeom>
          <a:noFill/>
          <a:ln/>
        </p:spPr>
        <p:txBody>
          <a:bodyPr wrap="square" lIns="0" tIns="0" rIns="0" bIns="0" rtlCol="0" anchor="t"/>
          <a:lstStyle/>
          <a:p>
            <a:pPr marL="0" indent="0">
              <a:buNone/>
            </a:pPr>
            <a:r>
              <a:rPr lang="en-US" sz="900" i="1" dirty="0">
                <a:solidFill>
                  <a:srgbClr val="5F6672"/>
                </a:solidFill>
                <a:latin typeface="Calibri" pitchFamily="34" charset="0"/>
                <a:ea typeface="Calibri" pitchFamily="34" charset="-122"/>
                <a:cs typeface="Calibri" pitchFamily="34" charset="-120"/>
              </a:rPr>
              <a:t>Privacy safeguards to follow the Digital Personal Data Protection Act, 2023 [13]; legal applicability to be confirmed with the institution.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100" b="1" kern="0" spc="300" dirty="0">
                <a:solidFill>
                  <a:srgbClr val="2A7F86"/>
                </a:solidFill>
                <a:latin typeface="Calibri" pitchFamily="34" charset="0"/>
                <a:ea typeface="Calibri" pitchFamily="34" charset="-122"/>
                <a:cs typeface="Calibri" pitchFamily="34" charset="-120"/>
              </a:rPr>
              <a:t>PROJECT EXECUTION PLAN</a:t>
            </a:r>
            <a:endParaRPr lang="en-US" sz="1100" dirty="0"/>
          </a:p>
        </p:txBody>
      </p:sp>
      <p:sp>
        <p:nvSpPr>
          <p:cNvPr id="3" name="Text 1"/>
          <p:cNvSpPr txBox="1"/>
          <p:nvPr/>
        </p:nvSpPr>
        <p:spPr>
          <a:xfrm>
            <a:off x="548640" y="640080"/>
            <a:ext cx="11064240" cy="548640"/>
          </a:xfrm>
          <a:prstGeom prst="rect">
            <a:avLst/>
          </a:prstGeom>
          <a:noFill/>
          <a:ln/>
        </p:spPr>
        <p:txBody>
          <a:bodyPr wrap="square" lIns="0" tIns="0" rIns="0" bIns="0" rtlCol="0" anchor="t"/>
          <a:lstStyle/>
          <a:p>
            <a:pPr marL="0" indent="0">
              <a:buNone/>
            </a:pPr>
            <a:r>
              <a:rPr lang="en-US" sz="2700" b="1" dirty="0">
                <a:solidFill>
                  <a:srgbClr val="14263F"/>
                </a:solidFill>
                <a:latin typeface="Calibri" pitchFamily="34" charset="0"/>
                <a:ea typeface="Calibri" pitchFamily="34" charset="-122"/>
                <a:cs typeface="Calibri" pitchFamily="34" charset="-120"/>
              </a:rPr>
              <a:t>Proposed Schedule and Review Points</a:t>
            </a:r>
            <a:endParaRPr lang="en-US" sz="2700" dirty="0"/>
          </a:p>
        </p:txBody>
      </p:sp>
      <p:sp>
        <p:nvSpPr>
          <p:cNvPr id="4" name="Text 2"/>
          <p:cNvSpPr txBox="1"/>
          <p:nvPr/>
        </p:nvSpPr>
        <p:spPr>
          <a:xfrm>
            <a:off x="548640" y="6492240"/>
            <a:ext cx="7315200" cy="228600"/>
          </a:xfrm>
          <a:prstGeom prst="rect">
            <a:avLst/>
          </a:prstGeom>
          <a:noFill/>
          <a:ln/>
        </p:spPr>
        <p:txBody>
          <a:bodyPr wrap="square" lIns="0" tIns="0" rIns="0" bIns="0" rtlCol="0" anchor="t"/>
          <a:lstStyle/>
          <a:p>
            <a:pPr marL="0" indent="0">
              <a:buNone/>
            </a:pPr>
            <a:r>
              <a:rPr lang="en-US" sz="900" dirty="0">
                <a:solidFill>
                  <a:srgbClr val="5F6672"/>
                </a:solidFill>
                <a:latin typeface="Calibri" pitchFamily="34" charset="0"/>
                <a:ea typeface="Calibri" pitchFamily="34" charset="-122"/>
                <a:cs typeface="Calibri" pitchFamily="34" charset="-120"/>
              </a:rPr>
              <a:t>SIT Tumakuru · Dept. of CSE · Community Project Phase-I, 2026–27</a:t>
            </a:r>
            <a:endParaRPr lang="en-US" sz="900" dirty="0"/>
          </a:p>
        </p:txBody>
      </p:sp>
      <p:sp>
        <p:nvSpPr>
          <p:cNvPr id="5" name="Text 3"/>
          <p:cNvSpPr txBox="1"/>
          <p:nvPr/>
        </p:nvSpPr>
        <p:spPr>
          <a:xfrm>
            <a:off x="11155680" y="6492240"/>
            <a:ext cx="457200" cy="228600"/>
          </a:xfrm>
          <a:prstGeom prst="rect">
            <a:avLst/>
          </a:prstGeom>
          <a:noFill/>
          <a:ln/>
        </p:spPr>
        <p:txBody>
          <a:bodyPr wrap="square" lIns="0" tIns="0" rIns="0" bIns="0" rtlCol="0" anchor="t"/>
          <a:lstStyle/>
          <a:p>
            <a:pPr marL="0" indent="0" algn="r">
              <a:buNone/>
            </a:pPr>
            <a:r>
              <a:rPr lang="en-US" sz="900" dirty="0">
                <a:solidFill>
                  <a:srgbClr val="5F6672"/>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7680960" y="411480"/>
            <a:ext cx="3931920" cy="256032"/>
          </a:xfrm>
          <a:prstGeom prst="rect">
            <a:avLst/>
          </a:prstGeom>
          <a:solidFill>
            <a:srgbClr val="FFFFFF"/>
          </a:solidFill>
          <a:ln w="12700">
            <a:solidFill>
              <a:srgbClr val="B7791F"/>
            </a:solidFill>
            <a:prstDash val="solid"/>
          </a:ln>
        </p:spPr>
      </p:sp>
      <p:sp>
        <p:nvSpPr>
          <p:cNvPr id="7" name="Text 5"/>
          <p:cNvSpPr txBox="1"/>
          <p:nvPr/>
        </p:nvSpPr>
        <p:spPr>
          <a:xfrm>
            <a:off x="7726680" y="411480"/>
            <a:ext cx="3840480" cy="256032"/>
          </a:xfrm>
          <a:prstGeom prst="rect">
            <a:avLst/>
          </a:prstGeom>
          <a:noFill/>
          <a:ln/>
        </p:spPr>
        <p:txBody>
          <a:bodyPr wrap="square" lIns="0" tIns="0" rIns="0" bIns="0" rtlCol="0" anchor="ctr"/>
          <a:lstStyle/>
          <a:p>
            <a:pPr marL="0" indent="0" algn="ctr">
              <a:buNone/>
            </a:pPr>
            <a:r>
              <a:rPr lang="en-US" sz="900" b="1" dirty="0">
                <a:solidFill>
                  <a:srgbClr val="B7791F"/>
                </a:solidFill>
                <a:latin typeface="Calibri" pitchFamily="34" charset="0"/>
                <a:ea typeface="Calibri" pitchFamily="34" charset="-122"/>
                <a:cs typeface="Calibri" pitchFamily="34" charset="-120"/>
              </a:rPr>
              <a:t>PROPOSED RELATIVE SCHEDULE — ALL TASKS PLANNED</a:t>
            </a:r>
            <a:endParaRPr lang="en-US" sz="900" dirty="0"/>
          </a:p>
        </p:txBody>
      </p:sp>
      <p:sp>
        <p:nvSpPr>
          <p:cNvPr id="8" name="Text 6"/>
          <p:cNvSpPr txBox="1"/>
          <p:nvPr/>
        </p:nvSpPr>
        <p:spPr>
          <a:xfrm>
            <a:off x="3840480" y="1691640"/>
            <a:ext cx="777240" cy="274320"/>
          </a:xfrm>
          <a:prstGeom prst="rect">
            <a:avLst/>
          </a:prstGeom>
          <a:noFill/>
          <a:ln/>
        </p:spPr>
        <p:txBody>
          <a:bodyPr wrap="square" lIns="0" tIns="0" rIns="0" bIns="0" rtlCol="0" anchor="t"/>
          <a:lstStyle/>
          <a:p>
            <a:pPr marL="0" indent="0" algn="ctr">
              <a:buNone/>
            </a:pPr>
            <a:r>
              <a:rPr lang="en-US" sz="1100" b="1" dirty="0">
                <a:solidFill>
                  <a:srgbClr val="5F6672"/>
                </a:solidFill>
                <a:latin typeface="Calibri" pitchFamily="34" charset="0"/>
                <a:ea typeface="Calibri" pitchFamily="34" charset="-122"/>
                <a:cs typeface="Calibri" pitchFamily="34" charset="-120"/>
              </a:rPr>
              <a:t>W1</a:t>
            </a:r>
            <a:endParaRPr lang="en-US" sz="1100" dirty="0"/>
          </a:p>
        </p:txBody>
      </p:sp>
      <p:sp>
        <p:nvSpPr>
          <p:cNvPr id="9" name="Shape 7"/>
          <p:cNvSpPr/>
          <p:nvPr/>
        </p:nvSpPr>
        <p:spPr>
          <a:xfrm>
            <a:off x="3840480" y="2011680"/>
            <a:ext cx="4572" cy="3657600"/>
          </a:xfrm>
          <a:prstGeom prst="rect">
            <a:avLst/>
          </a:prstGeom>
          <a:solidFill>
            <a:srgbClr val="D9D6CE"/>
          </a:solidFill>
          <a:ln/>
        </p:spPr>
      </p:sp>
      <p:sp>
        <p:nvSpPr>
          <p:cNvPr id="10" name="Text 8"/>
          <p:cNvSpPr txBox="1"/>
          <p:nvPr/>
        </p:nvSpPr>
        <p:spPr>
          <a:xfrm>
            <a:off x="4617720" y="1691640"/>
            <a:ext cx="777240" cy="274320"/>
          </a:xfrm>
          <a:prstGeom prst="rect">
            <a:avLst/>
          </a:prstGeom>
          <a:noFill/>
          <a:ln/>
        </p:spPr>
        <p:txBody>
          <a:bodyPr wrap="square" lIns="0" tIns="0" rIns="0" bIns="0" rtlCol="0" anchor="t"/>
          <a:lstStyle/>
          <a:p>
            <a:pPr marL="0" indent="0" algn="ctr">
              <a:buNone/>
            </a:pPr>
            <a:r>
              <a:rPr lang="en-US" sz="1100" b="1" dirty="0">
                <a:solidFill>
                  <a:srgbClr val="5F6672"/>
                </a:solidFill>
                <a:latin typeface="Calibri" pitchFamily="34" charset="0"/>
                <a:ea typeface="Calibri" pitchFamily="34" charset="-122"/>
                <a:cs typeface="Calibri" pitchFamily="34" charset="-120"/>
              </a:rPr>
              <a:t>W2</a:t>
            </a:r>
            <a:endParaRPr lang="en-US" sz="1100" dirty="0"/>
          </a:p>
        </p:txBody>
      </p:sp>
      <p:sp>
        <p:nvSpPr>
          <p:cNvPr id="11" name="Shape 9"/>
          <p:cNvSpPr/>
          <p:nvPr/>
        </p:nvSpPr>
        <p:spPr>
          <a:xfrm>
            <a:off x="4617720" y="2011680"/>
            <a:ext cx="4572" cy="3657600"/>
          </a:xfrm>
          <a:prstGeom prst="rect">
            <a:avLst/>
          </a:prstGeom>
          <a:solidFill>
            <a:srgbClr val="D9D6CE"/>
          </a:solidFill>
          <a:ln/>
        </p:spPr>
      </p:sp>
      <p:sp>
        <p:nvSpPr>
          <p:cNvPr id="12" name="Text 10"/>
          <p:cNvSpPr txBox="1"/>
          <p:nvPr/>
        </p:nvSpPr>
        <p:spPr>
          <a:xfrm>
            <a:off x="5394960" y="1691640"/>
            <a:ext cx="777240" cy="274320"/>
          </a:xfrm>
          <a:prstGeom prst="rect">
            <a:avLst/>
          </a:prstGeom>
          <a:noFill/>
          <a:ln/>
        </p:spPr>
        <p:txBody>
          <a:bodyPr wrap="square" lIns="0" tIns="0" rIns="0" bIns="0" rtlCol="0" anchor="t"/>
          <a:lstStyle/>
          <a:p>
            <a:pPr marL="0" indent="0" algn="ctr">
              <a:buNone/>
            </a:pPr>
            <a:r>
              <a:rPr lang="en-US" sz="1100" b="1" dirty="0">
                <a:solidFill>
                  <a:srgbClr val="5F6672"/>
                </a:solidFill>
                <a:latin typeface="Calibri" pitchFamily="34" charset="0"/>
                <a:ea typeface="Calibri" pitchFamily="34" charset="-122"/>
                <a:cs typeface="Calibri" pitchFamily="34" charset="-120"/>
              </a:rPr>
              <a:t>W3</a:t>
            </a:r>
            <a:endParaRPr lang="en-US" sz="1100" dirty="0"/>
          </a:p>
        </p:txBody>
      </p:sp>
      <p:sp>
        <p:nvSpPr>
          <p:cNvPr id="13" name="Shape 11"/>
          <p:cNvSpPr/>
          <p:nvPr/>
        </p:nvSpPr>
        <p:spPr>
          <a:xfrm>
            <a:off x="5394960" y="2011680"/>
            <a:ext cx="4572" cy="3657600"/>
          </a:xfrm>
          <a:prstGeom prst="rect">
            <a:avLst/>
          </a:prstGeom>
          <a:solidFill>
            <a:srgbClr val="D9D6CE"/>
          </a:solidFill>
          <a:ln/>
        </p:spPr>
      </p:sp>
      <p:sp>
        <p:nvSpPr>
          <p:cNvPr id="14" name="Text 12"/>
          <p:cNvSpPr txBox="1"/>
          <p:nvPr/>
        </p:nvSpPr>
        <p:spPr>
          <a:xfrm>
            <a:off x="6172200" y="1691640"/>
            <a:ext cx="777240" cy="274320"/>
          </a:xfrm>
          <a:prstGeom prst="rect">
            <a:avLst/>
          </a:prstGeom>
          <a:noFill/>
          <a:ln/>
        </p:spPr>
        <p:txBody>
          <a:bodyPr wrap="square" lIns="0" tIns="0" rIns="0" bIns="0" rtlCol="0" anchor="t"/>
          <a:lstStyle/>
          <a:p>
            <a:pPr marL="0" indent="0" algn="ctr">
              <a:buNone/>
            </a:pPr>
            <a:r>
              <a:rPr lang="en-US" sz="1100" b="1" dirty="0">
                <a:solidFill>
                  <a:srgbClr val="5F6672"/>
                </a:solidFill>
                <a:latin typeface="Calibri" pitchFamily="34" charset="0"/>
                <a:ea typeface="Calibri" pitchFamily="34" charset="-122"/>
                <a:cs typeface="Calibri" pitchFamily="34" charset="-120"/>
              </a:rPr>
              <a:t>W4</a:t>
            </a:r>
            <a:endParaRPr lang="en-US" sz="1100" dirty="0"/>
          </a:p>
        </p:txBody>
      </p:sp>
      <p:sp>
        <p:nvSpPr>
          <p:cNvPr id="15" name="Shape 13"/>
          <p:cNvSpPr/>
          <p:nvPr/>
        </p:nvSpPr>
        <p:spPr>
          <a:xfrm>
            <a:off x="6172200" y="2011680"/>
            <a:ext cx="4572" cy="3657600"/>
          </a:xfrm>
          <a:prstGeom prst="rect">
            <a:avLst/>
          </a:prstGeom>
          <a:solidFill>
            <a:srgbClr val="D9D6CE"/>
          </a:solidFill>
          <a:ln/>
        </p:spPr>
      </p:sp>
      <p:sp>
        <p:nvSpPr>
          <p:cNvPr id="16" name="Text 14"/>
          <p:cNvSpPr txBox="1"/>
          <p:nvPr/>
        </p:nvSpPr>
        <p:spPr>
          <a:xfrm>
            <a:off x="6949440" y="1691640"/>
            <a:ext cx="777240" cy="274320"/>
          </a:xfrm>
          <a:prstGeom prst="rect">
            <a:avLst/>
          </a:prstGeom>
          <a:noFill/>
          <a:ln/>
        </p:spPr>
        <p:txBody>
          <a:bodyPr wrap="square" lIns="0" tIns="0" rIns="0" bIns="0" rtlCol="0" anchor="t"/>
          <a:lstStyle/>
          <a:p>
            <a:pPr marL="0" indent="0" algn="ctr">
              <a:buNone/>
            </a:pPr>
            <a:r>
              <a:rPr lang="en-US" sz="1100" b="1" dirty="0">
                <a:solidFill>
                  <a:srgbClr val="5F6672"/>
                </a:solidFill>
                <a:latin typeface="Calibri" pitchFamily="34" charset="0"/>
                <a:ea typeface="Calibri" pitchFamily="34" charset="-122"/>
                <a:cs typeface="Calibri" pitchFamily="34" charset="-120"/>
              </a:rPr>
              <a:t>W5</a:t>
            </a:r>
            <a:endParaRPr lang="en-US" sz="1100" dirty="0"/>
          </a:p>
        </p:txBody>
      </p:sp>
      <p:sp>
        <p:nvSpPr>
          <p:cNvPr id="17" name="Shape 15"/>
          <p:cNvSpPr/>
          <p:nvPr/>
        </p:nvSpPr>
        <p:spPr>
          <a:xfrm>
            <a:off x="6949440" y="2011680"/>
            <a:ext cx="4572" cy="3657600"/>
          </a:xfrm>
          <a:prstGeom prst="rect">
            <a:avLst/>
          </a:prstGeom>
          <a:solidFill>
            <a:srgbClr val="D9D6CE"/>
          </a:solidFill>
          <a:ln/>
        </p:spPr>
      </p:sp>
      <p:sp>
        <p:nvSpPr>
          <p:cNvPr id="18" name="Text 16"/>
          <p:cNvSpPr txBox="1"/>
          <p:nvPr/>
        </p:nvSpPr>
        <p:spPr>
          <a:xfrm>
            <a:off x="7726680" y="1691640"/>
            <a:ext cx="777240" cy="274320"/>
          </a:xfrm>
          <a:prstGeom prst="rect">
            <a:avLst/>
          </a:prstGeom>
          <a:noFill/>
          <a:ln/>
        </p:spPr>
        <p:txBody>
          <a:bodyPr wrap="square" lIns="0" tIns="0" rIns="0" bIns="0" rtlCol="0" anchor="t"/>
          <a:lstStyle/>
          <a:p>
            <a:pPr marL="0" indent="0" algn="ctr">
              <a:buNone/>
            </a:pPr>
            <a:r>
              <a:rPr lang="en-US" sz="1100" b="1" dirty="0">
                <a:solidFill>
                  <a:srgbClr val="5F6672"/>
                </a:solidFill>
                <a:latin typeface="Calibri" pitchFamily="34" charset="0"/>
                <a:ea typeface="Calibri" pitchFamily="34" charset="-122"/>
                <a:cs typeface="Calibri" pitchFamily="34" charset="-120"/>
              </a:rPr>
              <a:t>W6</a:t>
            </a:r>
            <a:endParaRPr lang="en-US" sz="1100" dirty="0"/>
          </a:p>
        </p:txBody>
      </p:sp>
      <p:sp>
        <p:nvSpPr>
          <p:cNvPr id="19" name="Shape 17"/>
          <p:cNvSpPr/>
          <p:nvPr/>
        </p:nvSpPr>
        <p:spPr>
          <a:xfrm>
            <a:off x="7726680" y="2011680"/>
            <a:ext cx="4572" cy="3657600"/>
          </a:xfrm>
          <a:prstGeom prst="rect">
            <a:avLst/>
          </a:prstGeom>
          <a:solidFill>
            <a:srgbClr val="D9D6CE"/>
          </a:solidFill>
          <a:ln/>
        </p:spPr>
      </p:sp>
      <p:sp>
        <p:nvSpPr>
          <p:cNvPr id="20" name="Text 18"/>
          <p:cNvSpPr txBox="1"/>
          <p:nvPr/>
        </p:nvSpPr>
        <p:spPr>
          <a:xfrm>
            <a:off x="8503920" y="1691640"/>
            <a:ext cx="777240" cy="274320"/>
          </a:xfrm>
          <a:prstGeom prst="rect">
            <a:avLst/>
          </a:prstGeom>
          <a:noFill/>
          <a:ln/>
        </p:spPr>
        <p:txBody>
          <a:bodyPr wrap="square" lIns="0" tIns="0" rIns="0" bIns="0" rtlCol="0" anchor="t"/>
          <a:lstStyle/>
          <a:p>
            <a:pPr marL="0" indent="0" algn="ctr">
              <a:buNone/>
            </a:pPr>
            <a:r>
              <a:rPr lang="en-US" sz="1100" b="1" dirty="0">
                <a:solidFill>
                  <a:srgbClr val="5F6672"/>
                </a:solidFill>
                <a:latin typeface="Calibri" pitchFamily="34" charset="0"/>
                <a:ea typeface="Calibri" pitchFamily="34" charset="-122"/>
                <a:cs typeface="Calibri" pitchFamily="34" charset="-120"/>
              </a:rPr>
              <a:t>W7</a:t>
            </a:r>
            <a:endParaRPr lang="en-US" sz="1100" dirty="0"/>
          </a:p>
        </p:txBody>
      </p:sp>
      <p:sp>
        <p:nvSpPr>
          <p:cNvPr id="21" name="Shape 19"/>
          <p:cNvSpPr/>
          <p:nvPr/>
        </p:nvSpPr>
        <p:spPr>
          <a:xfrm>
            <a:off x="8503920" y="2011680"/>
            <a:ext cx="4572" cy="3657600"/>
          </a:xfrm>
          <a:prstGeom prst="rect">
            <a:avLst/>
          </a:prstGeom>
          <a:solidFill>
            <a:srgbClr val="D9D6CE"/>
          </a:solidFill>
          <a:ln/>
        </p:spPr>
      </p:sp>
      <p:sp>
        <p:nvSpPr>
          <p:cNvPr id="22" name="Text 20"/>
          <p:cNvSpPr txBox="1"/>
          <p:nvPr/>
        </p:nvSpPr>
        <p:spPr>
          <a:xfrm>
            <a:off x="9281160" y="1691640"/>
            <a:ext cx="777240" cy="274320"/>
          </a:xfrm>
          <a:prstGeom prst="rect">
            <a:avLst/>
          </a:prstGeom>
          <a:noFill/>
          <a:ln/>
        </p:spPr>
        <p:txBody>
          <a:bodyPr wrap="square" lIns="0" tIns="0" rIns="0" bIns="0" rtlCol="0" anchor="t"/>
          <a:lstStyle/>
          <a:p>
            <a:pPr marL="0" indent="0" algn="ctr">
              <a:buNone/>
            </a:pPr>
            <a:r>
              <a:rPr lang="en-US" sz="1100" b="1" dirty="0">
                <a:solidFill>
                  <a:srgbClr val="5F6672"/>
                </a:solidFill>
                <a:latin typeface="Calibri" pitchFamily="34" charset="0"/>
                <a:ea typeface="Calibri" pitchFamily="34" charset="-122"/>
                <a:cs typeface="Calibri" pitchFamily="34" charset="-120"/>
              </a:rPr>
              <a:t>W8</a:t>
            </a:r>
            <a:endParaRPr lang="en-US" sz="1100" dirty="0"/>
          </a:p>
        </p:txBody>
      </p:sp>
      <p:sp>
        <p:nvSpPr>
          <p:cNvPr id="23" name="Shape 21"/>
          <p:cNvSpPr/>
          <p:nvPr/>
        </p:nvSpPr>
        <p:spPr>
          <a:xfrm>
            <a:off x="9281160" y="2011680"/>
            <a:ext cx="4572" cy="3657600"/>
          </a:xfrm>
          <a:prstGeom prst="rect">
            <a:avLst/>
          </a:prstGeom>
          <a:solidFill>
            <a:srgbClr val="D9D6CE"/>
          </a:solidFill>
          <a:ln/>
        </p:spPr>
      </p:sp>
      <p:sp>
        <p:nvSpPr>
          <p:cNvPr id="24" name="Text 22"/>
          <p:cNvSpPr txBox="1"/>
          <p:nvPr/>
        </p:nvSpPr>
        <p:spPr>
          <a:xfrm>
            <a:off x="10058400" y="1691640"/>
            <a:ext cx="777240" cy="274320"/>
          </a:xfrm>
          <a:prstGeom prst="rect">
            <a:avLst/>
          </a:prstGeom>
          <a:noFill/>
          <a:ln/>
        </p:spPr>
        <p:txBody>
          <a:bodyPr wrap="square" lIns="0" tIns="0" rIns="0" bIns="0" rtlCol="0" anchor="t"/>
          <a:lstStyle/>
          <a:p>
            <a:pPr marL="0" indent="0" algn="ctr">
              <a:buNone/>
            </a:pPr>
            <a:r>
              <a:rPr lang="en-US" sz="1100" b="1" dirty="0">
                <a:solidFill>
                  <a:srgbClr val="5F6672"/>
                </a:solidFill>
                <a:latin typeface="Calibri" pitchFamily="34" charset="0"/>
                <a:ea typeface="Calibri" pitchFamily="34" charset="-122"/>
                <a:cs typeface="Calibri" pitchFamily="34" charset="-120"/>
              </a:rPr>
              <a:t>W9</a:t>
            </a:r>
            <a:endParaRPr lang="en-US" sz="1100" dirty="0"/>
          </a:p>
        </p:txBody>
      </p:sp>
      <p:sp>
        <p:nvSpPr>
          <p:cNvPr id="25" name="Shape 23"/>
          <p:cNvSpPr/>
          <p:nvPr/>
        </p:nvSpPr>
        <p:spPr>
          <a:xfrm>
            <a:off x="10058400" y="2011680"/>
            <a:ext cx="4572" cy="3657600"/>
          </a:xfrm>
          <a:prstGeom prst="rect">
            <a:avLst/>
          </a:prstGeom>
          <a:solidFill>
            <a:srgbClr val="D9D6CE"/>
          </a:solidFill>
          <a:ln/>
        </p:spPr>
      </p:sp>
      <p:sp>
        <p:nvSpPr>
          <p:cNvPr id="26" name="Text 24"/>
          <p:cNvSpPr txBox="1"/>
          <p:nvPr/>
        </p:nvSpPr>
        <p:spPr>
          <a:xfrm>
            <a:off x="10835640" y="1691640"/>
            <a:ext cx="777240" cy="274320"/>
          </a:xfrm>
          <a:prstGeom prst="rect">
            <a:avLst/>
          </a:prstGeom>
          <a:noFill/>
          <a:ln/>
        </p:spPr>
        <p:txBody>
          <a:bodyPr wrap="square" lIns="0" tIns="0" rIns="0" bIns="0" rtlCol="0" anchor="t"/>
          <a:lstStyle/>
          <a:p>
            <a:pPr marL="0" indent="0" algn="ctr">
              <a:buNone/>
            </a:pPr>
            <a:r>
              <a:rPr lang="en-US" sz="1100" b="1" dirty="0">
                <a:solidFill>
                  <a:srgbClr val="5F6672"/>
                </a:solidFill>
                <a:latin typeface="Calibri" pitchFamily="34" charset="0"/>
                <a:ea typeface="Calibri" pitchFamily="34" charset="-122"/>
                <a:cs typeface="Calibri" pitchFamily="34" charset="-120"/>
              </a:rPr>
              <a:t>W10</a:t>
            </a:r>
            <a:endParaRPr lang="en-US" sz="1100" dirty="0"/>
          </a:p>
        </p:txBody>
      </p:sp>
      <p:sp>
        <p:nvSpPr>
          <p:cNvPr id="27" name="Shape 25"/>
          <p:cNvSpPr/>
          <p:nvPr/>
        </p:nvSpPr>
        <p:spPr>
          <a:xfrm>
            <a:off x="10835640" y="2011680"/>
            <a:ext cx="4572" cy="3657600"/>
          </a:xfrm>
          <a:prstGeom prst="rect">
            <a:avLst/>
          </a:prstGeom>
          <a:solidFill>
            <a:srgbClr val="D9D6CE"/>
          </a:solidFill>
          <a:ln/>
        </p:spPr>
      </p:sp>
      <p:sp>
        <p:nvSpPr>
          <p:cNvPr id="28" name="Text 26"/>
          <p:cNvSpPr txBox="1"/>
          <p:nvPr/>
        </p:nvSpPr>
        <p:spPr>
          <a:xfrm>
            <a:off x="548640" y="2103120"/>
            <a:ext cx="3200400" cy="347472"/>
          </a:xfrm>
          <a:prstGeom prst="rect">
            <a:avLst/>
          </a:prstGeom>
          <a:noFill/>
          <a:ln/>
        </p:spPr>
        <p:txBody>
          <a:bodyPr wrap="square" lIns="0" tIns="0" rIns="0" bIns="0" rtlCol="0" anchor="ctr"/>
          <a:lstStyle/>
          <a:p>
            <a:pPr marL="0" indent="0">
              <a:buNone/>
            </a:pPr>
            <a:r>
              <a:rPr lang="en-US" sz="1100" dirty="0">
                <a:solidFill>
                  <a:srgbClr val="1F2328"/>
                </a:solidFill>
                <a:latin typeface="Calibri" pitchFamily="34" charset="0"/>
                <a:ea typeface="Calibri" pitchFamily="34" charset="-122"/>
                <a:cs typeface="Calibri" pitchFamily="34" charset="-120"/>
              </a:rPr>
              <a:t>1  Community interaction + requirements</a:t>
            </a:r>
            <a:endParaRPr lang="en-US" sz="1100" dirty="0"/>
          </a:p>
        </p:txBody>
      </p:sp>
      <p:sp>
        <p:nvSpPr>
          <p:cNvPr id="29" name="Shape 27"/>
          <p:cNvSpPr/>
          <p:nvPr/>
        </p:nvSpPr>
        <p:spPr>
          <a:xfrm>
            <a:off x="3840480" y="2139696"/>
            <a:ext cx="1499616" cy="274320"/>
          </a:xfrm>
          <a:prstGeom prst="rect">
            <a:avLst/>
          </a:prstGeom>
          <a:solidFill>
            <a:srgbClr val="2A7F86"/>
          </a:solidFill>
          <a:ln/>
        </p:spPr>
      </p:sp>
      <p:sp>
        <p:nvSpPr>
          <p:cNvPr id="30" name="Text 28"/>
          <p:cNvSpPr txBox="1"/>
          <p:nvPr/>
        </p:nvSpPr>
        <p:spPr>
          <a:xfrm>
            <a:off x="548640" y="2560320"/>
            <a:ext cx="3200400" cy="347472"/>
          </a:xfrm>
          <a:prstGeom prst="rect">
            <a:avLst/>
          </a:prstGeom>
          <a:noFill/>
          <a:ln/>
        </p:spPr>
        <p:txBody>
          <a:bodyPr wrap="square" lIns="0" tIns="0" rIns="0" bIns="0" rtlCol="0" anchor="ctr"/>
          <a:lstStyle/>
          <a:p>
            <a:pPr marL="0" indent="0">
              <a:buNone/>
            </a:pPr>
            <a:r>
              <a:rPr lang="en-US" sz="1100" dirty="0">
                <a:solidFill>
                  <a:srgbClr val="1F2328"/>
                </a:solidFill>
                <a:latin typeface="Calibri" pitchFamily="34" charset="0"/>
                <a:ea typeface="Calibri" pitchFamily="34" charset="-122"/>
                <a:cs typeface="Calibri" pitchFamily="34" charset="-120"/>
              </a:rPr>
              <a:t>2  Existing-system study + finalize requirements</a:t>
            </a:r>
            <a:endParaRPr lang="en-US" sz="1100" dirty="0"/>
          </a:p>
        </p:txBody>
      </p:sp>
      <p:sp>
        <p:nvSpPr>
          <p:cNvPr id="31" name="Shape 29"/>
          <p:cNvSpPr/>
          <p:nvPr/>
        </p:nvSpPr>
        <p:spPr>
          <a:xfrm>
            <a:off x="4617720" y="2596896"/>
            <a:ext cx="1499616" cy="274320"/>
          </a:xfrm>
          <a:prstGeom prst="rect">
            <a:avLst/>
          </a:prstGeom>
          <a:solidFill>
            <a:srgbClr val="7FB5BA"/>
          </a:solidFill>
          <a:ln/>
        </p:spPr>
      </p:sp>
      <p:sp>
        <p:nvSpPr>
          <p:cNvPr id="32" name="Text 30"/>
          <p:cNvSpPr txBox="1"/>
          <p:nvPr/>
        </p:nvSpPr>
        <p:spPr>
          <a:xfrm>
            <a:off x="548640" y="3017520"/>
            <a:ext cx="3200400" cy="347472"/>
          </a:xfrm>
          <a:prstGeom prst="rect">
            <a:avLst/>
          </a:prstGeom>
          <a:noFill/>
          <a:ln/>
        </p:spPr>
        <p:txBody>
          <a:bodyPr wrap="square" lIns="0" tIns="0" rIns="0" bIns="0" rtlCol="0" anchor="ctr"/>
          <a:lstStyle/>
          <a:p>
            <a:pPr marL="0" indent="0">
              <a:buNone/>
            </a:pPr>
            <a:r>
              <a:rPr lang="en-US" sz="1100" dirty="0">
                <a:solidFill>
                  <a:srgbClr val="1F2328"/>
                </a:solidFill>
                <a:latin typeface="Calibri" pitchFamily="34" charset="0"/>
                <a:ea typeface="Calibri" pitchFamily="34" charset="-122"/>
                <a:cs typeface="Calibri" pitchFamily="34" charset="-120"/>
              </a:rPr>
              <a:t>3  UI/UX design + floor-plan modeling</a:t>
            </a:r>
            <a:endParaRPr lang="en-US" sz="1100" dirty="0"/>
          </a:p>
        </p:txBody>
      </p:sp>
      <p:sp>
        <p:nvSpPr>
          <p:cNvPr id="33" name="Shape 31"/>
          <p:cNvSpPr/>
          <p:nvPr/>
        </p:nvSpPr>
        <p:spPr>
          <a:xfrm>
            <a:off x="5394960" y="3054096"/>
            <a:ext cx="1499616" cy="274320"/>
          </a:xfrm>
          <a:prstGeom prst="rect">
            <a:avLst/>
          </a:prstGeom>
          <a:solidFill>
            <a:srgbClr val="2A7F86"/>
          </a:solidFill>
          <a:ln/>
        </p:spPr>
      </p:sp>
      <p:sp>
        <p:nvSpPr>
          <p:cNvPr id="34" name="Text 32"/>
          <p:cNvSpPr txBox="1"/>
          <p:nvPr/>
        </p:nvSpPr>
        <p:spPr>
          <a:xfrm>
            <a:off x="548640" y="3474720"/>
            <a:ext cx="3200400" cy="347472"/>
          </a:xfrm>
          <a:prstGeom prst="rect">
            <a:avLst/>
          </a:prstGeom>
          <a:noFill/>
          <a:ln/>
        </p:spPr>
        <p:txBody>
          <a:bodyPr wrap="square" lIns="0" tIns="0" rIns="0" bIns="0" rtlCol="0" anchor="ctr"/>
          <a:lstStyle/>
          <a:p>
            <a:pPr marL="0" indent="0">
              <a:buNone/>
            </a:pPr>
            <a:r>
              <a:rPr lang="en-US" sz="1100" dirty="0">
                <a:solidFill>
                  <a:srgbClr val="1F2328"/>
                </a:solidFill>
                <a:latin typeface="Calibri" pitchFamily="34" charset="0"/>
                <a:ea typeface="Calibri" pitchFamily="34" charset="-122"/>
                <a:cs typeface="Calibri" pitchFamily="34" charset="-120"/>
              </a:rPr>
              <a:t>4  Backend + database development</a:t>
            </a:r>
            <a:endParaRPr lang="en-US" sz="1100" dirty="0"/>
          </a:p>
        </p:txBody>
      </p:sp>
      <p:sp>
        <p:nvSpPr>
          <p:cNvPr id="35" name="Shape 33"/>
          <p:cNvSpPr/>
          <p:nvPr/>
        </p:nvSpPr>
        <p:spPr>
          <a:xfrm>
            <a:off x="6172200" y="3511296"/>
            <a:ext cx="2276856" cy="274320"/>
          </a:xfrm>
          <a:prstGeom prst="rect">
            <a:avLst/>
          </a:prstGeom>
          <a:solidFill>
            <a:srgbClr val="7FB5BA"/>
          </a:solidFill>
          <a:ln/>
        </p:spPr>
      </p:sp>
      <p:sp>
        <p:nvSpPr>
          <p:cNvPr id="36" name="Text 34"/>
          <p:cNvSpPr txBox="1"/>
          <p:nvPr/>
        </p:nvSpPr>
        <p:spPr>
          <a:xfrm>
            <a:off x="548640" y="3931920"/>
            <a:ext cx="3200400" cy="347472"/>
          </a:xfrm>
          <a:prstGeom prst="rect">
            <a:avLst/>
          </a:prstGeom>
          <a:noFill/>
          <a:ln/>
        </p:spPr>
        <p:txBody>
          <a:bodyPr wrap="square" lIns="0" tIns="0" rIns="0" bIns="0" rtlCol="0" anchor="ctr"/>
          <a:lstStyle/>
          <a:p>
            <a:pPr marL="0" indent="0">
              <a:buNone/>
            </a:pPr>
            <a:r>
              <a:rPr lang="en-US" sz="1100" dirty="0">
                <a:solidFill>
                  <a:srgbClr val="1F2328"/>
                </a:solidFill>
                <a:latin typeface="Calibri" pitchFamily="34" charset="0"/>
                <a:ea typeface="Calibri" pitchFamily="34" charset="-122"/>
                <a:cs typeface="Calibri" pitchFamily="34" charset="-120"/>
              </a:rPr>
              <a:t>5  Frontend development + integration</a:t>
            </a:r>
            <a:endParaRPr lang="en-US" sz="1100" dirty="0"/>
          </a:p>
        </p:txBody>
      </p:sp>
      <p:sp>
        <p:nvSpPr>
          <p:cNvPr id="37" name="Shape 35"/>
          <p:cNvSpPr/>
          <p:nvPr/>
        </p:nvSpPr>
        <p:spPr>
          <a:xfrm>
            <a:off x="7726680" y="3968496"/>
            <a:ext cx="2276856" cy="274320"/>
          </a:xfrm>
          <a:prstGeom prst="rect">
            <a:avLst/>
          </a:prstGeom>
          <a:solidFill>
            <a:srgbClr val="2A7F86"/>
          </a:solidFill>
          <a:ln/>
        </p:spPr>
      </p:sp>
      <p:sp>
        <p:nvSpPr>
          <p:cNvPr id="38" name="Text 36"/>
          <p:cNvSpPr txBox="1"/>
          <p:nvPr/>
        </p:nvSpPr>
        <p:spPr>
          <a:xfrm>
            <a:off x="548640" y="4389120"/>
            <a:ext cx="3200400" cy="347472"/>
          </a:xfrm>
          <a:prstGeom prst="rect">
            <a:avLst/>
          </a:prstGeom>
          <a:noFill/>
          <a:ln/>
        </p:spPr>
        <p:txBody>
          <a:bodyPr wrap="square" lIns="0" tIns="0" rIns="0" bIns="0" rtlCol="0" anchor="ctr"/>
          <a:lstStyle/>
          <a:p>
            <a:pPr marL="0" indent="0">
              <a:buNone/>
            </a:pPr>
            <a:r>
              <a:rPr lang="en-US" sz="1100" dirty="0">
                <a:solidFill>
                  <a:srgbClr val="1F2328"/>
                </a:solidFill>
                <a:latin typeface="Calibri" pitchFamily="34" charset="0"/>
                <a:ea typeface="Calibri" pitchFamily="34" charset="-122"/>
                <a:cs typeface="Calibri" pitchFamily="34" charset="-120"/>
              </a:rPr>
              <a:t>6  Functional, security, usability testing</a:t>
            </a:r>
            <a:endParaRPr lang="en-US" sz="1100" dirty="0"/>
          </a:p>
        </p:txBody>
      </p:sp>
      <p:sp>
        <p:nvSpPr>
          <p:cNvPr id="39" name="Shape 37"/>
          <p:cNvSpPr/>
          <p:nvPr/>
        </p:nvSpPr>
        <p:spPr>
          <a:xfrm>
            <a:off x="9281160" y="4425696"/>
            <a:ext cx="1499616" cy="274320"/>
          </a:xfrm>
          <a:prstGeom prst="rect">
            <a:avLst/>
          </a:prstGeom>
          <a:solidFill>
            <a:srgbClr val="7FB5BA"/>
          </a:solidFill>
          <a:ln/>
        </p:spPr>
      </p:sp>
      <p:sp>
        <p:nvSpPr>
          <p:cNvPr id="40" name="Text 38"/>
          <p:cNvSpPr txBox="1"/>
          <p:nvPr/>
        </p:nvSpPr>
        <p:spPr>
          <a:xfrm>
            <a:off x="548640" y="4846320"/>
            <a:ext cx="3200400" cy="347472"/>
          </a:xfrm>
          <a:prstGeom prst="rect">
            <a:avLst/>
          </a:prstGeom>
          <a:noFill/>
          <a:ln/>
        </p:spPr>
        <p:txBody>
          <a:bodyPr wrap="square" lIns="0" tIns="0" rIns="0" bIns="0" rtlCol="0" anchor="ctr"/>
          <a:lstStyle/>
          <a:p>
            <a:pPr marL="0" indent="0">
              <a:buNone/>
            </a:pPr>
            <a:r>
              <a:rPr lang="en-US" sz="1100" dirty="0">
                <a:solidFill>
                  <a:srgbClr val="1F2328"/>
                </a:solidFill>
                <a:latin typeface="Calibri" pitchFamily="34" charset="0"/>
                <a:ea typeface="Calibri" pitchFamily="34" charset="-122"/>
                <a:cs typeface="Calibri" pitchFamily="34" charset="-120"/>
              </a:rPr>
              <a:t>7  Community feedback + refinement</a:t>
            </a:r>
            <a:endParaRPr lang="en-US" sz="1100" dirty="0"/>
          </a:p>
        </p:txBody>
      </p:sp>
      <p:sp>
        <p:nvSpPr>
          <p:cNvPr id="41" name="Shape 39"/>
          <p:cNvSpPr/>
          <p:nvPr/>
        </p:nvSpPr>
        <p:spPr>
          <a:xfrm>
            <a:off x="10058400" y="4882896"/>
            <a:ext cx="722376" cy="274320"/>
          </a:xfrm>
          <a:prstGeom prst="rect">
            <a:avLst/>
          </a:prstGeom>
          <a:solidFill>
            <a:srgbClr val="2A7F86"/>
          </a:solidFill>
          <a:ln/>
        </p:spPr>
      </p:sp>
      <p:sp>
        <p:nvSpPr>
          <p:cNvPr id="42" name="Text 40"/>
          <p:cNvSpPr txBox="1"/>
          <p:nvPr/>
        </p:nvSpPr>
        <p:spPr>
          <a:xfrm>
            <a:off x="548640" y="5303520"/>
            <a:ext cx="3200400" cy="347472"/>
          </a:xfrm>
          <a:prstGeom prst="rect">
            <a:avLst/>
          </a:prstGeom>
          <a:noFill/>
          <a:ln/>
        </p:spPr>
        <p:txBody>
          <a:bodyPr wrap="square" lIns="0" tIns="0" rIns="0" bIns="0" rtlCol="0" anchor="ctr"/>
          <a:lstStyle/>
          <a:p>
            <a:pPr marL="0" indent="0">
              <a:buNone/>
            </a:pPr>
            <a:r>
              <a:rPr lang="en-US" sz="1100" dirty="0">
                <a:solidFill>
                  <a:srgbClr val="1F2328"/>
                </a:solidFill>
                <a:latin typeface="Calibri" pitchFamily="34" charset="0"/>
                <a:ea typeface="Calibri" pitchFamily="34" charset="-122"/>
                <a:cs typeface="Calibri" pitchFamily="34" charset="-120"/>
              </a:rPr>
              <a:t>8  Documentation + final presentation</a:t>
            </a:r>
            <a:endParaRPr lang="en-US" sz="1100" dirty="0"/>
          </a:p>
        </p:txBody>
      </p:sp>
      <p:sp>
        <p:nvSpPr>
          <p:cNvPr id="43" name="Shape 41"/>
          <p:cNvSpPr/>
          <p:nvPr/>
        </p:nvSpPr>
        <p:spPr>
          <a:xfrm>
            <a:off x="10058400" y="5340096"/>
            <a:ext cx="1499616" cy="274320"/>
          </a:xfrm>
          <a:prstGeom prst="rect">
            <a:avLst/>
          </a:prstGeom>
          <a:solidFill>
            <a:srgbClr val="7FB5BA"/>
          </a:solidFill>
          <a:ln/>
        </p:spPr>
      </p:sp>
      <p:sp>
        <p:nvSpPr>
          <p:cNvPr id="44" name="Shape 42"/>
          <p:cNvSpPr/>
          <p:nvPr/>
        </p:nvSpPr>
        <p:spPr>
          <a:xfrm>
            <a:off x="5212080" y="5760720"/>
            <a:ext cx="365760" cy="274320"/>
          </a:xfrm>
          <a:prstGeom prst="rect">
            <a:avLst/>
          </a:prstGeom>
          <a:solidFill>
            <a:srgbClr val="14263F"/>
          </a:solidFill>
          <a:ln w="12700">
            <a:solidFill>
              <a:srgbClr val="14263F"/>
            </a:solidFill>
            <a:prstDash val="solid"/>
          </a:ln>
        </p:spPr>
      </p:sp>
      <p:sp>
        <p:nvSpPr>
          <p:cNvPr id="45" name="Text 43"/>
          <p:cNvSpPr txBox="1"/>
          <p:nvPr/>
        </p:nvSpPr>
        <p:spPr>
          <a:xfrm>
            <a:off x="5257800" y="576072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R1</a:t>
            </a:r>
            <a:endParaRPr lang="en-US" sz="1000" dirty="0"/>
          </a:p>
        </p:txBody>
      </p:sp>
      <p:sp>
        <p:nvSpPr>
          <p:cNvPr id="46" name="Text 44"/>
          <p:cNvSpPr txBox="1"/>
          <p:nvPr/>
        </p:nvSpPr>
        <p:spPr>
          <a:xfrm>
            <a:off x="4663440" y="6053328"/>
            <a:ext cx="1463040" cy="182880"/>
          </a:xfrm>
          <a:prstGeom prst="rect">
            <a:avLst/>
          </a:prstGeom>
          <a:noFill/>
          <a:ln/>
        </p:spPr>
        <p:txBody>
          <a:bodyPr wrap="square" lIns="0" tIns="0" rIns="0" bIns="0" rtlCol="0" anchor="t"/>
          <a:lstStyle/>
          <a:p>
            <a:pPr marL="0" indent="0" algn="ctr">
              <a:buNone/>
            </a:pPr>
            <a:r>
              <a:rPr lang="en-US" sz="900" dirty="0">
                <a:solidFill>
                  <a:srgbClr val="5F6672"/>
                </a:solidFill>
                <a:latin typeface="Calibri" pitchFamily="34" charset="0"/>
                <a:ea typeface="Calibri" pitchFamily="34" charset="-122"/>
                <a:cs typeface="Calibri" pitchFamily="34" charset="-120"/>
              </a:rPr>
              <a:t>Requirements review</a:t>
            </a:r>
            <a:endParaRPr lang="en-US" sz="900" dirty="0"/>
          </a:p>
        </p:txBody>
      </p:sp>
      <p:sp>
        <p:nvSpPr>
          <p:cNvPr id="47" name="Shape 45"/>
          <p:cNvSpPr/>
          <p:nvPr/>
        </p:nvSpPr>
        <p:spPr>
          <a:xfrm>
            <a:off x="7543800" y="5760720"/>
            <a:ext cx="365760" cy="274320"/>
          </a:xfrm>
          <a:prstGeom prst="rect">
            <a:avLst/>
          </a:prstGeom>
          <a:solidFill>
            <a:srgbClr val="14263F"/>
          </a:solidFill>
          <a:ln w="12700">
            <a:solidFill>
              <a:srgbClr val="14263F"/>
            </a:solidFill>
            <a:prstDash val="solid"/>
          </a:ln>
        </p:spPr>
      </p:sp>
      <p:sp>
        <p:nvSpPr>
          <p:cNvPr id="48" name="Text 46"/>
          <p:cNvSpPr txBox="1"/>
          <p:nvPr/>
        </p:nvSpPr>
        <p:spPr>
          <a:xfrm>
            <a:off x="7589520" y="576072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R2</a:t>
            </a:r>
            <a:endParaRPr lang="en-US" sz="1000" dirty="0"/>
          </a:p>
        </p:txBody>
      </p:sp>
      <p:sp>
        <p:nvSpPr>
          <p:cNvPr id="49" name="Text 47"/>
          <p:cNvSpPr txBox="1"/>
          <p:nvPr/>
        </p:nvSpPr>
        <p:spPr>
          <a:xfrm>
            <a:off x="6995160" y="6053328"/>
            <a:ext cx="1463040" cy="182880"/>
          </a:xfrm>
          <a:prstGeom prst="rect">
            <a:avLst/>
          </a:prstGeom>
          <a:noFill/>
          <a:ln/>
        </p:spPr>
        <p:txBody>
          <a:bodyPr wrap="square" lIns="0" tIns="0" rIns="0" bIns="0" rtlCol="0" anchor="t"/>
          <a:lstStyle/>
          <a:p>
            <a:pPr marL="0" indent="0" algn="ctr">
              <a:buNone/>
            </a:pPr>
            <a:r>
              <a:rPr lang="en-US" sz="900" dirty="0">
                <a:solidFill>
                  <a:srgbClr val="5F6672"/>
                </a:solidFill>
                <a:latin typeface="Calibri" pitchFamily="34" charset="0"/>
                <a:ea typeface="Calibri" pitchFamily="34" charset="-122"/>
                <a:cs typeface="Calibri" pitchFamily="34" charset="-120"/>
              </a:rPr>
              <a:t>Design review</a:t>
            </a:r>
            <a:endParaRPr lang="en-US" sz="900" dirty="0"/>
          </a:p>
        </p:txBody>
      </p:sp>
      <p:sp>
        <p:nvSpPr>
          <p:cNvPr id="50" name="Shape 48"/>
          <p:cNvSpPr/>
          <p:nvPr/>
        </p:nvSpPr>
        <p:spPr>
          <a:xfrm>
            <a:off x="9875520" y="5760720"/>
            <a:ext cx="365760" cy="274320"/>
          </a:xfrm>
          <a:prstGeom prst="rect">
            <a:avLst/>
          </a:prstGeom>
          <a:solidFill>
            <a:srgbClr val="14263F"/>
          </a:solidFill>
          <a:ln w="12700">
            <a:solidFill>
              <a:srgbClr val="14263F"/>
            </a:solidFill>
            <a:prstDash val="solid"/>
          </a:ln>
        </p:spPr>
      </p:sp>
      <p:sp>
        <p:nvSpPr>
          <p:cNvPr id="51" name="Text 49"/>
          <p:cNvSpPr txBox="1"/>
          <p:nvPr/>
        </p:nvSpPr>
        <p:spPr>
          <a:xfrm>
            <a:off x="9921240" y="576072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R3</a:t>
            </a:r>
            <a:endParaRPr lang="en-US" sz="1000" dirty="0"/>
          </a:p>
        </p:txBody>
      </p:sp>
      <p:sp>
        <p:nvSpPr>
          <p:cNvPr id="52" name="Text 50"/>
          <p:cNvSpPr txBox="1"/>
          <p:nvPr/>
        </p:nvSpPr>
        <p:spPr>
          <a:xfrm>
            <a:off x="9326880" y="6053328"/>
            <a:ext cx="1463040" cy="182880"/>
          </a:xfrm>
          <a:prstGeom prst="rect">
            <a:avLst/>
          </a:prstGeom>
          <a:noFill/>
          <a:ln/>
        </p:spPr>
        <p:txBody>
          <a:bodyPr wrap="square" lIns="0" tIns="0" rIns="0" bIns="0" rtlCol="0" anchor="t"/>
          <a:lstStyle/>
          <a:p>
            <a:pPr marL="0" indent="0" algn="ctr">
              <a:buNone/>
            </a:pPr>
            <a:r>
              <a:rPr lang="en-US" sz="900" dirty="0">
                <a:solidFill>
                  <a:srgbClr val="5F6672"/>
                </a:solidFill>
                <a:latin typeface="Calibri" pitchFamily="34" charset="0"/>
                <a:ea typeface="Calibri" pitchFamily="34" charset="-122"/>
                <a:cs typeface="Calibri" pitchFamily="34" charset="-120"/>
              </a:rPr>
              <a:t>Prototype review</a:t>
            </a:r>
            <a:endParaRPr lang="en-US" sz="900" dirty="0"/>
          </a:p>
        </p:txBody>
      </p:sp>
      <p:sp>
        <p:nvSpPr>
          <p:cNvPr id="53" name="Text 51"/>
          <p:cNvSpPr txBox="1"/>
          <p:nvPr/>
        </p:nvSpPr>
        <p:spPr>
          <a:xfrm>
            <a:off x="548640" y="5760720"/>
            <a:ext cx="3200400" cy="365760"/>
          </a:xfrm>
          <a:prstGeom prst="rect">
            <a:avLst/>
          </a:prstGeom>
          <a:noFill/>
          <a:ln/>
        </p:spPr>
        <p:txBody>
          <a:bodyPr wrap="square" lIns="0" tIns="0" rIns="0" bIns="0" rtlCol="0" anchor="t"/>
          <a:lstStyle/>
          <a:p>
            <a:pPr marL="0" indent="0">
              <a:buNone/>
            </a:pPr>
            <a:r>
              <a:rPr lang="en-US" sz="1100" i="1" dirty="0">
                <a:solidFill>
                  <a:srgbClr val="5F6672"/>
                </a:solidFill>
                <a:latin typeface="Calibri" pitchFamily="34" charset="0"/>
                <a:ea typeface="Calibri" pitchFamily="34" charset="-122"/>
                <a:cs typeface="Calibri" pitchFamily="34" charset="-120"/>
              </a:rPr>
              <a:t>Reviews with faculty guide and community representatives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100" b="1" kern="0" spc="300" dirty="0">
                <a:solidFill>
                  <a:srgbClr val="2A7F86"/>
                </a:solidFill>
                <a:latin typeface="Calibri" pitchFamily="34" charset="0"/>
                <a:ea typeface="Calibri" pitchFamily="34" charset="-122"/>
                <a:cs typeface="Calibri" pitchFamily="34" charset="-120"/>
              </a:rPr>
              <a:t>CONCLUSION AND EXPECTED OUTCOMES</a:t>
            </a:r>
            <a:endParaRPr lang="en-US" sz="1100" dirty="0"/>
          </a:p>
        </p:txBody>
      </p:sp>
      <p:sp>
        <p:nvSpPr>
          <p:cNvPr id="3" name="Text 1"/>
          <p:cNvSpPr txBox="1"/>
          <p:nvPr/>
        </p:nvSpPr>
        <p:spPr>
          <a:xfrm>
            <a:off x="548640" y="640080"/>
            <a:ext cx="11064240" cy="548640"/>
          </a:xfrm>
          <a:prstGeom prst="rect">
            <a:avLst/>
          </a:prstGeom>
          <a:noFill/>
          <a:ln/>
        </p:spPr>
        <p:txBody>
          <a:bodyPr wrap="square" lIns="0" tIns="0" rIns="0" bIns="0" rtlCol="0" anchor="t"/>
          <a:lstStyle/>
          <a:p>
            <a:pPr marL="0" indent="0">
              <a:buNone/>
            </a:pPr>
            <a:r>
              <a:rPr lang="en-US" sz="2700" b="1" dirty="0">
                <a:solidFill>
                  <a:srgbClr val="14263F"/>
                </a:solidFill>
                <a:latin typeface="Calibri" pitchFamily="34" charset="0"/>
                <a:ea typeface="Calibri" pitchFamily="34" charset="-122"/>
                <a:cs typeface="Calibri" pitchFamily="34" charset="-120"/>
              </a:rPr>
              <a:t>Making Hostel Allocation Transparent, Accountable and Manageable</a:t>
            </a:r>
            <a:endParaRPr lang="en-US" sz="2700" dirty="0"/>
          </a:p>
        </p:txBody>
      </p:sp>
      <p:sp>
        <p:nvSpPr>
          <p:cNvPr id="4" name="Text 2"/>
          <p:cNvSpPr txBox="1"/>
          <p:nvPr/>
        </p:nvSpPr>
        <p:spPr>
          <a:xfrm>
            <a:off x="548640" y="6492240"/>
            <a:ext cx="7315200" cy="228600"/>
          </a:xfrm>
          <a:prstGeom prst="rect">
            <a:avLst/>
          </a:prstGeom>
          <a:noFill/>
          <a:ln/>
        </p:spPr>
        <p:txBody>
          <a:bodyPr wrap="square" lIns="0" tIns="0" rIns="0" bIns="0" rtlCol="0" anchor="t"/>
          <a:lstStyle/>
          <a:p>
            <a:pPr marL="0" indent="0">
              <a:buNone/>
            </a:pPr>
            <a:r>
              <a:rPr lang="en-US" sz="900" dirty="0">
                <a:solidFill>
                  <a:srgbClr val="5F6672"/>
                </a:solidFill>
                <a:latin typeface="Calibri" pitchFamily="34" charset="0"/>
                <a:ea typeface="Calibri" pitchFamily="34" charset="-122"/>
                <a:cs typeface="Calibri" pitchFamily="34" charset="-120"/>
              </a:rPr>
              <a:t>SIT Tumakuru · Dept. of CSE · Community Project Phase-I, 2026–27</a:t>
            </a:r>
            <a:endParaRPr lang="en-US" sz="900" dirty="0"/>
          </a:p>
        </p:txBody>
      </p:sp>
      <p:sp>
        <p:nvSpPr>
          <p:cNvPr id="5" name="Text 3"/>
          <p:cNvSpPr txBox="1"/>
          <p:nvPr/>
        </p:nvSpPr>
        <p:spPr>
          <a:xfrm>
            <a:off x="11155680" y="6492240"/>
            <a:ext cx="457200" cy="228600"/>
          </a:xfrm>
          <a:prstGeom prst="rect">
            <a:avLst/>
          </a:prstGeom>
          <a:noFill/>
          <a:ln/>
        </p:spPr>
        <p:txBody>
          <a:bodyPr wrap="square" lIns="0" tIns="0" rIns="0" bIns="0" rtlCol="0" anchor="t"/>
          <a:lstStyle/>
          <a:p>
            <a:pPr marL="0" indent="0" algn="r">
              <a:buNone/>
            </a:pPr>
            <a:r>
              <a:rPr lang="en-US" sz="900" dirty="0">
                <a:solidFill>
                  <a:srgbClr val="5F6672"/>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737360"/>
            <a:ext cx="5120640" cy="3108960"/>
          </a:xfrm>
          <a:prstGeom prst="rect">
            <a:avLst/>
          </a:prstGeom>
          <a:solidFill>
            <a:srgbClr val="FFFFFF"/>
          </a:solidFill>
          <a:ln w="12700">
            <a:solidFill>
              <a:srgbClr val="D9D6CE"/>
            </a:solidFill>
            <a:prstDash val="solid"/>
          </a:ln>
        </p:spPr>
      </p:sp>
      <p:sp>
        <p:nvSpPr>
          <p:cNvPr id="7" name="Shape 5"/>
          <p:cNvSpPr/>
          <p:nvPr/>
        </p:nvSpPr>
        <p:spPr>
          <a:xfrm>
            <a:off x="1005840" y="2194560"/>
            <a:ext cx="4206240" cy="1371600"/>
          </a:xfrm>
          <a:prstGeom prst="rect">
            <a:avLst/>
          </a:prstGeom>
          <a:solidFill>
            <a:srgbClr val="FBFAF7"/>
          </a:solidFill>
          <a:ln w="25400">
            <a:solidFill>
              <a:srgbClr val="14263F"/>
            </a:solidFill>
            <a:prstDash val="solid"/>
          </a:ln>
        </p:spPr>
      </p:sp>
      <p:sp>
        <p:nvSpPr>
          <p:cNvPr id="8" name="Text 6"/>
          <p:cNvSpPr txBox="1"/>
          <p:nvPr/>
        </p:nvSpPr>
        <p:spPr>
          <a:xfrm>
            <a:off x="1143000" y="2240280"/>
            <a:ext cx="1828800" cy="228600"/>
          </a:xfrm>
          <a:prstGeom prst="rect">
            <a:avLst/>
          </a:prstGeom>
          <a:noFill/>
          <a:ln/>
        </p:spPr>
        <p:txBody>
          <a:bodyPr wrap="square" lIns="0" tIns="0" rIns="0" bIns="0" rtlCol="0" anchor="t"/>
          <a:lstStyle/>
          <a:p>
            <a:pPr marL="0" indent="0">
              <a:buNone/>
            </a:pPr>
            <a:r>
              <a:rPr lang="en-US" sz="1100" b="1" dirty="0">
                <a:solidFill>
                  <a:srgbClr val="5F6672"/>
                </a:solidFill>
                <a:latin typeface="Calibri" pitchFamily="34" charset="0"/>
                <a:ea typeface="Calibri" pitchFamily="34" charset="-122"/>
                <a:cs typeface="Calibri" pitchFamily="34" charset="-120"/>
              </a:rPr>
              <a:t>ROOM 301</a:t>
            </a:r>
            <a:endParaRPr lang="en-US" sz="1100" dirty="0"/>
          </a:p>
        </p:txBody>
      </p:sp>
      <p:sp>
        <p:nvSpPr>
          <p:cNvPr id="9" name="Shape 7"/>
          <p:cNvSpPr/>
          <p:nvPr/>
        </p:nvSpPr>
        <p:spPr>
          <a:xfrm>
            <a:off x="1371600" y="2651760"/>
            <a:ext cx="731520" cy="731520"/>
          </a:xfrm>
          <a:prstGeom prst="rect">
            <a:avLst/>
          </a:prstGeom>
          <a:solidFill>
            <a:srgbClr val="F4DADA"/>
          </a:solidFill>
          <a:ln w="12700">
            <a:solidFill>
              <a:srgbClr val="B03A3A"/>
            </a:solidFill>
            <a:prstDash val="solid"/>
          </a:ln>
        </p:spPr>
      </p:sp>
      <p:sp>
        <p:nvSpPr>
          <p:cNvPr id="10" name="Text 8"/>
          <p:cNvSpPr txBox="1"/>
          <p:nvPr/>
        </p:nvSpPr>
        <p:spPr>
          <a:xfrm>
            <a:off x="1371600" y="2651760"/>
            <a:ext cx="731520" cy="731520"/>
          </a:xfrm>
          <a:prstGeom prst="rect">
            <a:avLst/>
          </a:prstGeom>
          <a:noFill/>
          <a:ln/>
        </p:spPr>
        <p:txBody>
          <a:bodyPr wrap="square" lIns="0" tIns="0" rIns="0" bIns="0" rtlCol="0" anchor="ctr"/>
          <a:lstStyle/>
          <a:p>
            <a:pPr marL="0" indent="0" algn="ctr">
              <a:buNone/>
            </a:pPr>
            <a:r>
              <a:rPr lang="en-US" sz="1100" b="1" dirty="0">
                <a:solidFill>
                  <a:srgbClr val="B03A3A"/>
                </a:solidFill>
                <a:latin typeface="Calibri" pitchFamily="34" charset="0"/>
                <a:ea typeface="Calibri" pitchFamily="34" charset="-122"/>
                <a:cs typeface="Calibri" pitchFamily="34" charset="-120"/>
              </a:rPr>
              <a:t>A</a:t>
            </a:r>
            <a:endParaRPr lang="en-US" sz="1100" dirty="0"/>
          </a:p>
        </p:txBody>
      </p:sp>
      <p:sp>
        <p:nvSpPr>
          <p:cNvPr id="11" name="Shape 9"/>
          <p:cNvSpPr/>
          <p:nvPr/>
        </p:nvSpPr>
        <p:spPr>
          <a:xfrm>
            <a:off x="2606040" y="2651760"/>
            <a:ext cx="731520" cy="731520"/>
          </a:xfrm>
          <a:prstGeom prst="rect">
            <a:avLst/>
          </a:prstGeom>
          <a:solidFill>
            <a:srgbClr val="E3F1E8"/>
          </a:solidFill>
          <a:ln w="12700">
            <a:solidFill>
              <a:srgbClr val="2F7D4F"/>
            </a:solidFill>
            <a:prstDash val="solid"/>
          </a:ln>
        </p:spPr>
      </p:sp>
      <p:sp>
        <p:nvSpPr>
          <p:cNvPr id="12" name="Text 10"/>
          <p:cNvSpPr txBox="1"/>
          <p:nvPr/>
        </p:nvSpPr>
        <p:spPr>
          <a:xfrm>
            <a:off x="2606040" y="2651760"/>
            <a:ext cx="731520" cy="731520"/>
          </a:xfrm>
          <a:prstGeom prst="rect">
            <a:avLst/>
          </a:prstGeom>
          <a:noFill/>
          <a:ln/>
        </p:spPr>
        <p:txBody>
          <a:bodyPr wrap="square" lIns="0" tIns="0" rIns="0" bIns="0" rtlCol="0" anchor="ctr"/>
          <a:lstStyle/>
          <a:p>
            <a:pPr marL="0" indent="0" algn="ctr">
              <a:buNone/>
            </a:pPr>
            <a:r>
              <a:rPr lang="en-US" sz="1100" b="1" dirty="0">
                <a:solidFill>
                  <a:srgbClr val="2F7D4F"/>
                </a:solidFill>
                <a:latin typeface="Calibri" pitchFamily="34" charset="0"/>
                <a:ea typeface="Calibri" pitchFamily="34" charset="-122"/>
                <a:cs typeface="Calibri" pitchFamily="34" charset="-120"/>
              </a:rPr>
              <a:t>B</a:t>
            </a:r>
            <a:endParaRPr lang="en-US" sz="1100" dirty="0"/>
          </a:p>
        </p:txBody>
      </p:sp>
      <p:sp>
        <p:nvSpPr>
          <p:cNvPr id="13" name="Shape 11"/>
          <p:cNvSpPr/>
          <p:nvPr/>
        </p:nvSpPr>
        <p:spPr>
          <a:xfrm>
            <a:off x="3840480" y="2651760"/>
            <a:ext cx="731520" cy="731520"/>
          </a:xfrm>
          <a:prstGeom prst="rect">
            <a:avLst/>
          </a:prstGeom>
          <a:solidFill>
            <a:srgbClr val="F4DADA"/>
          </a:solidFill>
          <a:ln w="12700">
            <a:solidFill>
              <a:srgbClr val="B03A3A"/>
            </a:solidFill>
            <a:prstDash val="solid"/>
          </a:ln>
        </p:spPr>
      </p:sp>
      <p:sp>
        <p:nvSpPr>
          <p:cNvPr id="14" name="Text 12"/>
          <p:cNvSpPr txBox="1"/>
          <p:nvPr/>
        </p:nvSpPr>
        <p:spPr>
          <a:xfrm>
            <a:off x="3840480" y="2651760"/>
            <a:ext cx="731520" cy="731520"/>
          </a:xfrm>
          <a:prstGeom prst="rect">
            <a:avLst/>
          </a:prstGeom>
          <a:noFill/>
          <a:ln/>
        </p:spPr>
        <p:txBody>
          <a:bodyPr wrap="square" lIns="0" tIns="0" rIns="0" bIns="0" rtlCol="0" anchor="ctr"/>
          <a:lstStyle/>
          <a:p>
            <a:pPr marL="0" indent="0" algn="ctr">
              <a:buNone/>
            </a:pPr>
            <a:r>
              <a:rPr lang="en-US" sz="1100" b="1" dirty="0">
                <a:solidFill>
                  <a:srgbClr val="B03A3A"/>
                </a:solidFill>
                <a:latin typeface="Calibri" pitchFamily="34" charset="0"/>
                <a:ea typeface="Calibri" pitchFamily="34" charset="-122"/>
                <a:cs typeface="Calibri" pitchFamily="34" charset="-120"/>
              </a:rPr>
              <a:t>C</a:t>
            </a:r>
            <a:endParaRPr lang="en-US" sz="1100" dirty="0"/>
          </a:p>
        </p:txBody>
      </p:sp>
      <p:sp>
        <p:nvSpPr>
          <p:cNvPr id="15" name="Text 13"/>
          <p:cNvSpPr txBox="1"/>
          <p:nvPr/>
        </p:nvSpPr>
        <p:spPr>
          <a:xfrm>
            <a:off x="1005840" y="3840480"/>
            <a:ext cx="4206240" cy="365760"/>
          </a:xfrm>
          <a:prstGeom prst="rect">
            <a:avLst/>
          </a:prstGeom>
          <a:noFill/>
          <a:ln/>
        </p:spPr>
        <p:txBody>
          <a:bodyPr wrap="square" lIns="0" tIns="0" rIns="0" bIns="0" rtlCol="0" anchor="t"/>
          <a:lstStyle/>
          <a:p>
            <a:pPr marL="0" indent="0">
              <a:buNone/>
            </a:pPr>
            <a:r>
              <a:rPr lang="en-US" sz="1500" b="1" dirty="0">
                <a:solidFill>
                  <a:srgbClr val="14263F"/>
                </a:solidFill>
                <a:latin typeface="Calibri" pitchFamily="34" charset="0"/>
                <a:ea typeface="Calibri" pitchFamily="34" charset="-122"/>
                <a:cs typeface="Calibri" pitchFamily="34" charset="-120"/>
              </a:rPr>
              <a:t>The system allocates a seat, not a room.</a:t>
            </a:r>
            <a:endParaRPr lang="en-US" sz="1500" dirty="0"/>
          </a:p>
        </p:txBody>
      </p:sp>
      <p:sp>
        <p:nvSpPr>
          <p:cNvPr id="16" name="Text 14"/>
          <p:cNvSpPr txBox="1"/>
          <p:nvPr/>
        </p:nvSpPr>
        <p:spPr>
          <a:xfrm>
            <a:off x="1005840" y="4297680"/>
            <a:ext cx="4206240" cy="274320"/>
          </a:xfrm>
          <a:prstGeom prst="rect">
            <a:avLst/>
          </a:prstGeom>
          <a:noFill/>
          <a:ln/>
        </p:spPr>
        <p:txBody>
          <a:bodyPr wrap="square" lIns="0" tIns="0" rIns="0" bIns="0" rtlCol="0" anchor="t"/>
          <a:lstStyle/>
          <a:p>
            <a:pPr marL="0" indent="0">
              <a:buNone/>
            </a:pPr>
            <a:r>
              <a:rPr lang="en-US" sz="1000" i="1" dirty="0">
                <a:solidFill>
                  <a:srgbClr val="5F6672"/>
                </a:solidFill>
                <a:latin typeface="Calibri" pitchFamily="34" charset="0"/>
                <a:ea typeface="Calibri" pitchFamily="34" charset="-122"/>
                <a:cs typeface="Calibri" pitchFamily="34" charset="-120"/>
              </a:rPr>
              <a:t>Conceptual illustration</a:t>
            </a:r>
            <a:endParaRPr lang="en-US" sz="1000" dirty="0"/>
          </a:p>
        </p:txBody>
      </p:sp>
      <p:sp>
        <p:nvSpPr>
          <p:cNvPr id="17" name="Shape 15"/>
          <p:cNvSpPr/>
          <p:nvPr/>
        </p:nvSpPr>
        <p:spPr>
          <a:xfrm>
            <a:off x="6126480" y="1737360"/>
            <a:ext cx="54864" cy="594360"/>
          </a:xfrm>
          <a:prstGeom prst="rect">
            <a:avLst/>
          </a:prstGeom>
          <a:solidFill>
            <a:srgbClr val="2A7F86"/>
          </a:solidFill>
          <a:ln/>
        </p:spPr>
      </p:sp>
      <p:sp>
        <p:nvSpPr>
          <p:cNvPr id="18" name="Text 16"/>
          <p:cNvSpPr txBox="1"/>
          <p:nvPr/>
        </p:nvSpPr>
        <p:spPr>
          <a:xfrm>
            <a:off x="6355080" y="1737360"/>
            <a:ext cx="4572000" cy="228600"/>
          </a:xfrm>
          <a:prstGeom prst="rect">
            <a:avLst/>
          </a:prstGeom>
          <a:noFill/>
          <a:ln/>
        </p:spPr>
        <p:txBody>
          <a:bodyPr wrap="square" lIns="0" tIns="0" rIns="0" bIns="0" rtlCol="0" anchor="t"/>
          <a:lstStyle/>
          <a:p>
            <a:pPr marL="0" indent="0">
              <a:buNone/>
            </a:pPr>
            <a:r>
              <a:rPr lang="en-US" sz="1000" b="1" kern="0" spc="200" dirty="0">
                <a:solidFill>
                  <a:srgbClr val="2A7F86"/>
                </a:solidFill>
                <a:latin typeface="Calibri" pitchFamily="34" charset="0"/>
                <a:ea typeface="Calibri" pitchFamily="34" charset="-122"/>
                <a:cs typeface="Calibri" pitchFamily="34" charset="-120"/>
              </a:rPr>
              <a:t>PROBLEM</a:t>
            </a:r>
            <a:endParaRPr lang="en-US" sz="1000" dirty="0"/>
          </a:p>
        </p:txBody>
      </p:sp>
      <p:sp>
        <p:nvSpPr>
          <p:cNvPr id="19" name="Text 17"/>
          <p:cNvSpPr txBox="1"/>
          <p:nvPr/>
        </p:nvSpPr>
        <p:spPr>
          <a:xfrm>
            <a:off x="6355080" y="1984248"/>
            <a:ext cx="5212080" cy="365760"/>
          </a:xfrm>
          <a:prstGeom prst="rect">
            <a:avLst/>
          </a:prstGeom>
          <a:noFill/>
          <a:ln/>
        </p:spPr>
        <p:txBody>
          <a:bodyPr wrap="square" lIns="0" tIns="0" rIns="0" bIns="0" rtlCol="0" anchor="t"/>
          <a:lstStyle/>
          <a:p>
            <a:pPr marL="0" indent="0">
              <a:buNone/>
            </a:pPr>
            <a:r>
              <a:rPr lang="en-US" sz="1400" dirty="0">
                <a:solidFill>
                  <a:srgbClr val="1F2328"/>
                </a:solidFill>
                <a:latin typeface="Calibri" pitchFamily="34" charset="0"/>
                <a:ea typeface="Calibri" pitchFamily="34" charset="-122"/>
                <a:cs typeface="Calibri" pitchFamily="34" charset="-120"/>
              </a:rPr>
              <a:t>Manual, fragmented hostel allocation (to be validated)</a:t>
            </a:r>
            <a:endParaRPr lang="en-US" sz="1400" dirty="0"/>
          </a:p>
        </p:txBody>
      </p:sp>
      <p:sp>
        <p:nvSpPr>
          <p:cNvPr id="20" name="Shape 18"/>
          <p:cNvSpPr/>
          <p:nvPr/>
        </p:nvSpPr>
        <p:spPr>
          <a:xfrm>
            <a:off x="6126480" y="2514600"/>
            <a:ext cx="54864" cy="594360"/>
          </a:xfrm>
          <a:prstGeom prst="rect">
            <a:avLst/>
          </a:prstGeom>
          <a:solidFill>
            <a:srgbClr val="2A7F86"/>
          </a:solidFill>
          <a:ln/>
        </p:spPr>
      </p:sp>
      <p:sp>
        <p:nvSpPr>
          <p:cNvPr id="21" name="Text 19"/>
          <p:cNvSpPr txBox="1"/>
          <p:nvPr/>
        </p:nvSpPr>
        <p:spPr>
          <a:xfrm>
            <a:off x="6355080" y="2514600"/>
            <a:ext cx="4572000" cy="228600"/>
          </a:xfrm>
          <a:prstGeom prst="rect">
            <a:avLst/>
          </a:prstGeom>
          <a:noFill/>
          <a:ln/>
        </p:spPr>
        <p:txBody>
          <a:bodyPr wrap="square" lIns="0" tIns="0" rIns="0" bIns="0" rtlCol="0" anchor="t"/>
          <a:lstStyle/>
          <a:p>
            <a:pPr marL="0" indent="0">
              <a:buNone/>
            </a:pPr>
            <a:r>
              <a:rPr lang="en-US" sz="1000" b="1" kern="0" spc="200" dirty="0">
                <a:solidFill>
                  <a:srgbClr val="2A7F86"/>
                </a:solidFill>
                <a:latin typeface="Calibri" pitchFamily="34" charset="0"/>
                <a:ea typeface="Calibri" pitchFamily="34" charset="-122"/>
                <a:cs typeface="Calibri" pitchFamily="34" charset="-120"/>
              </a:rPr>
              <a:t>PROPOSAL</a:t>
            </a:r>
            <a:endParaRPr lang="en-US" sz="1000" dirty="0"/>
          </a:p>
        </p:txBody>
      </p:sp>
      <p:sp>
        <p:nvSpPr>
          <p:cNvPr id="22" name="Text 20"/>
          <p:cNvSpPr txBox="1"/>
          <p:nvPr/>
        </p:nvSpPr>
        <p:spPr>
          <a:xfrm>
            <a:off x="6355080" y="2761488"/>
            <a:ext cx="5212080" cy="365760"/>
          </a:xfrm>
          <a:prstGeom prst="rect">
            <a:avLst/>
          </a:prstGeom>
          <a:noFill/>
          <a:ln/>
        </p:spPr>
        <p:txBody>
          <a:bodyPr wrap="square" lIns="0" tIns="0" rIns="0" bIns="0" rtlCol="0" anchor="t"/>
          <a:lstStyle/>
          <a:p>
            <a:pPr marL="0" indent="0">
              <a:buNone/>
            </a:pPr>
            <a:r>
              <a:rPr lang="en-US" sz="1400" dirty="0">
                <a:solidFill>
                  <a:srgbClr val="1F2328"/>
                </a:solidFill>
                <a:latin typeface="Calibri" pitchFamily="34" charset="0"/>
                <a:ea typeface="Calibri" pitchFamily="34" charset="-122"/>
                <a:cs typeface="Calibri" pitchFamily="34" charset="-120"/>
              </a:rPr>
              <a:t>Priority-aware, seat-level, role-controlled platform</a:t>
            </a:r>
            <a:endParaRPr lang="en-US" sz="1400" dirty="0"/>
          </a:p>
        </p:txBody>
      </p:sp>
      <p:sp>
        <p:nvSpPr>
          <p:cNvPr id="23" name="Shape 21"/>
          <p:cNvSpPr/>
          <p:nvPr/>
        </p:nvSpPr>
        <p:spPr>
          <a:xfrm>
            <a:off x="6126480" y="3291840"/>
            <a:ext cx="54864" cy="594360"/>
          </a:xfrm>
          <a:prstGeom prst="rect">
            <a:avLst/>
          </a:prstGeom>
          <a:solidFill>
            <a:srgbClr val="2A7F86"/>
          </a:solidFill>
          <a:ln/>
        </p:spPr>
      </p:sp>
      <p:sp>
        <p:nvSpPr>
          <p:cNvPr id="24" name="Text 22"/>
          <p:cNvSpPr txBox="1"/>
          <p:nvPr/>
        </p:nvSpPr>
        <p:spPr>
          <a:xfrm>
            <a:off x="6355080" y="3291840"/>
            <a:ext cx="4572000" cy="228600"/>
          </a:xfrm>
          <a:prstGeom prst="rect">
            <a:avLst/>
          </a:prstGeom>
          <a:noFill/>
          <a:ln/>
        </p:spPr>
        <p:txBody>
          <a:bodyPr wrap="square" lIns="0" tIns="0" rIns="0" bIns="0" rtlCol="0" anchor="t"/>
          <a:lstStyle/>
          <a:p>
            <a:pPr marL="0" indent="0">
              <a:buNone/>
            </a:pPr>
            <a:r>
              <a:rPr lang="en-US" sz="1000" b="1" kern="0" spc="200" dirty="0">
                <a:solidFill>
                  <a:srgbClr val="2A7F86"/>
                </a:solidFill>
                <a:latin typeface="Calibri" pitchFamily="34" charset="0"/>
                <a:ea typeface="Calibri" pitchFamily="34" charset="-122"/>
                <a:cs typeface="Calibri" pitchFamily="34" charset="-120"/>
              </a:rPr>
              <a:t>EXPECTED BENEFIT</a:t>
            </a:r>
            <a:endParaRPr lang="en-US" sz="1000" dirty="0"/>
          </a:p>
        </p:txBody>
      </p:sp>
      <p:sp>
        <p:nvSpPr>
          <p:cNvPr id="25" name="Text 23"/>
          <p:cNvSpPr txBox="1"/>
          <p:nvPr/>
        </p:nvSpPr>
        <p:spPr>
          <a:xfrm>
            <a:off x="6355080" y="3538728"/>
            <a:ext cx="5212080" cy="365760"/>
          </a:xfrm>
          <a:prstGeom prst="rect">
            <a:avLst/>
          </a:prstGeom>
          <a:noFill/>
          <a:ln/>
        </p:spPr>
        <p:txBody>
          <a:bodyPr wrap="square" lIns="0" tIns="0" rIns="0" bIns="0" rtlCol="0" anchor="t"/>
          <a:lstStyle/>
          <a:p>
            <a:pPr marL="0" indent="0">
              <a:buNone/>
            </a:pPr>
            <a:r>
              <a:rPr lang="en-US" sz="1400" dirty="0">
                <a:solidFill>
                  <a:srgbClr val="1F2328"/>
                </a:solidFill>
                <a:latin typeface="Calibri" pitchFamily="34" charset="0"/>
                <a:ea typeface="Calibri" pitchFamily="34" charset="-122"/>
                <a:cs typeface="Calibri" pitchFamily="34" charset="-120"/>
              </a:rPr>
              <a:t>Visibility, consistent records, easier oversight</a:t>
            </a:r>
            <a:endParaRPr lang="en-US" sz="1400" dirty="0"/>
          </a:p>
        </p:txBody>
      </p:sp>
      <p:sp>
        <p:nvSpPr>
          <p:cNvPr id="26" name="Shape 24"/>
          <p:cNvSpPr/>
          <p:nvPr/>
        </p:nvSpPr>
        <p:spPr>
          <a:xfrm>
            <a:off x="6126480" y="4069080"/>
            <a:ext cx="54864" cy="594360"/>
          </a:xfrm>
          <a:prstGeom prst="rect">
            <a:avLst/>
          </a:prstGeom>
          <a:solidFill>
            <a:srgbClr val="2A7F86"/>
          </a:solidFill>
          <a:ln/>
        </p:spPr>
      </p:sp>
      <p:sp>
        <p:nvSpPr>
          <p:cNvPr id="27" name="Text 25"/>
          <p:cNvSpPr txBox="1"/>
          <p:nvPr/>
        </p:nvSpPr>
        <p:spPr>
          <a:xfrm>
            <a:off x="6355080" y="4069080"/>
            <a:ext cx="4572000" cy="228600"/>
          </a:xfrm>
          <a:prstGeom prst="rect">
            <a:avLst/>
          </a:prstGeom>
          <a:noFill/>
          <a:ln/>
        </p:spPr>
        <p:txBody>
          <a:bodyPr wrap="square" lIns="0" tIns="0" rIns="0" bIns="0" rtlCol="0" anchor="t"/>
          <a:lstStyle/>
          <a:p>
            <a:pPr marL="0" indent="0">
              <a:buNone/>
            </a:pPr>
            <a:r>
              <a:rPr lang="en-US" sz="1000" b="1" kern="0" spc="200" dirty="0">
                <a:solidFill>
                  <a:srgbClr val="2A7F86"/>
                </a:solidFill>
                <a:latin typeface="Calibri" pitchFamily="34" charset="0"/>
                <a:ea typeface="Calibri" pitchFamily="34" charset="-122"/>
                <a:cs typeface="Calibri" pitchFamily="34" charset="-120"/>
              </a:rPr>
              <a:t>NEXT PHASE</a:t>
            </a:r>
            <a:endParaRPr lang="en-US" sz="1000" dirty="0"/>
          </a:p>
        </p:txBody>
      </p:sp>
      <p:sp>
        <p:nvSpPr>
          <p:cNvPr id="28" name="Text 26"/>
          <p:cNvSpPr txBox="1"/>
          <p:nvPr/>
        </p:nvSpPr>
        <p:spPr>
          <a:xfrm>
            <a:off x="6355080" y="4315968"/>
            <a:ext cx="5212080" cy="365760"/>
          </a:xfrm>
          <a:prstGeom prst="rect">
            <a:avLst/>
          </a:prstGeom>
          <a:noFill/>
          <a:ln/>
        </p:spPr>
        <p:txBody>
          <a:bodyPr wrap="square" lIns="0" tIns="0" rIns="0" bIns="0" rtlCol="0" anchor="t"/>
          <a:lstStyle/>
          <a:p>
            <a:pPr marL="0" indent="0">
              <a:buNone/>
            </a:pPr>
            <a:r>
              <a:rPr lang="en-US" sz="1400" dirty="0">
                <a:solidFill>
                  <a:srgbClr val="1F2328"/>
                </a:solidFill>
                <a:latin typeface="Calibri" pitchFamily="34" charset="0"/>
                <a:ea typeface="Calibri" pitchFamily="34" charset="-122"/>
                <a:cs typeface="Calibri" pitchFamily="34" charset="-120"/>
              </a:rPr>
              <a:t>Needs assessment, design, prototype, testing</a:t>
            </a:r>
            <a:endParaRPr lang="en-US" sz="1400" dirty="0"/>
          </a:p>
        </p:txBody>
      </p:sp>
      <p:sp>
        <p:nvSpPr>
          <p:cNvPr id="29" name="Text 27"/>
          <p:cNvSpPr txBox="1"/>
          <p:nvPr/>
        </p:nvSpPr>
        <p:spPr>
          <a:xfrm>
            <a:off x="548640" y="5120640"/>
            <a:ext cx="11064240" cy="731520"/>
          </a:xfrm>
          <a:prstGeom prst="rect">
            <a:avLst/>
          </a:prstGeom>
          <a:noFill/>
          <a:ln/>
        </p:spPr>
        <p:txBody>
          <a:bodyPr wrap="square" lIns="0" tIns="0" rIns="0" bIns="0" rtlCol="0" anchor="ctr"/>
          <a:lstStyle/>
          <a:p>
            <a:pPr marL="0" indent="0">
              <a:buNone/>
            </a:pPr>
            <a:r>
              <a:rPr lang="en-US" sz="1900" b="1" dirty="0">
                <a:solidFill>
                  <a:srgbClr val="14263F"/>
                </a:solidFill>
                <a:latin typeface="Calibri" pitchFamily="34" charset="0"/>
                <a:ea typeface="Calibri" pitchFamily="34" charset="-122"/>
                <a:cs typeface="Calibri" pitchFamily="34" charset="-120"/>
              </a:rPr>
              <a:t>The goal is not merely to digitize seat allocation, but to make the process more transparent, accountable and manageable.</a:t>
            </a:r>
            <a:endParaRPr lang="en-US" sz="1900" dirty="0"/>
          </a:p>
        </p:txBody>
      </p:sp>
      <p:sp>
        <p:nvSpPr>
          <p:cNvPr id="30" name="Text 28"/>
          <p:cNvSpPr txBox="1"/>
          <p:nvPr/>
        </p:nvSpPr>
        <p:spPr>
          <a:xfrm>
            <a:off x="548640" y="5943600"/>
            <a:ext cx="4572000" cy="274320"/>
          </a:xfrm>
          <a:prstGeom prst="rect">
            <a:avLst/>
          </a:prstGeom>
          <a:noFill/>
          <a:ln/>
        </p:spPr>
        <p:txBody>
          <a:bodyPr wrap="square" lIns="0" tIns="0" rIns="0" bIns="0" rtlCol="0" anchor="t"/>
          <a:lstStyle/>
          <a:p>
            <a:pPr marL="0" indent="0">
              <a:buNone/>
            </a:pPr>
            <a:r>
              <a:rPr lang="en-US" sz="1200" dirty="0">
                <a:solidFill>
                  <a:srgbClr val="5F6672"/>
                </a:solidFill>
                <a:latin typeface="Calibri" pitchFamily="34" charset="0"/>
                <a:ea typeface="Calibri" pitchFamily="34" charset="-122"/>
                <a:cs typeface="Calibri" pitchFamily="34" charset="-120"/>
              </a:rPr>
              <a:t>Thank you · Questions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marL="0" indent="0">
              <a:buNone/>
            </a:pPr>
            <a:r>
              <a:rPr lang="en-US" sz="1100" b="1" kern="0" spc="300" dirty="0">
                <a:solidFill>
                  <a:srgbClr val="2A7F86"/>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48640" y="640080"/>
            <a:ext cx="11064240" cy="548640"/>
          </a:xfrm>
          <a:prstGeom prst="rect">
            <a:avLst/>
          </a:prstGeom>
          <a:noFill/>
          <a:ln/>
        </p:spPr>
        <p:txBody>
          <a:bodyPr wrap="square" lIns="0" tIns="0" rIns="0" bIns="0" rtlCol="0" anchor="t"/>
          <a:lstStyle/>
          <a:p>
            <a:pPr marL="0" indent="0">
              <a:buNone/>
            </a:pPr>
            <a:r>
              <a:rPr lang="en-US" sz="2700" b="1" dirty="0">
                <a:solidFill>
                  <a:srgbClr val="14263F"/>
                </a:solidFill>
                <a:latin typeface="Calibri" pitchFamily="34" charset="0"/>
                <a:ea typeface="Calibri" pitchFamily="34" charset="-122"/>
                <a:cs typeface="Calibri" pitchFamily="34" charset="-120"/>
              </a:rPr>
              <a:t>References (IEEE)</a:t>
            </a:r>
            <a:endParaRPr lang="en-US" sz="2700" dirty="0"/>
          </a:p>
        </p:txBody>
      </p:sp>
      <p:sp>
        <p:nvSpPr>
          <p:cNvPr id="4" name="Text 2"/>
          <p:cNvSpPr txBox="1"/>
          <p:nvPr/>
        </p:nvSpPr>
        <p:spPr>
          <a:xfrm>
            <a:off x="548640" y="6492240"/>
            <a:ext cx="7315200" cy="228600"/>
          </a:xfrm>
          <a:prstGeom prst="rect">
            <a:avLst/>
          </a:prstGeom>
          <a:noFill/>
          <a:ln/>
        </p:spPr>
        <p:txBody>
          <a:bodyPr wrap="square" lIns="0" tIns="0" rIns="0" bIns="0" rtlCol="0" anchor="t"/>
          <a:lstStyle/>
          <a:p>
            <a:pPr marL="0" indent="0">
              <a:buNone/>
            </a:pPr>
            <a:r>
              <a:rPr lang="en-US" sz="900" dirty="0">
                <a:solidFill>
                  <a:srgbClr val="5F6672"/>
                </a:solidFill>
                <a:latin typeface="Calibri" pitchFamily="34" charset="0"/>
                <a:ea typeface="Calibri" pitchFamily="34" charset="-122"/>
                <a:cs typeface="Calibri" pitchFamily="34" charset="-120"/>
              </a:rPr>
              <a:t>SIT Tumakuru · Dept. of CSE · Community Project Phase-I, 2026–27</a:t>
            </a:r>
            <a:endParaRPr lang="en-US" sz="900" dirty="0"/>
          </a:p>
        </p:txBody>
      </p:sp>
      <p:sp>
        <p:nvSpPr>
          <p:cNvPr id="5" name="Text 3"/>
          <p:cNvSpPr txBox="1"/>
          <p:nvPr/>
        </p:nvSpPr>
        <p:spPr>
          <a:xfrm>
            <a:off x="11155680" y="6492240"/>
            <a:ext cx="457200" cy="228600"/>
          </a:xfrm>
          <a:prstGeom prst="rect">
            <a:avLst/>
          </a:prstGeom>
          <a:noFill/>
          <a:ln/>
        </p:spPr>
        <p:txBody>
          <a:bodyPr wrap="square" lIns="0" tIns="0" rIns="0" bIns="0" rtlCol="0" anchor="t"/>
          <a:lstStyle/>
          <a:p>
            <a:pPr marL="0" indent="0" algn="r">
              <a:buNone/>
            </a:pPr>
            <a:r>
              <a:rPr lang="en-US" sz="900" dirty="0">
                <a:solidFill>
                  <a:srgbClr val="5F6672"/>
                </a:solidFill>
                <a:latin typeface="Calibri" pitchFamily="34" charset="0"/>
                <a:ea typeface="Calibri" pitchFamily="34" charset="-122"/>
                <a:cs typeface="Calibri" pitchFamily="34" charset="-120"/>
              </a:rPr>
              <a:t>15</a:t>
            </a:r>
            <a:endParaRPr lang="en-US" sz="900" dirty="0"/>
          </a:p>
        </p:txBody>
      </p:sp>
      <p:sp>
        <p:nvSpPr>
          <p:cNvPr id="6" name="Text 4"/>
          <p:cNvSpPr txBox="1"/>
          <p:nvPr/>
        </p:nvSpPr>
        <p:spPr>
          <a:xfrm>
            <a:off x="548640" y="1371600"/>
            <a:ext cx="5440680" cy="658368"/>
          </a:xfrm>
          <a:prstGeom prst="rect">
            <a:avLst/>
          </a:prstGeom>
          <a:noFill/>
          <a:ln/>
        </p:spPr>
        <p:txBody>
          <a:bodyPr wrap="square" lIns="0" tIns="0" rIns="0" bIns="0" rtlCol="0" anchor="t"/>
          <a:lstStyle/>
          <a:p>
            <a:pPr marL="0" indent="0">
              <a:buNone/>
            </a:pPr>
            <a:r>
              <a:rPr lang="en-US" sz="1050" dirty="0">
                <a:solidFill>
                  <a:srgbClr val="1F2328"/>
                </a:solidFill>
                <a:latin typeface="Calibri" pitchFamily="34" charset="0"/>
                <a:ea typeface="Calibri" pitchFamily="34" charset="-122"/>
                <a:cs typeface="Calibri" pitchFamily="34" charset="-120"/>
              </a:rPr>
              <a:t>[1] A. Tharu, K. K. Sah, and H. Kaur, "Design and implementation of an integrated hostel management system with role-based access for students and wardens," J. Technol. Manag., pp. 105–117, Dec. 2025. doi: 10.15415/jtmge/2025.161009</a:t>
            </a:r>
            <a:endParaRPr lang="en-US" sz="1050" dirty="0"/>
          </a:p>
        </p:txBody>
      </p:sp>
      <p:sp>
        <p:nvSpPr>
          <p:cNvPr id="7" name="Text 5"/>
          <p:cNvSpPr txBox="1"/>
          <p:nvPr/>
        </p:nvSpPr>
        <p:spPr>
          <a:xfrm>
            <a:off x="548640" y="2066544"/>
            <a:ext cx="5440680" cy="658368"/>
          </a:xfrm>
          <a:prstGeom prst="rect">
            <a:avLst/>
          </a:prstGeom>
          <a:noFill/>
          <a:ln/>
        </p:spPr>
        <p:txBody>
          <a:bodyPr wrap="square" lIns="0" tIns="0" rIns="0" bIns="0" rtlCol="0" anchor="t"/>
          <a:lstStyle/>
          <a:p>
            <a:pPr marL="0" indent="0">
              <a:buNone/>
            </a:pPr>
            <a:r>
              <a:rPr lang="en-US" sz="1050" dirty="0">
                <a:solidFill>
                  <a:srgbClr val="1F2328"/>
                </a:solidFill>
                <a:latin typeface="Calibri" pitchFamily="34" charset="0"/>
                <a:ea typeface="Calibri" pitchFamily="34" charset="-122"/>
                <a:cs typeface="Calibri" pitchFamily="34" charset="-120"/>
              </a:rPr>
              <a:t>[2] J. Kon Xin Yue, "RoomPro: A web-based hostel room allocation using genetic algorithm and management system," B.Sc. (Hons) project, Univ. Malaysia Sarawak, 2025. https://scholarhub.unimas.my/handle/123456789/379</a:t>
            </a:r>
            <a:endParaRPr lang="en-US" sz="1050" dirty="0"/>
          </a:p>
        </p:txBody>
      </p:sp>
      <p:sp>
        <p:nvSpPr>
          <p:cNvPr id="8" name="Text 6"/>
          <p:cNvSpPr txBox="1"/>
          <p:nvPr/>
        </p:nvSpPr>
        <p:spPr>
          <a:xfrm>
            <a:off x="548640" y="2761488"/>
            <a:ext cx="5440680" cy="658368"/>
          </a:xfrm>
          <a:prstGeom prst="rect">
            <a:avLst/>
          </a:prstGeom>
          <a:noFill/>
          <a:ln/>
        </p:spPr>
        <p:txBody>
          <a:bodyPr wrap="square" lIns="0" tIns="0" rIns="0" bIns="0" rtlCol="0" anchor="t"/>
          <a:lstStyle/>
          <a:p>
            <a:pPr marL="0" indent="0">
              <a:buNone/>
            </a:pPr>
            <a:r>
              <a:rPr lang="en-US" sz="1050" dirty="0">
                <a:solidFill>
                  <a:srgbClr val="1F2328"/>
                </a:solidFill>
                <a:latin typeface="Calibri" pitchFamily="34" charset="0"/>
                <a:ea typeface="Calibri" pitchFamily="34" charset="-122"/>
                <a:cs typeface="Calibri" pitchFamily="34" charset="-120"/>
              </a:rPr>
              <a:t>[3] Z. Waibi, "Web-based hostel management system," undergraduate dissertation, Makerere Univ., Apr. 2022. https://dissertations.mak.ac.ug/handle/20.500.12281/11875</a:t>
            </a:r>
            <a:endParaRPr lang="en-US" sz="1050" dirty="0"/>
          </a:p>
        </p:txBody>
      </p:sp>
      <p:sp>
        <p:nvSpPr>
          <p:cNvPr id="9" name="Text 7"/>
          <p:cNvSpPr txBox="1"/>
          <p:nvPr/>
        </p:nvSpPr>
        <p:spPr>
          <a:xfrm>
            <a:off x="548640" y="3456432"/>
            <a:ext cx="5440680" cy="658368"/>
          </a:xfrm>
          <a:prstGeom prst="rect">
            <a:avLst/>
          </a:prstGeom>
          <a:noFill/>
          <a:ln/>
        </p:spPr>
        <p:txBody>
          <a:bodyPr wrap="square" lIns="0" tIns="0" rIns="0" bIns="0" rtlCol="0" anchor="t"/>
          <a:lstStyle/>
          <a:p>
            <a:pPr marL="0" indent="0">
              <a:buNone/>
            </a:pPr>
            <a:r>
              <a:rPr lang="en-US" sz="1050" dirty="0">
                <a:solidFill>
                  <a:srgbClr val="1F2328"/>
                </a:solidFill>
                <a:latin typeface="Calibri" pitchFamily="34" charset="0"/>
                <a:ea typeface="Calibri" pitchFamily="34" charset="-122"/>
                <a:cs typeface="Calibri" pitchFamily="34" charset="-120"/>
              </a:rPr>
              <a:t>[4] S. C. Aneke, "Development of a web based hostel allocation system," Godfrey Okoye Univ., Enugu, 2018. https://eprints.gouni.edu.ng/418/</a:t>
            </a:r>
            <a:endParaRPr lang="en-US" sz="1050" dirty="0"/>
          </a:p>
        </p:txBody>
      </p:sp>
      <p:sp>
        <p:nvSpPr>
          <p:cNvPr id="10" name="Text 8"/>
          <p:cNvSpPr txBox="1"/>
          <p:nvPr/>
        </p:nvSpPr>
        <p:spPr>
          <a:xfrm>
            <a:off x="548640" y="4151376"/>
            <a:ext cx="5440680" cy="658368"/>
          </a:xfrm>
          <a:prstGeom prst="rect">
            <a:avLst/>
          </a:prstGeom>
          <a:noFill/>
          <a:ln/>
        </p:spPr>
        <p:txBody>
          <a:bodyPr wrap="square" lIns="0" tIns="0" rIns="0" bIns="0" rtlCol="0" anchor="t"/>
          <a:lstStyle/>
          <a:p>
            <a:pPr marL="0" indent="0">
              <a:buNone/>
            </a:pPr>
            <a:r>
              <a:rPr lang="en-US" sz="1050" dirty="0">
                <a:solidFill>
                  <a:srgbClr val="1F2328"/>
                </a:solidFill>
                <a:latin typeface="Calibri" pitchFamily="34" charset="0"/>
                <a:ea typeface="Calibri" pitchFamily="34" charset="-122"/>
                <a:cs typeface="Calibri" pitchFamily="34" charset="-120"/>
              </a:rPr>
              <a:t>[5] K. O. Okokpujie et al., "A smart hostel management system using RFID and biometric technology," Procedia Comput. Sci., vol. 143, pp. 489–496, 2018. doi: 10.1016/j.procs.2018.10.423</a:t>
            </a:r>
            <a:endParaRPr lang="en-US" sz="1050" dirty="0"/>
          </a:p>
        </p:txBody>
      </p:sp>
      <p:sp>
        <p:nvSpPr>
          <p:cNvPr id="11" name="Text 9"/>
          <p:cNvSpPr txBox="1"/>
          <p:nvPr/>
        </p:nvSpPr>
        <p:spPr>
          <a:xfrm>
            <a:off x="548640" y="4846320"/>
            <a:ext cx="5440680" cy="658368"/>
          </a:xfrm>
          <a:prstGeom prst="rect">
            <a:avLst/>
          </a:prstGeom>
          <a:noFill/>
          <a:ln/>
        </p:spPr>
        <p:txBody>
          <a:bodyPr wrap="square" lIns="0" tIns="0" rIns="0" bIns="0" rtlCol="0" anchor="t"/>
          <a:lstStyle/>
          <a:p>
            <a:pPr marL="0" indent="0">
              <a:buNone/>
            </a:pPr>
            <a:r>
              <a:rPr lang="en-US" sz="1050" dirty="0">
                <a:solidFill>
                  <a:srgbClr val="1F2328"/>
                </a:solidFill>
                <a:latin typeface="Calibri" pitchFamily="34" charset="0"/>
                <a:ea typeface="Calibri" pitchFamily="34" charset="-122"/>
                <a:cs typeface="Calibri" pitchFamily="34" charset="-120"/>
              </a:rPr>
              <a:t>[6] A. Sharma and A. Kaur, "Hostel's room allocation system: A framework using single-layer fuzzy logic," in Proc. ICICC, 2021. https://papers.ssrn.com/sol3/papers.cfm?abstract_id=3833297</a:t>
            </a:r>
            <a:endParaRPr lang="en-US" sz="1050" dirty="0"/>
          </a:p>
        </p:txBody>
      </p:sp>
      <p:sp>
        <p:nvSpPr>
          <p:cNvPr id="12" name="Text 10"/>
          <p:cNvSpPr txBox="1"/>
          <p:nvPr/>
        </p:nvSpPr>
        <p:spPr>
          <a:xfrm>
            <a:off x="548640" y="5541264"/>
            <a:ext cx="5440680" cy="658368"/>
          </a:xfrm>
          <a:prstGeom prst="rect">
            <a:avLst/>
          </a:prstGeom>
          <a:noFill/>
          <a:ln/>
        </p:spPr>
        <p:txBody>
          <a:bodyPr wrap="square" lIns="0" tIns="0" rIns="0" bIns="0" rtlCol="0" anchor="t"/>
          <a:lstStyle/>
          <a:p>
            <a:pPr marL="0" indent="0">
              <a:buNone/>
            </a:pPr>
            <a:r>
              <a:rPr lang="en-US" sz="1050" dirty="0">
                <a:solidFill>
                  <a:srgbClr val="1F2328"/>
                </a:solidFill>
                <a:latin typeface="Calibri" pitchFamily="34" charset="0"/>
                <a:ea typeface="Calibri" pitchFamily="34" charset="-122"/>
                <a:cs typeface="Calibri" pitchFamily="34" charset="-120"/>
              </a:rPr>
              <a:t>[7] A. Abdulkadiroğlu and T. Sönmez, "School choice: A mechanism design approach," Amer. Econ. Rev., vol. 93, no. 3, pp. 729–747, 2003. doi: 10.1257/000282803322157061</a:t>
            </a:r>
            <a:endParaRPr lang="en-US" sz="1050" dirty="0"/>
          </a:p>
        </p:txBody>
      </p:sp>
      <p:sp>
        <p:nvSpPr>
          <p:cNvPr id="13" name="Text 11"/>
          <p:cNvSpPr txBox="1"/>
          <p:nvPr/>
        </p:nvSpPr>
        <p:spPr>
          <a:xfrm>
            <a:off x="6172200" y="1371600"/>
            <a:ext cx="5440680" cy="658368"/>
          </a:xfrm>
          <a:prstGeom prst="rect">
            <a:avLst/>
          </a:prstGeom>
          <a:noFill/>
          <a:ln/>
        </p:spPr>
        <p:txBody>
          <a:bodyPr wrap="square" lIns="0" tIns="0" rIns="0" bIns="0" rtlCol="0" anchor="t"/>
          <a:lstStyle/>
          <a:p>
            <a:pPr marL="0" indent="0">
              <a:buNone/>
            </a:pPr>
            <a:r>
              <a:rPr lang="en-US" sz="1050" dirty="0">
                <a:solidFill>
                  <a:srgbClr val="1F2328"/>
                </a:solidFill>
                <a:latin typeface="Calibri" pitchFamily="34" charset="0"/>
                <a:ea typeface="Calibri" pitchFamily="34" charset="-122"/>
                <a:cs typeface="Calibri" pitchFamily="34" charset="-120"/>
              </a:rPr>
              <a:t>[8] D. Gale and L. S. Shapley, "College admissions and the stability of marriage," Amer. Math. Monthly, vol. 69, no. 1, pp. 9–15, 1962. doi: 10.2307/2312726</a:t>
            </a:r>
            <a:endParaRPr lang="en-US" sz="1050" dirty="0"/>
          </a:p>
        </p:txBody>
      </p:sp>
      <p:sp>
        <p:nvSpPr>
          <p:cNvPr id="14" name="Text 12"/>
          <p:cNvSpPr txBox="1"/>
          <p:nvPr/>
        </p:nvSpPr>
        <p:spPr>
          <a:xfrm>
            <a:off x="6172200" y="2066544"/>
            <a:ext cx="5440680" cy="658368"/>
          </a:xfrm>
          <a:prstGeom prst="rect">
            <a:avLst/>
          </a:prstGeom>
          <a:noFill/>
          <a:ln/>
        </p:spPr>
        <p:txBody>
          <a:bodyPr wrap="square" lIns="0" tIns="0" rIns="0" bIns="0" rtlCol="0" anchor="t"/>
          <a:lstStyle/>
          <a:p>
            <a:pPr marL="0" indent="0">
              <a:buNone/>
            </a:pPr>
            <a:r>
              <a:rPr lang="en-US" sz="1050" dirty="0">
                <a:solidFill>
                  <a:srgbClr val="1F2328"/>
                </a:solidFill>
                <a:latin typeface="Calibri" pitchFamily="34" charset="0"/>
                <a:ea typeface="Calibri" pitchFamily="34" charset="-122"/>
                <a:cs typeface="Calibri" pitchFamily="34" charset="-120"/>
              </a:rPr>
              <a:t>[9] R. S. Sandhu, E. J. Coyne, H. L. Feinstein, and C. E. Youman, "Role-based access control models," Computer, vol. 29, no. 2, pp. 38–47, 1996. doi: 10.1109/2.485845</a:t>
            </a:r>
            <a:endParaRPr lang="en-US" sz="1050" dirty="0"/>
          </a:p>
        </p:txBody>
      </p:sp>
      <p:sp>
        <p:nvSpPr>
          <p:cNvPr id="15" name="Text 13"/>
          <p:cNvSpPr txBox="1"/>
          <p:nvPr/>
        </p:nvSpPr>
        <p:spPr>
          <a:xfrm>
            <a:off x="6172200" y="2761488"/>
            <a:ext cx="5440680" cy="658368"/>
          </a:xfrm>
          <a:prstGeom prst="rect">
            <a:avLst/>
          </a:prstGeom>
          <a:noFill/>
          <a:ln/>
        </p:spPr>
        <p:txBody>
          <a:bodyPr wrap="square" lIns="0" tIns="0" rIns="0" bIns="0" rtlCol="0" anchor="t"/>
          <a:lstStyle/>
          <a:p>
            <a:pPr marL="0" indent="0">
              <a:buNone/>
            </a:pPr>
            <a:r>
              <a:rPr lang="en-US" sz="1050" dirty="0">
                <a:solidFill>
                  <a:srgbClr val="1F2328"/>
                </a:solidFill>
                <a:latin typeface="Calibri" pitchFamily="34" charset="0"/>
                <a:ea typeface="Calibri" pitchFamily="34" charset="-122"/>
                <a:cs typeface="Calibri" pitchFamily="34" charset="-120"/>
              </a:rPr>
              <a:t>[10] H. Berenson et al., "A critique of ANSI SQL isolation levels," in Proc. ACM SIGMOD, 1995. doi: 10.1145/223784.223785</a:t>
            </a:r>
            <a:endParaRPr lang="en-US" sz="1050" dirty="0"/>
          </a:p>
        </p:txBody>
      </p:sp>
      <p:sp>
        <p:nvSpPr>
          <p:cNvPr id="16" name="Text 14"/>
          <p:cNvSpPr txBox="1"/>
          <p:nvPr/>
        </p:nvSpPr>
        <p:spPr>
          <a:xfrm>
            <a:off x="6172200" y="3456432"/>
            <a:ext cx="5440680" cy="658368"/>
          </a:xfrm>
          <a:prstGeom prst="rect">
            <a:avLst/>
          </a:prstGeom>
          <a:noFill/>
          <a:ln/>
        </p:spPr>
        <p:txBody>
          <a:bodyPr wrap="square" lIns="0" tIns="0" rIns="0" bIns="0" rtlCol="0" anchor="t"/>
          <a:lstStyle/>
          <a:p>
            <a:pPr marL="0" indent="0">
              <a:buNone/>
            </a:pPr>
            <a:r>
              <a:rPr lang="en-US" sz="1050" dirty="0">
                <a:solidFill>
                  <a:srgbClr val="1F2328"/>
                </a:solidFill>
                <a:latin typeface="Calibri" pitchFamily="34" charset="0"/>
                <a:ea typeface="Calibri" pitchFamily="34" charset="-122"/>
                <a:cs typeface="Calibri" pitchFamily="34" charset="-120"/>
              </a:rPr>
              <a:t>[11] OWASP, "OWASP API Security Top 10 — 2023: API1 Broken Object Level Authorization." https://owasp.org/API-Security/</a:t>
            </a:r>
            <a:endParaRPr lang="en-US" sz="1050" dirty="0"/>
          </a:p>
        </p:txBody>
      </p:sp>
      <p:sp>
        <p:nvSpPr>
          <p:cNvPr id="17" name="Text 15"/>
          <p:cNvSpPr txBox="1"/>
          <p:nvPr/>
        </p:nvSpPr>
        <p:spPr>
          <a:xfrm>
            <a:off x="6172200" y="4151376"/>
            <a:ext cx="5440680" cy="658368"/>
          </a:xfrm>
          <a:prstGeom prst="rect">
            <a:avLst/>
          </a:prstGeom>
          <a:noFill/>
          <a:ln/>
        </p:spPr>
        <p:txBody>
          <a:bodyPr wrap="square" lIns="0" tIns="0" rIns="0" bIns="0" rtlCol="0" anchor="t"/>
          <a:lstStyle/>
          <a:p>
            <a:pPr marL="0" indent="0">
              <a:buNone/>
            </a:pPr>
            <a:r>
              <a:rPr lang="en-US" sz="1050" dirty="0">
                <a:solidFill>
                  <a:srgbClr val="1F2328"/>
                </a:solidFill>
                <a:latin typeface="Calibri" pitchFamily="34" charset="0"/>
                <a:ea typeface="Calibri" pitchFamily="34" charset="-122"/>
                <a:cs typeface="Calibri" pitchFamily="34" charset="-120"/>
              </a:rPr>
              <a:t>[12] PostgreSQL Global Development Group, "PostgreSQL documentation: Partial indexes." https://www.postgresql.org/docs/current/indexes-partial.html</a:t>
            </a:r>
            <a:endParaRPr lang="en-US" sz="1050" dirty="0"/>
          </a:p>
        </p:txBody>
      </p:sp>
      <p:sp>
        <p:nvSpPr>
          <p:cNvPr id="18" name="Text 16"/>
          <p:cNvSpPr txBox="1"/>
          <p:nvPr/>
        </p:nvSpPr>
        <p:spPr>
          <a:xfrm>
            <a:off x="6172200" y="4846320"/>
            <a:ext cx="5440680" cy="658368"/>
          </a:xfrm>
          <a:prstGeom prst="rect">
            <a:avLst/>
          </a:prstGeom>
          <a:noFill/>
          <a:ln/>
        </p:spPr>
        <p:txBody>
          <a:bodyPr wrap="square" lIns="0" tIns="0" rIns="0" bIns="0" rtlCol="0" anchor="t"/>
          <a:lstStyle/>
          <a:p>
            <a:pPr marL="0" indent="0">
              <a:buNone/>
            </a:pPr>
            <a:r>
              <a:rPr lang="en-US" sz="1050" dirty="0">
                <a:solidFill>
                  <a:srgbClr val="1F2328"/>
                </a:solidFill>
                <a:latin typeface="Calibri" pitchFamily="34" charset="0"/>
                <a:ea typeface="Calibri" pitchFamily="34" charset="-122"/>
                <a:cs typeface="Calibri" pitchFamily="34" charset="-120"/>
              </a:rPr>
              <a:t>[13] Government of India, "The Digital Personal Data Protection Act, 2023 (No. 22 of 2023)," MeitY. https://www.meity.gov.in/data-protection-framework</a:t>
            </a:r>
            <a:endParaRPr lang="en-US" sz="1050" dirty="0"/>
          </a:p>
        </p:txBody>
      </p:sp>
      <p:sp>
        <p:nvSpPr>
          <p:cNvPr id="19" name="Text 17"/>
          <p:cNvSpPr txBox="1"/>
          <p:nvPr/>
        </p:nvSpPr>
        <p:spPr>
          <a:xfrm>
            <a:off x="6172200" y="5943600"/>
            <a:ext cx="5440680" cy="457200"/>
          </a:xfrm>
          <a:prstGeom prst="rect">
            <a:avLst/>
          </a:prstGeom>
          <a:noFill/>
          <a:ln/>
        </p:spPr>
        <p:txBody>
          <a:bodyPr wrap="square" lIns="0" tIns="0" rIns="0" bIns="0" rtlCol="0" anchor="t"/>
          <a:lstStyle/>
          <a:p>
            <a:pPr marL="0" indent="0">
              <a:buNone/>
            </a:pPr>
            <a:r>
              <a:rPr lang="en-US" sz="950" i="1" dirty="0">
                <a:solidFill>
                  <a:srgbClr val="5F6672"/>
                </a:solidFill>
                <a:latin typeface="Calibri" pitchFamily="34" charset="0"/>
                <a:ea typeface="Calibri" pitchFamily="34" charset="-122"/>
                <a:cs typeface="Calibri" pitchFamily="34" charset="-120"/>
              </a:rPr>
              <a:t>[1]–[6]: hostel-specific literature. [7]–[13]: adjacent research and official documentation (fair allocation, access control, concurrency, privacy).</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2993</Words>
  <Application>Microsoft Office PowerPoint</Application>
  <PresentationFormat>Widescreen</PresentationFormat>
  <Paragraphs>443</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Hostel Allocation System — Community Project Phase-I</dc:title>
  <dc:subject>PptxGenJS Presentation</dc:subject>
  <dc:creator>PptxGenJS</dc:creator>
  <cp:lastModifiedBy>Suprem Timsina</cp:lastModifiedBy>
  <cp:revision>3</cp:revision>
  <dcterms:created xsi:type="dcterms:W3CDTF">2026-10-12T08:05:31Z</dcterms:created>
  <dcterms:modified xsi:type="dcterms:W3CDTF">2026-10-15T16:47:19Z</dcterms:modified>
</cp:coreProperties>
</file>